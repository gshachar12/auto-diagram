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312" r:id="rId3"/>
    <p:sldId id="314" r:id="rId4"/>
    <p:sldId id="311" r:id="rId5"/>
    <p:sldId id="280" r:id="rId6"/>
    <p:sldId id="284" r:id="rId7"/>
    <p:sldId id="316" r:id="rId8"/>
    <p:sldId id="317" r:id="rId9"/>
    <p:sldId id="305" r:id="rId10"/>
    <p:sldId id="282" r:id="rId11"/>
    <p:sldId id="303" r:id="rId12"/>
    <p:sldId id="320" r:id="rId13"/>
    <p:sldId id="327" r:id="rId14"/>
    <p:sldId id="328" r:id="rId15"/>
    <p:sldId id="330" r:id="rId16"/>
    <p:sldId id="309" r:id="rId17"/>
    <p:sldId id="294" r:id="rId18"/>
    <p:sldId id="319" r:id="rId19"/>
    <p:sldId id="323" r:id="rId20"/>
    <p:sldId id="325" r:id="rId21"/>
    <p:sldId id="326" r:id="rId22"/>
    <p:sldId id="331" r:id="rId23"/>
    <p:sldId id="333" r:id="rId24"/>
    <p:sldId id="334" r:id="rId25"/>
    <p:sldId id="332" r:id="rId26"/>
    <p:sldId id="322" r:id="rId27"/>
    <p:sldId id="318" r:id="rId28"/>
    <p:sldId id="257" r:id="rId29"/>
    <p:sldId id="279" r:id="rId30"/>
    <p:sldId id="293"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36B7"/>
    <a:srgbClr val="B698F2"/>
    <a:srgbClr val="A02B93"/>
    <a:srgbClr val="9900CC"/>
    <a:srgbClr val="DDD98B"/>
    <a:srgbClr val="FFF6A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447" autoAdjust="0"/>
  </p:normalViewPr>
  <p:slideViewPr>
    <p:cSldViewPr snapToGrid="0">
      <p:cViewPr varScale="1">
        <p:scale>
          <a:sx n="59" d="100"/>
          <a:sy n="59" d="100"/>
        </p:scale>
        <p:origin x="964"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508601-E061-4AE8-949A-AA35F03A77CB}" type="datetimeFigureOut">
              <a:rPr lang="en-US" smtClean="0"/>
              <a:t>05/18/2026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C6FD1B-59C9-4EEA-9735-540FF221A129}" type="slidenum">
              <a:rPr lang="en-US" smtClean="0"/>
              <a:t>‹#›</a:t>
            </a:fld>
            <a:endParaRPr lang="en-US"/>
          </a:p>
        </p:txBody>
      </p:sp>
    </p:spTree>
    <p:extLst>
      <p:ext uri="{BB962C8B-B14F-4D97-AF65-F5344CB8AC3E}">
        <p14:creationId xmlns:p14="http://schemas.microsoft.com/office/powerpoint/2010/main" val="3985159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C6FD1B-59C9-4EEA-9735-540FF221A129}" type="slidenum">
              <a:rPr lang="en-US" smtClean="0"/>
              <a:t>1</a:t>
            </a:fld>
            <a:endParaRPr lang="en-US"/>
          </a:p>
        </p:txBody>
      </p:sp>
    </p:spTree>
    <p:extLst>
      <p:ext uri="{BB962C8B-B14F-4D97-AF65-F5344CB8AC3E}">
        <p14:creationId xmlns:p14="http://schemas.microsoft.com/office/powerpoint/2010/main" val="31809510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969FB-1703-3AD5-D853-E599B006EC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A5C5DD-82E6-3345-747C-B3E25FE3DF4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E506070-A065-47E4-A8D6-A705663C1853}"/>
              </a:ext>
            </a:extLst>
          </p:cNvPr>
          <p:cNvSpPr>
            <a:spLocks noGrp="1"/>
          </p:cNvSpPr>
          <p:nvPr>
            <p:ph type="body" idx="1"/>
          </p:nvPr>
        </p:nvSpPr>
        <p:spPr/>
        <p:txBody>
          <a:bodyPr/>
          <a:lstStyle/>
          <a:p>
            <a:r>
              <a:rPr lang="en-US" sz="1800" b="1" dirty="0"/>
              <a:t>The problem</a:t>
            </a:r>
          </a:p>
          <a:p>
            <a:r>
              <a:rPr lang="en-US" sz="1800" dirty="0"/>
              <a:t>Humans are visual creatures. Research shows that adding a visual component to data increases information recall</a:t>
            </a:r>
          </a:p>
          <a:p>
            <a:r>
              <a:rPr lang="en-US" sz="1800" dirty="0"/>
              <a:t> from </a:t>
            </a:r>
            <a:r>
              <a:rPr lang="en-US" sz="1800" b="1" dirty="0"/>
              <a:t>10% to 65%</a:t>
            </a:r>
            <a:r>
              <a:rPr lang="en-US" sz="1800" dirty="0"/>
              <a:t>. To truly understand or teach a complex network protocol, a diagram is almost mandatory.</a:t>
            </a:r>
          </a:p>
          <a:p>
            <a:endParaRPr lang="en-US" sz="1800" b="1" dirty="0"/>
          </a:p>
          <a:p>
            <a:r>
              <a:rPr lang="en-US" sz="1800" dirty="0"/>
              <a:t>As networks scale, the data becomes so massive (thousands of packets in a single PCAP) that creating a diagram manually becomes nearly impossible.</a:t>
            </a:r>
          </a:p>
          <a:p>
            <a:endParaRPr lang="en-US" sz="1800" b="1" dirty="0"/>
          </a:p>
          <a:p>
            <a:r>
              <a:rPr lang="en-US" sz="1800" dirty="0"/>
              <a:t>Because the manual effort is too high, most people skip the diagram entirely. This leaves them "drowning" in raw telemetry (the PCAP) without the visual map they need to navigate it.</a:t>
            </a:r>
            <a:endParaRPr lang="en-US" sz="1800" b="1" dirty="0"/>
          </a:p>
        </p:txBody>
      </p:sp>
      <p:sp>
        <p:nvSpPr>
          <p:cNvPr id="4" name="Slide Number Placeholder 3">
            <a:extLst>
              <a:ext uri="{FF2B5EF4-FFF2-40B4-BE49-F238E27FC236}">
                <a16:creationId xmlns:a16="http://schemas.microsoft.com/office/drawing/2014/main" id="{0A13B1D2-870C-E1E9-00E2-479AD969851E}"/>
              </a:ext>
            </a:extLst>
          </p:cNvPr>
          <p:cNvSpPr>
            <a:spLocks noGrp="1"/>
          </p:cNvSpPr>
          <p:nvPr>
            <p:ph type="sldNum" sz="quarter" idx="5"/>
          </p:nvPr>
        </p:nvSpPr>
        <p:spPr/>
        <p:txBody>
          <a:bodyPr/>
          <a:lstStyle/>
          <a:p>
            <a:fld id="{1FC6FD1B-59C9-4EEA-9735-540FF221A129}" type="slidenum">
              <a:rPr lang="en-US" smtClean="0"/>
              <a:t>2</a:t>
            </a:fld>
            <a:endParaRPr lang="en-US"/>
          </a:p>
        </p:txBody>
      </p:sp>
    </p:spTree>
    <p:extLst>
      <p:ext uri="{BB962C8B-B14F-4D97-AF65-F5344CB8AC3E}">
        <p14:creationId xmlns:p14="http://schemas.microsoft.com/office/powerpoint/2010/main" val="35398865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FB383-EE06-1F8E-6D25-4D7273DDB3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6FFAEA-7084-27FF-4D20-841D53DFAAA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28B9BF9-1616-E79E-148C-8ACCA487762E}"/>
              </a:ext>
            </a:extLst>
          </p:cNvPr>
          <p:cNvSpPr>
            <a:spLocks noGrp="1"/>
          </p:cNvSpPr>
          <p:nvPr>
            <p:ph type="body" idx="1"/>
          </p:nvPr>
        </p:nvSpPr>
        <p:spPr/>
        <p:txBody>
          <a:bodyPr/>
          <a:lstStyle/>
          <a:p>
            <a:r>
              <a:rPr lang="en-US" sz="1800" b="1" dirty="0"/>
              <a:t>The problem</a:t>
            </a:r>
          </a:p>
          <a:p>
            <a:r>
              <a:rPr lang="en-US" sz="1800" dirty="0"/>
              <a:t>Humans are visual creatures. Research shows that adding a visual component to data increases information recall</a:t>
            </a:r>
          </a:p>
          <a:p>
            <a:r>
              <a:rPr lang="en-US" sz="1800" dirty="0"/>
              <a:t> from </a:t>
            </a:r>
            <a:r>
              <a:rPr lang="en-US" sz="1800" b="1" dirty="0"/>
              <a:t>10% to 65%</a:t>
            </a:r>
            <a:r>
              <a:rPr lang="en-US" sz="1800" dirty="0"/>
              <a:t>. To truly understand or teach a complex network protocol, a diagram is almost mandatory.</a:t>
            </a:r>
          </a:p>
          <a:p>
            <a:endParaRPr lang="en-US" sz="1800" b="1" dirty="0"/>
          </a:p>
          <a:p>
            <a:r>
              <a:rPr lang="en-US" sz="1800" dirty="0"/>
              <a:t>As networks scale, the data becomes so massive (thousands of packets in a single PCAP) that creating a diagram manually becomes nearly impossible.</a:t>
            </a:r>
          </a:p>
          <a:p>
            <a:endParaRPr lang="en-US" sz="1800" b="1" dirty="0"/>
          </a:p>
          <a:p>
            <a:r>
              <a:rPr lang="en-US" sz="1800" dirty="0"/>
              <a:t>Because the manual effort is too high, most people skip the diagram entirely. This leaves them "drowning" in raw telemetry (the PCAP) without the visual map they need to navigate it.</a:t>
            </a:r>
            <a:endParaRPr lang="en-US" sz="1800" b="1" dirty="0"/>
          </a:p>
        </p:txBody>
      </p:sp>
      <p:sp>
        <p:nvSpPr>
          <p:cNvPr id="4" name="Slide Number Placeholder 3">
            <a:extLst>
              <a:ext uri="{FF2B5EF4-FFF2-40B4-BE49-F238E27FC236}">
                <a16:creationId xmlns:a16="http://schemas.microsoft.com/office/drawing/2014/main" id="{D7C605CC-5A27-EA82-A75B-4CCCECD94318}"/>
              </a:ext>
            </a:extLst>
          </p:cNvPr>
          <p:cNvSpPr>
            <a:spLocks noGrp="1"/>
          </p:cNvSpPr>
          <p:nvPr>
            <p:ph type="sldNum" sz="quarter" idx="5"/>
          </p:nvPr>
        </p:nvSpPr>
        <p:spPr/>
        <p:txBody>
          <a:bodyPr/>
          <a:lstStyle/>
          <a:p>
            <a:fld id="{1FC6FD1B-59C9-4EEA-9735-540FF221A129}" type="slidenum">
              <a:rPr lang="en-US" smtClean="0"/>
              <a:t>3</a:t>
            </a:fld>
            <a:endParaRPr lang="en-US"/>
          </a:p>
        </p:txBody>
      </p:sp>
    </p:spTree>
    <p:extLst>
      <p:ext uri="{BB962C8B-B14F-4D97-AF65-F5344CB8AC3E}">
        <p14:creationId xmlns:p14="http://schemas.microsoft.com/office/powerpoint/2010/main" val="3030357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481DE-A898-EABA-DB3A-56000900B7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7B4FA1-FC29-F69F-5BDD-69EB56BFED6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9758B6B-7F80-5C2C-EA0E-23DDAAF20F15}"/>
              </a:ext>
            </a:extLst>
          </p:cNvPr>
          <p:cNvSpPr>
            <a:spLocks noGrp="1"/>
          </p:cNvSpPr>
          <p:nvPr>
            <p:ph type="body" idx="1"/>
          </p:nvPr>
        </p:nvSpPr>
        <p:spPr/>
        <p:txBody>
          <a:bodyPr/>
          <a:lstStyle/>
          <a:p>
            <a:r>
              <a:rPr lang="en-US" dirty="0"/>
              <a:t>Nodes = attacker states, capabilities, or goals</a:t>
            </a:r>
          </a:p>
          <a:p>
            <a:r>
              <a:rPr lang="en-US" dirty="0"/>
              <a:t>Edges = exploit steps or transitions</a:t>
            </a:r>
          </a:p>
          <a:p>
            <a:endParaRPr lang="en-US" dirty="0"/>
          </a:p>
        </p:txBody>
      </p:sp>
      <p:sp>
        <p:nvSpPr>
          <p:cNvPr id="4" name="Slide Number Placeholder 3">
            <a:extLst>
              <a:ext uri="{FF2B5EF4-FFF2-40B4-BE49-F238E27FC236}">
                <a16:creationId xmlns:a16="http://schemas.microsoft.com/office/drawing/2014/main" id="{FB569757-0DFC-CC4B-4AAB-C60DD837A46F}"/>
              </a:ext>
            </a:extLst>
          </p:cNvPr>
          <p:cNvSpPr>
            <a:spLocks noGrp="1"/>
          </p:cNvSpPr>
          <p:nvPr>
            <p:ph type="sldNum" sz="quarter" idx="5"/>
          </p:nvPr>
        </p:nvSpPr>
        <p:spPr/>
        <p:txBody>
          <a:bodyPr/>
          <a:lstStyle/>
          <a:p>
            <a:fld id="{1FC6FD1B-59C9-4EEA-9735-540FF221A129}" type="slidenum">
              <a:rPr lang="en-US" smtClean="0"/>
              <a:t>4</a:t>
            </a:fld>
            <a:endParaRPr lang="en-US"/>
          </a:p>
        </p:txBody>
      </p:sp>
    </p:spTree>
    <p:extLst>
      <p:ext uri="{BB962C8B-B14F-4D97-AF65-F5344CB8AC3E}">
        <p14:creationId xmlns:p14="http://schemas.microsoft.com/office/powerpoint/2010/main" val="22675969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dirty="0">
                <a:solidFill>
                  <a:srgbClr val="A02B93"/>
                </a:solidFill>
              </a:rPr>
              <a:t>Visualize networks, attacks and protocols</a:t>
            </a:r>
            <a:endParaRPr lang="en-US" dirty="0"/>
          </a:p>
          <a:p>
            <a:endParaRPr lang="en-US" dirty="0"/>
          </a:p>
          <a:p>
            <a:r>
              <a:rPr lang="en-US" dirty="0"/>
              <a:t>Nodes = attacker states, capabilities, or goals</a:t>
            </a:r>
          </a:p>
          <a:p>
            <a:r>
              <a:rPr lang="en-US" dirty="0"/>
              <a:t>Edges = exploit steps or transitions</a:t>
            </a:r>
          </a:p>
          <a:p>
            <a:endParaRPr lang="en-US" dirty="0"/>
          </a:p>
          <a:p>
            <a:pPr marL="0" indent="0">
              <a:buNone/>
            </a:pPr>
            <a:r>
              <a:rPr lang="en-US" dirty="0"/>
              <a:t>Wireshark Flow Graph</a:t>
            </a:r>
          </a:p>
          <a:p>
            <a:pPr marL="0" indent="0">
              <a:buNone/>
            </a:pPr>
            <a:r>
              <a:rPr lang="en-US" dirty="0"/>
              <a:t>Not diagrams but:</a:t>
            </a:r>
          </a:p>
          <a:p>
            <a:r>
              <a:rPr lang="en-US" dirty="0"/>
              <a:t>Mostly for troubleshooting </a:t>
            </a:r>
          </a:p>
          <a:p>
            <a:r>
              <a:rPr lang="en-US" dirty="0"/>
              <a:t>Shows connections between hosts and packet details</a:t>
            </a:r>
          </a:p>
          <a:p>
            <a:r>
              <a:rPr lang="en-US" dirty="0">
                <a:solidFill>
                  <a:srgbClr val="9900CC"/>
                </a:solidFill>
              </a:rPr>
              <a:t>Filters all connections by different options</a:t>
            </a:r>
          </a:p>
          <a:p>
            <a:endParaRPr lang="en-US" dirty="0"/>
          </a:p>
        </p:txBody>
      </p:sp>
      <p:sp>
        <p:nvSpPr>
          <p:cNvPr id="4" name="Slide Number Placeholder 3"/>
          <p:cNvSpPr>
            <a:spLocks noGrp="1"/>
          </p:cNvSpPr>
          <p:nvPr>
            <p:ph type="sldNum" sz="quarter" idx="5"/>
          </p:nvPr>
        </p:nvSpPr>
        <p:spPr/>
        <p:txBody>
          <a:bodyPr/>
          <a:lstStyle/>
          <a:p>
            <a:fld id="{1FC6FD1B-59C9-4EEA-9735-540FF221A129}" type="slidenum">
              <a:rPr lang="en-US" smtClean="0"/>
              <a:t>5</a:t>
            </a:fld>
            <a:endParaRPr lang="en-US"/>
          </a:p>
        </p:txBody>
      </p:sp>
    </p:spTree>
    <p:extLst>
      <p:ext uri="{BB962C8B-B14F-4D97-AF65-F5344CB8AC3E}">
        <p14:creationId xmlns:p14="http://schemas.microsoft.com/office/powerpoint/2010/main" val="30419456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D97B3-7689-7385-8B47-3632050759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3A38A6-5F54-9D5E-D6CF-AA77795C56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FD2250-C386-ABE0-996B-94B6FDC79B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05690F-B971-A685-815A-78381350F75B}"/>
              </a:ext>
            </a:extLst>
          </p:cNvPr>
          <p:cNvSpPr>
            <a:spLocks noGrp="1"/>
          </p:cNvSpPr>
          <p:nvPr>
            <p:ph type="sldNum" sz="quarter" idx="5"/>
          </p:nvPr>
        </p:nvSpPr>
        <p:spPr/>
        <p:txBody>
          <a:bodyPr/>
          <a:lstStyle/>
          <a:p>
            <a:fld id="{1FC6FD1B-59C9-4EEA-9735-540FF221A129}" type="slidenum">
              <a:rPr lang="en-US" smtClean="0"/>
              <a:t>7</a:t>
            </a:fld>
            <a:endParaRPr lang="en-US"/>
          </a:p>
        </p:txBody>
      </p:sp>
    </p:spTree>
    <p:extLst>
      <p:ext uri="{BB962C8B-B14F-4D97-AF65-F5344CB8AC3E}">
        <p14:creationId xmlns:p14="http://schemas.microsoft.com/office/powerpoint/2010/main" val="2167652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4D665-9164-BF78-B6B4-10314A7195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A22A77-CA36-BEC4-8026-EA8844C3FD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DDE9E-A9C7-172A-3087-EC23AF6C7A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9146A8-3204-7EEC-4751-404791D5965D}"/>
              </a:ext>
            </a:extLst>
          </p:cNvPr>
          <p:cNvSpPr>
            <a:spLocks noGrp="1"/>
          </p:cNvSpPr>
          <p:nvPr>
            <p:ph type="sldNum" sz="quarter" idx="5"/>
          </p:nvPr>
        </p:nvSpPr>
        <p:spPr/>
        <p:txBody>
          <a:bodyPr/>
          <a:lstStyle/>
          <a:p>
            <a:fld id="{1FC6FD1B-59C9-4EEA-9735-540FF221A129}" type="slidenum">
              <a:rPr lang="en-US" smtClean="0"/>
              <a:t>8</a:t>
            </a:fld>
            <a:endParaRPr lang="en-US"/>
          </a:p>
        </p:txBody>
      </p:sp>
    </p:spTree>
    <p:extLst>
      <p:ext uri="{BB962C8B-B14F-4D97-AF65-F5344CB8AC3E}">
        <p14:creationId xmlns:p14="http://schemas.microsoft.com/office/powerpoint/2010/main" val="40379726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DiagramEval: Evaluating LLM-Generated Diagrams via Graphs</a:t>
            </a:r>
          </a:p>
          <a:p>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Syntax Correctness:</a:t>
            </a:r>
            <a:r>
              <a:rPr lang="en-US" dirty="0"/>
              <a:t> Use a "Mermaid Linter" or the Mermaid CLI to automatically check if the generated code is valid. A failed render is a 0% score for that run.</a:t>
            </a:r>
          </a:p>
          <a:p>
            <a:endParaRPr lang="en-US" b="1" dirty="0"/>
          </a:p>
          <a:p>
            <a:r>
              <a:rPr lang="en-US" b="1" dirty="0"/>
              <a:t>Precision/Recall:</a:t>
            </a:r>
            <a:r>
              <a:rPr lang="en-US" dirty="0"/>
              <a:t> Are all the essential packets from the </a:t>
            </a:r>
            <a:r>
              <a:rPr lang="en-US" dirty="0" err="1"/>
              <a:t>Pcap</a:t>
            </a:r>
            <a:r>
              <a:rPr lang="en-US" dirty="0"/>
              <a:t> represented in the diagram?</a:t>
            </a:r>
          </a:p>
          <a:p>
            <a:r>
              <a:rPr lang="en-US" b="1" dirty="0"/>
              <a:t>F1-Score:</a:t>
            </a:r>
            <a:r>
              <a:rPr lang="en-US" dirty="0"/>
              <a:t> Does the sequence of "who talked to whom" match the actual protocol flow?</a:t>
            </a:r>
          </a:p>
          <a:p>
            <a:r>
              <a:rPr lang="en-US" b="1" dirty="0"/>
              <a:t>Syntax Correctness:</a:t>
            </a:r>
            <a:r>
              <a:rPr lang="en-US" dirty="0"/>
              <a:t> Use a "Mermaid Linter" or the Mermaid CLI to automatically check if the generated code is valid. A failed render is a 0% score for that run.</a:t>
            </a:r>
          </a:p>
          <a:p>
            <a:endParaRPr lang="en-US" dirty="0"/>
          </a:p>
          <a:p>
            <a:endParaRPr lang="en-US" dirty="0"/>
          </a:p>
          <a:p>
            <a:r>
              <a:rPr lang="en-US" b="1" dirty="0"/>
              <a:t>Precision = 8/10</a:t>
            </a:r>
            <a:br>
              <a:rPr lang="en-US" dirty="0"/>
            </a:br>
            <a:r>
              <a:rPr lang="en-US" dirty="0"/>
              <a:t>Of the events the diagram </a:t>
            </a:r>
            <a:r>
              <a:rPr lang="en-US" i="1" dirty="0"/>
              <a:t>shows</a:t>
            </a:r>
            <a:r>
              <a:rPr lang="en-US" dirty="0"/>
              <a:t>, how many are correct?</a:t>
            </a:r>
          </a:p>
          <a:p>
            <a:r>
              <a:rPr lang="en-US" b="1" i="0" dirty="0"/>
              <a:t>Recall = 8/12</a:t>
            </a:r>
            <a:br>
              <a:rPr lang="en-US" i="0" dirty="0"/>
            </a:br>
            <a:r>
              <a:rPr lang="en-US" i="0" dirty="0"/>
              <a:t>Of the events that actually happened, how many did the diagram capture?</a:t>
            </a:r>
          </a:p>
          <a:p>
            <a:endParaRPr lang="en-US" dirty="0"/>
          </a:p>
        </p:txBody>
      </p:sp>
      <p:sp>
        <p:nvSpPr>
          <p:cNvPr id="4" name="Slide Number Placeholder 3"/>
          <p:cNvSpPr>
            <a:spLocks noGrp="1"/>
          </p:cNvSpPr>
          <p:nvPr>
            <p:ph type="sldNum" sz="quarter" idx="5"/>
          </p:nvPr>
        </p:nvSpPr>
        <p:spPr/>
        <p:txBody>
          <a:bodyPr/>
          <a:lstStyle/>
          <a:p>
            <a:fld id="{1FC6FD1B-59C9-4EEA-9735-540FF221A129}" type="slidenum">
              <a:rPr lang="en-US" smtClean="0"/>
              <a:t>10</a:t>
            </a:fld>
            <a:endParaRPr lang="en-US"/>
          </a:p>
        </p:txBody>
      </p:sp>
    </p:spTree>
    <p:extLst>
      <p:ext uri="{BB962C8B-B14F-4D97-AF65-F5344CB8AC3E}">
        <p14:creationId xmlns:p14="http://schemas.microsoft.com/office/powerpoint/2010/main" val="37488953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 article on protocol vulnerabilities </a:t>
            </a:r>
            <a:r>
              <a:rPr lang="en-US" dirty="0" err="1"/>
              <a:t>mayrequire</a:t>
            </a:r>
            <a:r>
              <a:rPr lang="en-US" dirty="0"/>
              <a:t> deep variable inspection, while a paper on </a:t>
            </a:r>
            <a:r>
              <a:rPr lang="en-US" dirty="0" err="1"/>
              <a:t>networktopology</a:t>
            </a:r>
            <a:r>
              <a:rPr lang="en-US" dirty="0"/>
              <a:t> requires high-level traffic summaries.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The noise of one article is important in another</a:t>
            </a:r>
          </a:p>
        </p:txBody>
      </p:sp>
      <p:sp>
        <p:nvSpPr>
          <p:cNvPr id="4" name="Slide Number Placeholder 3"/>
          <p:cNvSpPr>
            <a:spLocks noGrp="1"/>
          </p:cNvSpPr>
          <p:nvPr>
            <p:ph type="sldNum" sz="quarter" idx="5"/>
          </p:nvPr>
        </p:nvSpPr>
        <p:spPr/>
        <p:txBody>
          <a:bodyPr/>
          <a:lstStyle/>
          <a:p>
            <a:fld id="{1FC6FD1B-59C9-4EEA-9735-540FF221A129}" type="slidenum">
              <a:rPr lang="en-US" smtClean="0"/>
              <a:t>13</a:t>
            </a:fld>
            <a:endParaRPr lang="en-US"/>
          </a:p>
        </p:txBody>
      </p:sp>
    </p:spTree>
    <p:extLst>
      <p:ext uri="{BB962C8B-B14F-4D97-AF65-F5344CB8AC3E}">
        <p14:creationId xmlns:p14="http://schemas.microsoft.com/office/powerpoint/2010/main" val="1140273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B1B75-AEE3-4EBC-9CC0-4E7C73184E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A7B100-4BDD-7512-A51C-4EE81CF7A7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524105-4E43-66ED-75DE-62BE03A0D54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 article on protocol vulnerabilities </a:t>
            </a:r>
            <a:r>
              <a:rPr lang="en-US" dirty="0" err="1"/>
              <a:t>mayrequire</a:t>
            </a:r>
            <a:r>
              <a:rPr lang="en-US" dirty="0"/>
              <a:t> deep variable inspection, while a paper on </a:t>
            </a:r>
            <a:r>
              <a:rPr lang="en-US" dirty="0" err="1"/>
              <a:t>networktopology</a:t>
            </a:r>
            <a:r>
              <a:rPr lang="en-US" dirty="0"/>
              <a:t> requires high-level traffic summaries.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The noise of one article is important in another</a:t>
            </a:r>
          </a:p>
        </p:txBody>
      </p:sp>
      <p:sp>
        <p:nvSpPr>
          <p:cNvPr id="4" name="Slide Number Placeholder 3">
            <a:extLst>
              <a:ext uri="{FF2B5EF4-FFF2-40B4-BE49-F238E27FC236}">
                <a16:creationId xmlns:a16="http://schemas.microsoft.com/office/drawing/2014/main" id="{D526D65D-C97C-E8D4-90D6-04E74CC3281D}"/>
              </a:ext>
            </a:extLst>
          </p:cNvPr>
          <p:cNvSpPr>
            <a:spLocks noGrp="1"/>
          </p:cNvSpPr>
          <p:nvPr>
            <p:ph type="sldNum" sz="quarter" idx="5"/>
          </p:nvPr>
        </p:nvSpPr>
        <p:spPr/>
        <p:txBody>
          <a:bodyPr/>
          <a:lstStyle/>
          <a:p>
            <a:fld id="{1FC6FD1B-59C9-4EEA-9735-540FF221A129}" type="slidenum">
              <a:rPr lang="en-US" smtClean="0"/>
              <a:t>14</a:t>
            </a:fld>
            <a:endParaRPr lang="en-US"/>
          </a:p>
        </p:txBody>
      </p:sp>
    </p:spTree>
    <p:extLst>
      <p:ext uri="{BB962C8B-B14F-4D97-AF65-F5344CB8AC3E}">
        <p14:creationId xmlns:p14="http://schemas.microsoft.com/office/powerpoint/2010/main" val="10111896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2C826-AFCC-4345-127D-1AC89E5803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25C052-6A61-85DC-1A85-FC993EB6B8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FDAC91-EB2B-2819-AE39-FC00230A7B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1F9E98-022C-FA4E-D9AB-068A2AC1A78B}"/>
              </a:ext>
            </a:extLst>
          </p:cNvPr>
          <p:cNvSpPr>
            <a:spLocks noGrp="1"/>
          </p:cNvSpPr>
          <p:nvPr>
            <p:ph type="sldNum" sz="quarter" idx="5"/>
          </p:nvPr>
        </p:nvSpPr>
        <p:spPr/>
        <p:txBody>
          <a:bodyPr/>
          <a:lstStyle/>
          <a:p>
            <a:fld id="{1FC6FD1B-59C9-4EEA-9735-540FF221A129}" type="slidenum">
              <a:rPr lang="en-US" smtClean="0"/>
              <a:t>15</a:t>
            </a:fld>
            <a:endParaRPr lang="en-US"/>
          </a:p>
        </p:txBody>
      </p:sp>
    </p:spTree>
    <p:extLst>
      <p:ext uri="{BB962C8B-B14F-4D97-AF65-F5344CB8AC3E}">
        <p14:creationId xmlns:p14="http://schemas.microsoft.com/office/powerpoint/2010/main" val="41521914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C6FD1B-59C9-4EEA-9735-540FF221A129}" type="slidenum">
              <a:rPr lang="en-US" smtClean="0"/>
              <a:t>16</a:t>
            </a:fld>
            <a:endParaRPr lang="en-US"/>
          </a:p>
        </p:txBody>
      </p:sp>
    </p:spTree>
    <p:extLst>
      <p:ext uri="{BB962C8B-B14F-4D97-AF65-F5344CB8AC3E}">
        <p14:creationId xmlns:p14="http://schemas.microsoft.com/office/powerpoint/2010/main" val="11812098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dirty="0"/>
              <a:t>0% – Analyst / Debugging</a:t>
            </a:r>
            <a:endParaRPr lang="en-US" dirty="0"/>
          </a:p>
          <a:p>
            <a:r>
              <a:rPr lang="en-US" dirty="0"/>
              <a:t>Packet-level, timestamps, flags</a:t>
            </a:r>
          </a:p>
          <a:p>
            <a:r>
              <a:rPr lang="en-US" b="1" dirty="0"/>
              <a:t>50% – Researcher</a:t>
            </a:r>
            <a:endParaRPr lang="en-US" dirty="0"/>
          </a:p>
          <a:p>
            <a:r>
              <a:rPr lang="en-US" dirty="0"/>
              <a:t>Evidence + protocol concepts</a:t>
            </a:r>
          </a:p>
          <a:p>
            <a:r>
              <a:rPr lang="en-US" b="1" dirty="0"/>
              <a:t>100% – Student / Reviewer</a:t>
            </a:r>
            <a:endParaRPr lang="en-US" dirty="0"/>
          </a:p>
          <a:p>
            <a:r>
              <a:rPr lang="en-US" dirty="0"/>
              <a:t>Conceptual attack stages</a:t>
            </a:r>
          </a:p>
          <a:p>
            <a:endParaRPr lang="en-US" dirty="0"/>
          </a:p>
        </p:txBody>
      </p:sp>
      <p:sp>
        <p:nvSpPr>
          <p:cNvPr id="4" name="Slide Number Placeholder 3"/>
          <p:cNvSpPr>
            <a:spLocks noGrp="1"/>
          </p:cNvSpPr>
          <p:nvPr>
            <p:ph type="sldNum" sz="quarter" idx="5"/>
          </p:nvPr>
        </p:nvSpPr>
        <p:spPr/>
        <p:txBody>
          <a:bodyPr/>
          <a:lstStyle/>
          <a:p>
            <a:fld id="{1FC6FD1B-59C9-4EEA-9735-540FF221A129}" type="slidenum">
              <a:rPr lang="en-US" smtClean="0"/>
              <a:t>17</a:t>
            </a:fld>
            <a:endParaRPr lang="en-US"/>
          </a:p>
        </p:txBody>
      </p:sp>
    </p:spTree>
    <p:extLst>
      <p:ext uri="{BB962C8B-B14F-4D97-AF65-F5344CB8AC3E}">
        <p14:creationId xmlns:p14="http://schemas.microsoft.com/office/powerpoint/2010/main" val="38767858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6FF98-9930-071C-7789-25C6CF5459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33BC7C-F7B0-BCF9-C52C-1DED15826BB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BFB0F5D-F9AF-AC9D-4856-60D976E440EB}"/>
              </a:ext>
            </a:extLst>
          </p:cNvPr>
          <p:cNvSpPr>
            <a:spLocks noGrp="1"/>
          </p:cNvSpPr>
          <p:nvPr>
            <p:ph type="body" idx="1"/>
          </p:nvPr>
        </p:nvSpPr>
        <p:spPr/>
        <p:txBody>
          <a:bodyPr/>
          <a:lstStyle/>
          <a:p>
            <a:r>
              <a:rPr lang="he-IL" dirty="0"/>
              <a:t>פחות מידע אבסטרקטי ויותר הכוונה מדויקת לפרמטרים בטקסט/</a:t>
            </a:r>
            <a:r>
              <a:rPr lang="en-US" dirty="0"/>
              <a:t>PCAP</a:t>
            </a:r>
          </a:p>
          <a:p>
            <a:r>
              <a:rPr lang="en-US" dirty="0"/>
              <a:t>traceability</a:t>
            </a:r>
          </a:p>
        </p:txBody>
      </p:sp>
      <p:sp>
        <p:nvSpPr>
          <p:cNvPr id="4" name="Slide Number Placeholder 3">
            <a:extLst>
              <a:ext uri="{FF2B5EF4-FFF2-40B4-BE49-F238E27FC236}">
                <a16:creationId xmlns:a16="http://schemas.microsoft.com/office/drawing/2014/main" id="{73DBE7FD-70FF-7152-D565-82D84C28A995}"/>
              </a:ext>
            </a:extLst>
          </p:cNvPr>
          <p:cNvSpPr>
            <a:spLocks noGrp="1"/>
          </p:cNvSpPr>
          <p:nvPr>
            <p:ph type="sldNum" sz="quarter" idx="5"/>
          </p:nvPr>
        </p:nvSpPr>
        <p:spPr/>
        <p:txBody>
          <a:bodyPr/>
          <a:lstStyle/>
          <a:p>
            <a:fld id="{1FC6FD1B-59C9-4EEA-9735-540FF221A129}" type="slidenum">
              <a:rPr lang="en-US" smtClean="0"/>
              <a:t>18</a:t>
            </a:fld>
            <a:endParaRPr lang="en-US"/>
          </a:p>
        </p:txBody>
      </p:sp>
    </p:spTree>
    <p:extLst>
      <p:ext uri="{BB962C8B-B14F-4D97-AF65-F5344CB8AC3E}">
        <p14:creationId xmlns:p14="http://schemas.microsoft.com/office/powerpoint/2010/main" val="32245831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C2DBF-1A15-8BBA-CC5F-BF11816FDE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BE519A-FDE6-3306-5B3D-8F53AD3F0E0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B5612B8-3F6E-5AFD-7E72-1F92D79CF724}"/>
              </a:ext>
            </a:extLst>
          </p:cNvPr>
          <p:cNvSpPr>
            <a:spLocks noGrp="1"/>
          </p:cNvSpPr>
          <p:nvPr>
            <p:ph type="body" idx="1"/>
          </p:nvPr>
        </p:nvSpPr>
        <p:spPr/>
        <p:txBody>
          <a:bodyPr/>
          <a:lstStyle/>
          <a:p>
            <a:r>
              <a:rPr lang="en-US" dirty="0"/>
              <a:t>https://secartifacts.github.io/usenixsec2025/badges</a:t>
            </a:r>
          </a:p>
        </p:txBody>
      </p:sp>
      <p:sp>
        <p:nvSpPr>
          <p:cNvPr id="4" name="Slide Number Placeholder 3">
            <a:extLst>
              <a:ext uri="{FF2B5EF4-FFF2-40B4-BE49-F238E27FC236}">
                <a16:creationId xmlns:a16="http://schemas.microsoft.com/office/drawing/2014/main" id="{7E7F776E-CD12-6D55-D5E7-E6364EF5C549}"/>
              </a:ext>
            </a:extLst>
          </p:cNvPr>
          <p:cNvSpPr>
            <a:spLocks noGrp="1"/>
          </p:cNvSpPr>
          <p:nvPr>
            <p:ph type="sldNum" sz="quarter" idx="5"/>
          </p:nvPr>
        </p:nvSpPr>
        <p:spPr/>
        <p:txBody>
          <a:bodyPr/>
          <a:lstStyle/>
          <a:p>
            <a:fld id="{1FC6FD1B-59C9-4EEA-9735-540FF221A129}" type="slidenum">
              <a:rPr lang="en-US" smtClean="0"/>
              <a:t>19</a:t>
            </a:fld>
            <a:endParaRPr lang="en-US"/>
          </a:p>
        </p:txBody>
      </p:sp>
    </p:spTree>
    <p:extLst>
      <p:ext uri="{BB962C8B-B14F-4D97-AF65-F5344CB8AC3E}">
        <p14:creationId xmlns:p14="http://schemas.microsoft.com/office/powerpoint/2010/main" val="36386951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1B3CA-DB1D-AB0A-9284-C64448B40C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DCEFF9-037C-FA61-A63A-7085CDC9246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1888026-18E9-311B-CAAB-16A79F8FDBDA}"/>
              </a:ext>
            </a:extLst>
          </p:cNvPr>
          <p:cNvSpPr>
            <a:spLocks noGrp="1"/>
          </p:cNvSpPr>
          <p:nvPr>
            <p:ph type="body" idx="1"/>
          </p:nvPr>
        </p:nvSpPr>
        <p:spPr/>
        <p:txBody>
          <a:bodyPr/>
          <a:lstStyle/>
          <a:p>
            <a:r>
              <a:rPr lang="he-IL" dirty="0"/>
              <a:t>פחות מידע אבסטרקטי ויותר הכוונה מדויקת לפרמטרים בטקסט/</a:t>
            </a:r>
            <a:r>
              <a:rPr lang="en-US" dirty="0"/>
              <a:t>PCAP</a:t>
            </a:r>
          </a:p>
          <a:p>
            <a:r>
              <a:rPr lang="en-US" dirty="0"/>
              <a:t>traceability</a:t>
            </a:r>
          </a:p>
        </p:txBody>
      </p:sp>
      <p:sp>
        <p:nvSpPr>
          <p:cNvPr id="4" name="Slide Number Placeholder 3">
            <a:extLst>
              <a:ext uri="{FF2B5EF4-FFF2-40B4-BE49-F238E27FC236}">
                <a16:creationId xmlns:a16="http://schemas.microsoft.com/office/drawing/2014/main" id="{3392210F-FB5E-C913-3E6F-D10D3D656A76}"/>
              </a:ext>
            </a:extLst>
          </p:cNvPr>
          <p:cNvSpPr>
            <a:spLocks noGrp="1"/>
          </p:cNvSpPr>
          <p:nvPr>
            <p:ph type="sldNum" sz="quarter" idx="5"/>
          </p:nvPr>
        </p:nvSpPr>
        <p:spPr/>
        <p:txBody>
          <a:bodyPr/>
          <a:lstStyle/>
          <a:p>
            <a:fld id="{1FC6FD1B-59C9-4EEA-9735-540FF221A129}" type="slidenum">
              <a:rPr lang="en-US" smtClean="0"/>
              <a:t>20</a:t>
            </a:fld>
            <a:endParaRPr lang="en-US"/>
          </a:p>
        </p:txBody>
      </p:sp>
    </p:spTree>
    <p:extLst>
      <p:ext uri="{BB962C8B-B14F-4D97-AF65-F5344CB8AC3E}">
        <p14:creationId xmlns:p14="http://schemas.microsoft.com/office/powerpoint/2010/main" val="16679082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3AB1A-C603-5F20-EEE9-01DEC9ABED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CC53D2-CF5C-80A1-6557-99090024CF9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869B3B2-4BE9-935C-E555-C4FC6D995222}"/>
              </a:ext>
            </a:extLst>
          </p:cNvPr>
          <p:cNvSpPr>
            <a:spLocks noGrp="1"/>
          </p:cNvSpPr>
          <p:nvPr>
            <p:ph type="body" idx="1"/>
          </p:nvPr>
        </p:nvSpPr>
        <p:spPr/>
        <p:txBody>
          <a:bodyPr/>
          <a:lstStyle/>
          <a:p>
            <a:r>
              <a:rPr lang="he-IL" dirty="0"/>
              <a:t>פחות מידע אבסטרקטי ויותר הכוונה מדויקת לפרמטרים בטקסט/</a:t>
            </a:r>
            <a:r>
              <a:rPr lang="en-US" dirty="0"/>
              <a:t>PCAP</a:t>
            </a:r>
          </a:p>
          <a:p>
            <a:r>
              <a:rPr lang="en-US" dirty="0"/>
              <a:t>traceability</a:t>
            </a:r>
          </a:p>
        </p:txBody>
      </p:sp>
      <p:sp>
        <p:nvSpPr>
          <p:cNvPr id="4" name="Slide Number Placeholder 3">
            <a:extLst>
              <a:ext uri="{FF2B5EF4-FFF2-40B4-BE49-F238E27FC236}">
                <a16:creationId xmlns:a16="http://schemas.microsoft.com/office/drawing/2014/main" id="{9040113D-0438-9E2C-DCD0-09873D7CE7FE}"/>
              </a:ext>
            </a:extLst>
          </p:cNvPr>
          <p:cNvSpPr>
            <a:spLocks noGrp="1"/>
          </p:cNvSpPr>
          <p:nvPr>
            <p:ph type="sldNum" sz="quarter" idx="5"/>
          </p:nvPr>
        </p:nvSpPr>
        <p:spPr/>
        <p:txBody>
          <a:bodyPr/>
          <a:lstStyle/>
          <a:p>
            <a:fld id="{1FC6FD1B-59C9-4EEA-9735-540FF221A129}" type="slidenum">
              <a:rPr lang="en-US" smtClean="0"/>
              <a:t>21</a:t>
            </a:fld>
            <a:endParaRPr lang="en-US"/>
          </a:p>
        </p:txBody>
      </p:sp>
    </p:spTree>
    <p:extLst>
      <p:ext uri="{BB962C8B-B14F-4D97-AF65-F5344CB8AC3E}">
        <p14:creationId xmlns:p14="http://schemas.microsoft.com/office/powerpoint/2010/main" val="9615429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C9D5E-C9F6-E495-33B3-F404F10854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AA1021-7F2D-2B77-23EC-EA93ECCD99E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BC7F919-E0F7-468B-4335-334F1E17FFB9}"/>
              </a:ext>
            </a:extLst>
          </p:cNvPr>
          <p:cNvSpPr>
            <a:spLocks noGrp="1"/>
          </p:cNvSpPr>
          <p:nvPr>
            <p:ph type="body" idx="1"/>
          </p:nvPr>
        </p:nvSpPr>
        <p:spPr/>
        <p:txBody>
          <a:bodyPr/>
          <a:lstStyle/>
          <a:p>
            <a:r>
              <a:rPr lang="he-IL" dirty="0"/>
              <a:t>פחות מידע אבסטרקטי ויותר הכוונה מדויקת לפרמטרים בטקסט/</a:t>
            </a:r>
            <a:r>
              <a:rPr lang="en-US" dirty="0"/>
              <a:t>PCAP</a:t>
            </a:r>
          </a:p>
          <a:p>
            <a:r>
              <a:rPr lang="en-US" dirty="0"/>
              <a:t>traceability</a:t>
            </a:r>
          </a:p>
        </p:txBody>
      </p:sp>
      <p:sp>
        <p:nvSpPr>
          <p:cNvPr id="4" name="Slide Number Placeholder 3">
            <a:extLst>
              <a:ext uri="{FF2B5EF4-FFF2-40B4-BE49-F238E27FC236}">
                <a16:creationId xmlns:a16="http://schemas.microsoft.com/office/drawing/2014/main" id="{9310DAD6-86F5-D415-086C-7AB0A701B66A}"/>
              </a:ext>
            </a:extLst>
          </p:cNvPr>
          <p:cNvSpPr>
            <a:spLocks noGrp="1"/>
          </p:cNvSpPr>
          <p:nvPr>
            <p:ph type="sldNum" sz="quarter" idx="5"/>
          </p:nvPr>
        </p:nvSpPr>
        <p:spPr/>
        <p:txBody>
          <a:bodyPr/>
          <a:lstStyle/>
          <a:p>
            <a:fld id="{1FC6FD1B-59C9-4EEA-9735-540FF221A129}" type="slidenum">
              <a:rPr lang="en-US" smtClean="0"/>
              <a:t>22</a:t>
            </a:fld>
            <a:endParaRPr lang="en-US"/>
          </a:p>
        </p:txBody>
      </p:sp>
    </p:spTree>
    <p:extLst>
      <p:ext uri="{BB962C8B-B14F-4D97-AF65-F5344CB8AC3E}">
        <p14:creationId xmlns:p14="http://schemas.microsoft.com/office/powerpoint/2010/main" val="35284578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501B2-0EF9-B807-1B1A-9EE7A9B0B2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34DDC9-6C2A-BBF0-AF66-C1D097A7E87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527FFD3-D512-4C12-C72C-F2702DF0F611}"/>
              </a:ext>
            </a:extLst>
          </p:cNvPr>
          <p:cNvSpPr>
            <a:spLocks noGrp="1"/>
          </p:cNvSpPr>
          <p:nvPr>
            <p:ph type="body" idx="1"/>
          </p:nvPr>
        </p:nvSpPr>
        <p:spPr/>
        <p:txBody>
          <a:bodyPr/>
          <a:lstStyle/>
          <a:p>
            <a:r>
              <a:rPr lang="he-IL" dirty="0"/>
              <a:t>פחות מידע אבסטרקטי ויותר הכוונה מדויקת לפרמטרים בטקסט/</a:t>
            </a:r>
            <a:r>
              <a:rPr lang="en-US" dirty="0"/>
              <a:t>PCAP</a:t>
            </a:r>
          </a:p>
          <a:p>
            <a:r>
              <a:rPr lang="en-US" dirty="0"/>
              <a:t>traceability</a:t>
            </a:r>
          </a:p>
        </p:txBody>
      </p:sp>
      <p:sp>
        <p:nvSpPr>
          <p:cNvPr id="4" name="Slide Number Placeholder 3">
            <a:extLst>
              <a:ext uri="{FF2B5EF4-FFF2-40B4-BE49-F238E27FC236}">
                <a16:creationId xmlns:a16="http://schemas.microsoft.com/office/drawing/2014/main" id="{7006C28B-9A9E-EC06-0BEB-E3E2C6C51938}"/>
              </a:ext>
            </a:extLst>
          </p:cNvPr>
          <p:cNvSpPr>
            <a:spLocks noGrp="1"/>
          </p:cNvSpPr>
          <p:nvPr>
            <p:ph type="sldNum" sz="quarter" idx="5"/>
          </p:nvPr>
        </p:nvSpPr>
        <p:spPr/>
        <p:txBody>
          <a:bodyPr/>
          <a:lstStyle/>
          <a:p>
            <a:fld id="{1FC6FD1B-59C9-4EEA-9735-540FF221A129}" type="slidenum">
              <a:rPr lang="en-US" smtClean="0"/>
              <a:t>23</a:t>
            </a:fld>
            <a:endParaRPr lang="en-US"/>
          </a:p>
        </p:txBody>
      </p:sp>
    </p:spTree>
    <p:extLst>
      <p:ext uri="{BB962C8B-B14F-4D97-AF65-F5344CB8AC3E}">
        <p14:creationId xmlns:p14="http://schemas.microsoft.com/office/powerpoint/2010/main" val="29440431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4C343-23D0-9ED4-AE69-B02EDD35AB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04DE4F-0653-95B4-4CFF-B40D1259B6E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D441D9C-603C-3927-9504-380D7B8C2B57}"/>
              </a:ext>
            </a:extLst>
          </p:cNvPr>
          <p:cNvSpPr>
            <a:spLocks noGrp="1"/>
          </p:cNvSpPr>
          <p:nvPr>
            <p:ph type="body" idx="1"/>
          </p:nvPr>
        </p:nvSpPr>
        <p:spPr/>
        <p:txBody>
          <a:bodyPr/>
          <a:lstStyle/>
          <a:p>
            <a:r>
              <a:rPr lang="he-IL" dirty="0"/>
              <a:t>פחות מידע אבסטרקטי ויותר הכוונה מדויקת לפרמטרים בטקסט/</a:t>
            </a:r>
            <a:r>
              <a:rPr lang="en-US" dirty="0"/>
              <a:t>PCAP</a:t>
            </a:r>
          </a:p>
          <a:p>
            <a:r>
              <a:rPr lang="en-US" dirty="0"/>
              <a:t>traceability</a:t>
            </a:r>
          </a:p>
        </p:txBody>
      </p:sp>
      <p:sp>
        <p:nvSpPr>
          <p:cNvPr id="4" name="Slide Number Placeholder 3">
            <a:extLst>
              <a:ext uri="{FF2B5EF4-FFF2-40B4-BE49-F238E27FC236}">
                <a16:creationId xmlns:a16="http://schemas.microsoft.com/office/drawing/2014/main" id="{FFE80762-04A4-2E5C-F0BC-07513B87CD0B}"/>
              </a:ext>
            </a:extLst>
          </p:cNvPr>
          <p:cNvSpPr>
            <a:spLocks noGrp="1"/>
          </p:cNvSpPr>
          <p:nvPr>
            <p:ph type="sldNum" sz="quarter" idx="5"/>
          </p:nvPr>
        </p:nvSpPr>
        <p:spPr/>
        <p:txBody>
          <a:bodyPr/>
          <a:lstStyle/>
          <a:p>
            <a:fld id="{1FC6FD1B-59C9-4EEA-9735-540FF221A129}" type="slidenum">
              <a:rPr lang="en-US" smtClean="0"/>
              <a:t>25</a:t>
            </a:fld>
            <a:endParaRPr lang="en-US"/>
          </a:p>
        </p:txBody>
      </p:sp>
    </p:spTree>
    <p:extLst>
      <p:ext uri="{BB962C8B-B14F-4D97-AF65-F5344CB8AC3E}">
        <p14:creationId xmlns:p14="http://schemas.microsoft.com/office/powerpoint/2010/main" val="37393115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3A784-1BE0-D922-171D-7190D54CAC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E751C1-88A3-12E7-D2DF-D4EEC9DAC19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D9085E9-359C-8042-807B-E2D16C72A003}"/>
              </a:ext>
            </a:extLst>
          </p:cNvPr>
          <p:cNvSpPr>
            <a:spLocks noGrp="1"/>
          </p:cNvSpPr>
          <p:nvPr>
            <p:ph type="body" idx="1"/>
          </p:nvPr>
        </p:nvSpPr>
        <p:spPr/>
        <p:txBody>
          <a:bodyPr/>
          <a:lstStyle/>
          <a:p>
            <a:r>
              <a:rPr lang="he-IL" dirty="0"/>
              <a:t>פחות מידע אבסטרקטי ויותר הכוונה מדויקת לפרמטרים בטקסט/</a:t>
            </a:r>
            <a:r>
              <a:rPr lang="en-US" dirty="0"/>
              <a:t>PCAP</a:t>
            </a:r>
          </a:p>
          <a:p>
            <a:r>
              <a:rPr lang="en-US" dirty="0"/>
              <a:t>traceability</a:t>
            </a:r>
          </a:p>
        </p:txBody>
      </p:sp>
      <p:sp>
        <p:nvSpPr>
          <p:cNvPr id="4" name="Slide Number Placeholder 3">
            <a:extLst>
              <a:ext uri="{FF2B5EF4-FFF2-40B4-BE49-F238E27FC236}">
                <a16:creationId xmlns:a16="http://schemas.microsoft.com/office/drawing/2014/main" id="{101D684E-E172-3C05-C42F-7D5D13CF4982}"/>
              </a:ext>
            </a:extLst>
          </p:cNvPr>
          <p:cNvSpPr>
            <a:spLocks noGrp="1"/>
          </p:cNvSpPr>
          <p:nvPr>
            <p:ph type="sldNum" sz="quarter" idx="5"/>
          </p:nvPr>
        </p:nvSpPr>
        <p:spPr/>
        <p:txBody>
          <a:bodyPr/>
          <a:lstStyle/>
          <a:p>
            <a:fld id="{1FC6FD1B-59C9-4EEA-9735-540FF221A129}" type="slidenum">
              <a:rPr lang="en-US" smtClean="0"/>
              <a:t>26</a:t>
            </a:fld>
            <a:endParaRPr lang="en-US"/>
          </a:p>
        </p:txBody>
      </p:sp>
    </p:spTree>
    <p:extLst>
      <p:ext uri="{BB962C8B-B14F-4D97-AF65-F5344CB8AC3E}">
        <p14:creationId xmlns:p14="http://schemas.microsoft.com/office/powerpoint/2010/main" val="3443726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C191E-E10E-9E10-4C04-27DB9E52D0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0CB59F-10F2-0B47-E368-67AD82474F2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D05ED3A-C997-D6B4-4F95-CFE399D65357}"/>
              </a:ext>
            </a:extLst>
          </p:cNvPr>
          <p:cNvSpPr>
            <a:spLocks noGrp="1"/>
          </p:cNvSpPr>
          <p:nvPr>
            <p:ph type="body" idx="1"/>
          </p:nvPr>
        </p:nvSpPr>
        <p:spPr/>
        <p:txBody>
          <a:bodyPr/>
          <a:lstStyle/>
          <a:p>
            <a:r>
              <a:rPr lang="he-IL" dirty="0"/>
              <a:t>פחות מידע אבסטרקטי ויותר הכוונה מדויקת לפרמטרים בטקסט/</a:t>
            </a:r>
            <a:r>
              <a:rPr lang="en-US" dirty="0"/>
              <a:t>PCAP</a:t>
            </a:r>
          </a:p>
          <a:p>
            <a:r>
              <a:rPr lang="en-US" dirty="0"/>
              <a:t>traceability</a:t>
            </a:r>
          </a:p>
        </p:txBody>
      </p:sp>
      <p:sp>
        <p:nvSpPr>
          <p:cNvPr id="4" name="Slide Number Placeholder 3">
            <a:extLst>
              <a:ext uri="{FF2B5EF4-FFF2-40B4-BE49-F238E27FC236}">
                <a16:creationId xmlns:a16="http://schemas.microsoft.com/office/drawing/2014/main" id="{FC93F703-56D7-F682-089A-8B324BCD4EB2}"/>
              </a:ext>
            </a:extLst>
          </p:cNvPr>
          <p:cNvSpPr>
            <a:spLocks noGrp="1"/>
          </p:cNvSpPr>
          <p:nvPr>
            <p:ph type="sldNum" sz="quarter" idx="5"/>
          </p:nvPr>
        </p:nvSpPr>
        <p:spPr/>
        <p:txBody>
          <a:bodyPr/>
          <a:lstStyle/>
          <a:p>
            <a:fld id="{1FC6FD1B-59C9-4EEA-9735-540FF221A129}" type="slidenum">
              <a:rPr lang="en-US" smtClean="0"/>
              <a:t>27</a:t>
            </a:fld>
            <a:endParaRPr lang="en-US"/>
          </a:p>
        </p:txBody>
      </p:sp>
    </p:spTree>
    <p:extLst>
      <p:ext uri="{BB962C8B-B14F-4D97-AF65-F5344CB8AC3E}">
        <p14:creationId xmlns:p14="http://schemas.microsoft.com/office/powerpoint/2010/main" val="21533968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he-IL" dirty="0"/>
              <a:t>שליטה ברמת ההפשטה</a:t>
            </a:r>
            <a:endParaRPr lang="en-US" dirty="0"/>
          </a:p>
        </p:txBody>
      </p:sp>
      <p:sp>
        <p:nvSpPr>
          <p:cNvPr id="4" name="Slide Number Placeholder 3"/>
          <p:cNvSpPr>
            <a:spLocks noGrp="1"/>
          </p:cNvSpPr>
          <p:nvPr>
            <p:ph type="sldNum" sz="quarter" idx="5"/>
          </p:nvPr>
        </p:nvSpPr>
        <p:spPr/>
        <p:txBody>
          <a:bodyPr/>
          <a:lstStyle/>
          <a:p>
            <a:fld id="{1FC6FD1B-59C9-4EEA-9735-540FF221A129}" type="slidenum">
              <a:rPr lang="en-US" smtClean="0"/>
              <a:t>29</a:t>
            </a:fld>
            <a:endParaRPr lang="en-US"/>
          </a:p>
        </p:txBody>
      </p:sp>
    </p:spTree>
    <p:extLst>
      <p:ext uri="{BB962C8B-B14F-4D97-AF65-F5344CB8AC3E}">
        <p14:creationId xmlns:p14="http://schemas.microsoft.com/office/powerpoint/2010/main" val="35499107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BFDAD-2A30-A040-7570-7AE3EBC0EFB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24DAF00-F892-F9E1-D010-80AE132302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17001FB-7B0D-9E6D-C267-BFA5B6AFCF53}"/>
              </a:ext>
            </a:extLst>
          </p:cNvPr>
          <p:cNvSpPr>
            <a:spLocks noGrp="1"/>
          </p:cNvSpPr>
          <p:nvPr>
            <p:ph type="dt" sz="half" idx="10"/>
          </p:nvPr>
        </p:nvSpPr>
        <p:spPr/>
        <p:txBody>
          <a:bodyPr/>
          <a:lstStyle/>
          <a:p>
            <a:fld id="{EBADDE44-2A96-4951-86B4-5BB434E9B9D5}" type="datetimeFigureOut">
              <a:rPr lang="en-US" smtClean="0"/>
              <a:t>05/18/2026</a:t>
            </a:fld>
            <a:endParaRPr lang="en-US"/>
          </a:p>
        </p:txBody>
      </p:sp>
      <p:sp>
        <p:nvSpPr>
          <p:cNvPr id="5" name="Footer Placeholder 4">
            <a:extLst>
              <a:ext uri="{FF2B5EF4-FFF2-40B4-BE49-F238E27FC236}">
                <a16:creationId xmlns:a16="http://schemas.microsoft.com/office/drawing/2014/main" id="{0C7FC2D2-CA26-C316-3669-BC695AF244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CF6FE2-291F-210F-52F9-97D23C9BCB6D}"/>
              </a:ext>
            </a:extLst>
          </p:cNvPr>
          <p:cNvSpPr>
            <a:spLocks noGrp="1"/>
          </p:cNvSpPr>
          <p:nvPr>
            <p:ph type="sldNum" sz="quarter" idx="12"/>
          </p:nvPr>
        </p:nvSpPr>
        <p:spPr/>
        <p:txBody>
          <a:bodyPr/>
          <a:lstStyle/>
          <a:p>
            <a:fld id="{CF68B40D-D125-4F8D-9DC7-ECCAC250002E}" type="slidenum">
              <a:rPr lang="en-US" smtClean="0"/>
              <a:t>‹#›</a:t>
            </a:fld>
            <a:endParaRPr lang="en-US"/>
          </a:p>
        </p:txBody>
      </p:sp>
    </p:spTree>
    <p:extLst>
      <p:ext uri="{BB962C8B-B14F-4D97-AF65-F5344CB8AC3E}">
        <p14:creationId xmlns:p14="http://schemas.microsoft.com/office/powerpoint/2010/main" val="23780992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7A1FE-CE01-6DB0-8520-3FACF75DB05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5108B2-08E5-AE15-E7B7-604A640855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FFA55A-6826-795F-C58E-C6699879C1D1}"/>
              </a:ext>
            </a:extLst>
          </p:cNvPr>
          <p:cNvSpPr>
            <a:spLocks noGrp="1"/>
          </p:cNvSpPr>
          <p:nvPr>
            <p:ph type="dt" sz="half" idx="10"/>
          </p:nvPr>
        </p:nvSpPr>
        <p:spPr/>
        <p:txBody>
          <a:bodyPr/>
          <a:lstStyle/>
          <a:p>
            <a:fld id="{EBADDE44-2A96-4951-86B4-5BB434E9B9D5}" type="datetimeFigureOut">
              <a:rPr lang="en-US" smtClean="0"/>
              <a:t>05/18/2026</a:t>
            </a:fld>
            <a:endParaRPr lang="en-US"/>
          </a:p>
        </p:txBody>
      </p:sp>
      <p:sp>
        <p:nvSpPr>
          <p:cNvPr id="5" name="Footer Placeholder 4">
            <a:extLst>
              <a:ext uri="{FF2B5EF4-FFF2-40B4-BE49-F238E27FC236}">
                <a16:creationId xmlns:a16="http://schemas.microsoft.com/office/drawing/2014/main" id="{F43E1DD0-008B-0D10-D29F-9D1922D408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86A05D-4F98-D419-7BCE-49E7E9BC723C}"/>
              </a:ext>
            </a:extLst>
          </p:cNvPr>
          <p:cNvSpPr>
            <a:spLocks noGrp="1"/>
          </p:cNvSpPr>
          <p:nvPr>
            <p:ph type="sldNum" sz="quarter" idx="12"/>
          </p:nvPr>
        </p:nvSpPr>
        <p:spPr/>
        <p:txBody>
          <a:bodyPr/>
          <a:lstStyle/>
          <a:p>
            <a:fld id="{CF68B40D-D125-4F8D-9DC7-ECCAC250002E}" type="slidenum">
              <a:rPr lang="en-US" smtClean="0"/>
              <a:t>‹#›</a:t>
            </a:fld>
            <a:endParaRPr lang="en-US"/>
          </a:p>
        </p:txBody>
      </p:sp>
    </p:spTree>
    <p:extLst>
      <p:ext uri="{BB962C8B-B14F-4D97-AF65-F5344CB8AC3E}">
        <p14:creationId xmlns:p14="http://schemas.microsoft.com/office/powerpoint/2010/main" val="3541026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35C4C-DAB2-A6DE-9176-93A0202DD2D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15C0D5D-7D11-9A53-E25E-2F52F12033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649DF01-1312-9A51-03E6-13A0EB894358}"/>
              </a:ext>
            </a:extLst>
          </p:cNvPr>
          <p:cNvSpPr>
            <a:spLocks noGrp="1"/>
          </p:cNvSpPr>
          <p:nvPr>
            <p:ph type="dt" sz="half" idx="10"/>
          </p:nvPr>
        </p:nvSpPr>
        <p:spPr/>
        <p:txBody>
          <a:bodyPr/>
          <a:lstStyle/>
          <a:p>
            <a:fld id="{EBADDE44-2A96-4951-86B4-5BB434E9B9D5}" type="datetimeFigureOut">
              <a:rPr lang="en-US" smtClean="0"/>
              <a:t>05/18/2026</a:t>
            </a:fld>
            <a:endParaRPr lang="en-US"/>
          </a:p>
        </p:txBody>
      </p:sp>
      <p:sp>
        <p:nvSpPr>
          <p:cNvPr id="5" name="Footer Placeholder 4">
            <a:extLst>
              <a:ext uri="{FF2B5EF4-FFF2-40B4-BE49-F238E27FC236}">
                <a16:creationId xmlns:a16="http://schemas.microsoft.com/office/drawing/2014/main" id="{D4E57CBE-33AE-E9C3-F4E5-62B100D8B4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5EFAC1-2BE9-BEFF-7405-571A3B948F21}"/>
              </a:ext>
            </a:extLst>
          </p:cNvPr>
          <p:cNvSpPr>
            <a:spLocks noGrp="1"/>
          </p:cNvSpPr>
          <p:nvPr>
            <p:ph type="sldNum" sz="quarter" idx="12"/>
          </p:nvPr>
        </p:nvSpPr>
        <p:spPr/>
        <p:txBody>
          <a:bodyPr/>
          <a:lstStyle/>
          <a:p>
            <a:fld id="{CF68B40D-D125-4F8D-9DC7-ECCAC250002E}" type="slidenum">
              <a:rPr lang="en-US" smtClean="0"/>
              <a:t>‹#›</a:t>
            </a:fld>
            <a:endParaRPr lang="en-US"/>
          </a:p>
        </p:txBody>
      </p:sp>
    </p:spTree>
    <p:extLst>
      <p:ext uri="{BB962C8B-B14F-4D97-AF65-F5344CB8AC3E}">
        <p14:creationId xmlns:p14="http://schemas.microsoft.com/office/powerpoint/2010/main" val="34259911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0300B-0317-8899-31E9-901C18BFEC4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7FA3D0-387C-2797-906E-5606CE0FC9E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749EABF-5B98-84C3-FFEC-0D1F9B8DA7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1541136-B160-175B-5A0A-A1C2DEEE20D4}"/>
              </a:ext>
            </a:extLst>
          </p:cNvPr>
          <p:cNvSpPr>
            <a:spLocks noGrp="1"/>
          </p:cNvSpPr>
          <p:nvPr>
            <p:ph type="dt" sz="half" idx="10"/>
          </p:nvPr>
        </p:nvSpPr>
        <p:spPr/>
        <p:txBody>
          <a:bodyPr/>
          <a:lstStyle/>
          <a:p>
            <a:fld id="{EBADDE44-2A96-4951-86B4-5BB434E9B9D5}" type="datetimeFigureOut">
              <a:rPr lang="en-US" smtClean="0"/>
              <a:t>05/18/2026</a:t>
            </a:fld>
            <a:endParaRPr lang="en-US"/>
          </a:p>
        </p:txBody>
      </p:sp>
      <p:sp>
        <p:nvSpPr>
          <p:cNvPr id="6" name="Footer Placeholder 5">
            <a:extLst>
              <a:ext uri="{FF2B5EF4-FFF2-40B4-BE49-F238E27FC236}">
                <a16:creationId xmlns:a16="http://schemas.microsoft.com/office/drawing/2014/main" id="{D11E0C07-4EBB-B3A1-EB15-92077D833A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22B4ED-B2C9-BB8B-E5B0-5F9F63442A01}"/>
              </a:ext>
            </a:extLst>
          </p:cNvPr>
          <p:cNvSpPr>
            <a:spLocks noGrp="1"/>
          </p:cNvSpPr>
          <p:nvPr>
            <p:ph type="sldNum" sz="quarter" idx="12"/>
          </p:nvPr>
        </p:nvSpPr>
        <p:spPr/>
        <p:txBody>
          <a:bodyPr/>
          <a:lstStyle/>
          <a:p>
            <a:fld id="{CF68B40D-D125-4F8D-9DC7-ECCAC250002E}" type="slidenum">
              <a:rPr lang="en-US" smtClean="0"/>
              <a:t>‹#›</a:t>
            </a:fld>
            <a:endParaRPr lang="en-US"/>
          </a:p>
        </p:txBody>
      </p:sp>
    </p:spTree>
    <p:extLst>
      <p:ext uri="{BB962C8B-B14F-4D97-AF65-F5344CB8AC3E}">
        <p14:creationId xmlns:p14="http://schemas.microsoft.com/office/powerpoint/2010/main" val="1553591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8FE69-95A9-3465-48C5-E1A47A46152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F3D3174-D968-C148-0C5A-8534AE8AF2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5D22B0A-D1FF-0C1C-D4C5-8E8343B8AEE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08F7D12-E7E4-CB04-C748-7290FD85C4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EF161B2-CE9E-13D9-3635-D4E2D10F6D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4121956-CA0B-3932-D667-2E0DAF50EC42}"/>
              </a:ext>
            </a:extLst>
          </p:cNvPr>
          <p:cNvSpPr>
            <a:spLocks noGrp="1"/>
          </p:cNvSpPr>
          <p:nvPr>
            <p:ph type="dt" sz="half" idx="10"/>
          </p:nvPr>
        </p:nvSpPr>
        <p:spPr/>
        <p:txBody>
          <a:bodyPr/>
          <a:lstStyle/>
          <a:p>
            <a:fld id="{EBADDE44-2A96-4951-86B4-5BB434E9B9D5}" type="datetimeFigureOut">
              <a:rPr lang="en-US" smtClean="0"/>
              <a:t>05/18/2026</a:t>
            </a:fld>
            <a:endParaRPr lang="en-US"/>
          </a:p>
        </p:txBody>
      </p:sp>
      <p:sp>
        <p:nvSpPr>
          <p:cNvPr id="8" name="Footer Placeholder 7">
            <a:extLst>
              <a:ext uri="{FF2B5EF4-FFF2-40B4-BE49-F238E27FC236}">
                <a16:creationId xmlns:a16="http://schemas.microsoft.com/office/drawing/2014/main" id="{9842778A-52AC-E9D5-CE32-45B7592249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79BD79C-4D5B-85F5-42FA-FFFD7B50F78B}"/>
              </a:ext>
            </a:extLst>
          </p:cNvPr>
          <p:cNvSpPr>
            <a:spLocks noGrp="1"/>
          </p:cNvSpPr>
          <p:nvPr>
            <p:ph type="sldNum" sz="quarter" idx="12"/>
          </p:nvPr>
        </p:nvSpPr>
        <p:spPr/>
        <p:txBody>
          <a:bodyPr/>
          <a:lstStyle/>
          <a:p>
            <a:fld id="{CF68B40D-D125-4F8D-9DC7-ECCAC250002E}" type="slidenum">
              <a:rPr lang="en-US" smtClean="0"/>
              <a:t>‹#›</a:t>
            </a:fld>
            <a:endParaRPr lang="en-US"/>
          </a:p>
        </p:txBody>
      </p:sp>
    </p:spTree>
    <p:extLst>
      <p:ext uri="{BB962C8B-B14F-4D97-AF65-F5344CB8AC3E}">
        <p14:creationId xmlns:p14="http://schemas.microsoft.com/office/powerpoint/2010/main" val="4052032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649B2-CB45-167D-18B1-3B4AFD8DC98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F402735-E2A2-79FF-AF5C-EDE56C1F5E06}"/>
              </a:ext>
            </a:extLst>
          </p:cNvPr>
          <p:cNvSpPr>
            <a:spLocks noGrp="1"/>
          </p:cNvSpPr>
          <p:nvPr>
            <p:ph type="dt" sz="half" idx="10"/>
          </p:nvPr>
        </p:nvSpPr>
        <p:spPr/>
        <p:txBody>
          <a:bodyPr/>
          <a:lstStyle/>
          <a:p>
            <a:fld id="{EBADDE44-2A96-4951-86B4-5BB434E9B9D5}" type="datetimeFigureOut">
              <a:rPr lang="en-US" smtClean="0"/>
              <a:t>05/18/2026</a:t>
            </a:fld>
            <a:endParaRPr lang="en-US"/>
          </a:p>
        </p:txBody>
      </p:sp>
      <p:sp>
        <p:nvSpPr>
          <p:cNvPr id="4" name="Footer Placeholder 3">
            <a:extLst>
              <a:ext uri="{FF2B5EF4-FFF2-40B4-BE49-F238E27FC236}">
                <a16:creationId xmlns:a16="http://schemas.microsoft.com/office/drawing/2014/main" id="{21290B29-7EF4-B275-55DA-8889E079BC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FE06AD4-0FE3-3524-F4C6-AEE3F623ACF2}"/>
              </a:ext>
            </a:extLst>
          </p:cNvPr>
          <p:cNvSpPr>
            <a:spLocks noGrp="1"/>
          </p:cNvSpPr>
          <p:nvPr>
            <p:ph type="sldNum" sz="quarter" idx="12"/>
          </p:nvPr>
        </p:nvSpPr>
        <p:spPr/>
        <p:txBody>
          <a:bodyPr/>
          <a:lstStyle/>
          <a:p>
            <a:fld id="{CF68B40D-D125-4F8D-9DC7-ECCAC250002E}" type="slidenum">
              <a:rPr lang="en-US" smtClean="0"/>
              <a:t>‹#›</a:t>
            </a:fld>
            <a:endParaRPr lang="en-US"/>
          </a:p>
        </p:txBody>
      </p:sp>
    </p:spTree>
    <p:extLst>
      <p:ext uri="{BB962C8B-B14F-4D97-AF65-F5344CB8AC3E}">
        <p14:creationId xmlns:p14="http://schemas.microsoft.com/office/powerpoint/2010/main" val="23930647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969E0B-0CF0-4749-DA06-728584422DFC}"/>
              </a:ext>
            </a:extLst>
          </p:cNvPr>
          <p:cNvSpPr>
            <a:spLocks noGrp="1"/>
          </p:cNvSpPr>
          <p:nvPr>
            <p:ph type="dt" sz="half" idx="10"/>
          </p:nvPr>
        </p:nvSpPr>
        <p:spPr/>
        <p:txBody>
          <a:bodyPr/>
          <a:lstStyle/>
          <a:p>
            <a:fld id="{EBADDE44-2A96-4951-86B4-5BB434E9B9D5}" type="datetimeFigureOut">
              <a:rPr lang="en-US" smtClean="0"/>
              <a:t>05/18/2026</a:t>
            </a:fld>
            <a:endParaRPr lang="en-US"/>
          </a:p>
        </p:txBody>
      </p:sp>
      <p:sp>
        <p:nvSpPr>
          <p:cNvPr id="3" name="Footer Placeholder 2">
            <a:extLst>
              <a:ext uri="{FF2B5EF4-FFF2-40B4-BE49-F238E27FC236}">
                <a16:creationId xmlns:a16="http://schemas.microsoft.com/office/drawing/2014/main" id="{9468C05F-A07A-5212-F59D-2CBF6302E4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5E9EE09-7EFB-16CF-6A17-709E77E1ACCF}"/>
              </a:ext>
            </a:extLst>
          </p:cNvPr>
          <p:cNvSpPr>
            <a:spLocks noGrp="1"/>
          </p:cNvSpPr>
          <p:nvPr>
            <p:ph type="sldNum" sz="quarter" idx="12"/>
          </p:nvPr>
        </p:nvSpPr>
        <p:spPr/>
        <p:txBody>
          <a:bodyPr/>
          <a:lstStyle/>
          <a:p>
            <a:fld id="{CF68B40D-D125-4F8D-9DC7-ECCAC250002E}" type="slidenum">
              <a:rPr lang="en-US" smtClean="0"/>
              <a:t>‹#›</a:t>
            </a:fld>
            <a:endParaRPr lang="en-US"/>
          </a:p>
        </p:txBody>
      </p:sp>
    </p:spTree>
    <p:extLst>
      <p:ext uri="{BB962C8B-B14F-4D97-AF65-F5344CB8AC3E}">
        <p14:creationId xmlns:p14="http://schemas.microsoft.com/office/powerpoint/2010/main" val="10762287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B2BDF-4192-F788-7013-E1DA3DDAC5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A8BB8C1-530E-F47B-20FC-23A123C380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640B3F7-0EEE-B878-D23A-3CE29FCBB4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6121EF-BAFC-EF47-0C79-C366D024BE94}"/>
              </a:ext>
            </a:extLst>
          </p:cNvPr>
          <p:cNvSpPr>
            <a:spLocks noGrp="1"/>
          </p:cNvSpPr>
          <p:nvPr>
            <p:ph type="dt" sz="half" idx="10"/>
          </p:nvPr>
        </p:nvSpPr>
        <p:spPr/>
        <p:txBody>
          <a:bodyPr/>
          <a:lstStyle/>
          <a:p>
            <a:fld id="{EBADDE44-2A96-4951-86B4-5BB434E9B9D5}" type="datetimeFigureOut">
              <a:rPr lang="en-US" smtClean="0"/>
              <a:t>05/18/2026</a:t>
            </a:fld>
            <a:endParaRPr lang="en-US"/>
          </a:p>
        </p:txBody>
      </p:sp>
      <p:sp>
        <p:nvSpPr>
          <p:cNvPr id="6" name="Footer Placeholder 5">
            <a:extLst>
              <a:ext uri="{FF2B5EF4-FFF2-40B4-BE49-F238E27FC236}">
                <a16:creationId xmlns:a16="http://schemas.microsoft.com/office/drawing/2014/main" id="{BA68E259-78CA-53C5-C476-B58CAF9B82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537F62-197F-7F4C-4109-9844544C4361}"/>
              </a:ext>
            </a:extLst>
          </p:cNvPr>
          <p:cNvSpPr>
            <a:spLocks noGrp="1"/>
          </p:cNvSpPr>
          <p:nvPr>
            <p:ph type="sldNum" sz="quarter" idx="12"/>
          </p:nvPr>
        </p:nvSpPr>
        <p:spPr/>
        <p:txBody>
          <a:bodyPr/>
          <a:lstStyle/>
          <a:p>
            <a:fld id="{CF68B40D-D125-4F8D-9DC7-ECCAC250002E}" type="slidenum">
              <a:rPr lang="en-US" smtClean="0"/>
              <a:t>‹#›</a:t>
            </a:fld>
            <a:endParaRPr lang="en-US"/>
          </a:p>
        </p:txBody>
      </p:sp>
    </p:spTree>
    <p:extLst>
      <p:ext uri="{BB962C8B-B14F-4D97-AF65-F5344CB8AC3E}">
        <p14:creationId xmlns:p14="http://schemas.microsoft.com/office/powerpoint/2010/main" val="42881818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82168-9F33-28A6-A92A-EA1152A289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334587-7E87-5A1D-F752-7B32E824BE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24861CC-F90F-DA56-1AE5-C6703D1D54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16DB2B-75FC-30ED-2A80-73D7503B8C16}"/>
              </a:ext>
            </a:extLst>
          </p:cNvPr>
          <p:cNvSpPr>
            <a:spLocks noGrp="1"/>
          </p:cNvSpPr>
          <p:nvPr>
            <p:ph type="dt" sz="half" idx="10"/>
          </p:nvPr>
        </p:nvSpPr>
        <p:spPr/>
        <p:txBody>
          <a:bodyPr/>
          <a:lstStyle/>
          <a:p>
            <a:fld id="{EBADDE44-2A96-4951-86B4-5BB434E9B9D5}" type="datetimeFigureOut">
              <a:rPr lang="en-US" smtClean="0"/>
              <a:t>05/18/2026</a:t>
            </a:fld>
            <a:endParaRPr lang="en-US"/>
          </a:p>
        </p:txBody>
      </p:sp>
      <p:sp>
        <p:nvSpPr>
          <p:cNvPr id="6" name="Footer Placeholder 5">
            <a:extLst>
              <a:ext uri="{FF2B5EF4-FFF2-40B4-BE49-F238E27FC236}">
                <a16:creationId xmlns:a16="http://schemas.microsoft.com/office/drawing/2014/main" id="{4AB8FFF1-6AEE-BFB1-67E5-A07187F446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6A315B-4B64-1160-D75C-E35BAD8690E1}"/>
              </a:ext>
            </a:extLst>
          </p:cNvPr>
          <p:cNvSpPr>
            <a:spLocks noGrp="1"/>
          </p:cNvSpPr>
          <p:nvPr>
            <p:ph type="sldNum" sz="quarter" idx="12"/>
          </p:nvPr>
        </p:nvSpPr>
        <p:spPr/>
        <p:txBody>
          <a:bodyPr/>
          <a:lstStyle/>
          <a:p>
            <a:fld id="{CF68B40D-D125-4F8D-9DC7-ECCAC250002E}" type="slidenum">
              <a:rPr lang="en-US" smtClean="0"/>
              <a:t>‹#›</a:t>
            </a:fld>
            <a:endParaRPr lang="en-US"/>
          </a:p>
        </p:txBody>
      </p:sp>
    </p:spTree>
    <p:extLst>
      <p:ext uri="{BB962C8B-B14F-4D97-AF65-F5344CB8AC3E}">
        <p14:creationId xmlns:p14="http://schemas.microsoft.com/office/powerpoint/2010/main" val="1365118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AF202-0628-E1C4-4606-D460C3544F0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C159AA2-2BF8-6126-8B39-920E7FBF0D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92DF16-063F-5CE3-A45A-BE2BD7A57CF0}"/>
              </a:ext>
            </a:extLst>
          </p:cNvPr>
          <p:cNvSpPr>
            <a:spLocks noGrp="1"/>
          </p:cNvSpPr>
          <p:nvPr>
            <p:ph type="dt" sz="half" idx="10"/>
          </p:nvPr>
        </p:nvSpPr>
        <p:spPr/>
        <p:txBody>
          <a:bodyPr/>
          <a:lstStyle/>
          <a:p>
            <a:fld id="{EBADDE44-2A96-4951-86B4-5BB434E9B9D5}" type="datetimeFigureOut">
              <a:rPr lang="en-US" smtClean="0"/>
              <a:t>05/18/2026</a:t>
            </a:fld>
            <a:endParaRPr lang="en-US"/>
          </a:p>
        </p:txBody>
      </p:sp>
      <p:sp>
        <p:nvSpPr>
          <p:cNvPr id="5" name="Footer Placeholder 4">
            <a:extLst>
              <a:ext uri="{FF2B5EF4-FFF2-40B4-BE49-F238E27FC236}">
                <a16:creationId xmlns:a16="http://schemas.microsoft.com/office/drawing/2014/main" id="{AEF003BA-8AA7-9D5C-9310-8EBC2A14DA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7B517F-7E9A-BA63-BE32-FB06FFCA4079}"/>
              </a:ext>
            </a:extLst>
          </p:cNvPr>
          <p:cNvSpPr>
            <a:spLocks noGrp="1"/>
          </p:cNvSpPr>
          <p:nvPr>
            <p:ph type="sldNum" sz="quarter" idx="12"/>
          </p:nvPr>
        </p:nvSpPr>
        <p:spPr/>
        <p:txBody>
          <a:bodyPr/>
          <a:lstStyle/>
          <a:p>
            <a:fld id="{CF68B40D-D125-4F8D-9DC7-ECCAC250002E}" type="slidenum">
              <a:rPr lang="en-US" smtClean="0"/>
              <a:t>‹#›</a:t>
            </a:fld>
            <a:endParaRPr lang="en-US"/>
          </a:p>
        </p:txBody>
      </p:sp>
    </p:spTree>
    <p:extLst>
      <p:ext uri="{BB962C8B-B14F-4D97-AF65-F5344CB8AC3E}">
        <p14:creationId xmlns:p14="http://schemas.microsoft.com/office/powerpoint/2010/main" val="1664876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238301-3667-45FE-054D-3EA3C40E77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8A45AD9-F067-AFB6-7121-9D06BB24B5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056632-9D74-16DD-338C-2F727C95A9A6}"/>
              </a:ext>
            </a:extLst>
          </p:cNvPr>
          <p:cNvSpPr>
            <a:spLocks noGrp="1"/>
          </p:cNvSpPr>
          <p:nvPr>
            <p:ph type="dt" sz="half" idx="10"/>
          </p:nvPr>
        </p:nvSpPr>
        <p:spPr/>
        <p:txBody>
          <a:bodyPr/>
          <a:lstStyle/>
          <a:p>
            <a:fld id="{EBADDE44-2A96-4951-86B4-5BB434E9B9D5}" type="datetimeFigureOut">
              <a:rPr lang="en-US" smtClean="0"/>
              <a:t>05/18/2026</a:t>
            </a:fld>
            <a:endParaRPr lang="en-US"/>
          </a:p>
        </p:txBody>
      </p:sp>
      <p:sp>
        <p:nvSpPr>
          <p:cNvPr id="5" name="Footer Placeholder 4">
            <a:extLst>
              <a:ext uri="{FF2B5EF4-FFF2-40B4-BE49-F238E27FC236}">
                <a16:creationId xmlns:a16="http://schemas.microsoft.com/office/drawing/2014/main" id="{14508829-F61F-6B05-6273-EFFBEB5F71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0743D8-CAEE-93F8-D733-6033FBC00D92}"/>
              </a:ext>
            </a:extLst>
          </p:cNvPr>
          <p:cNvSpPr>
            <a:spLocks noGrp="1"/>
          </p:cNvSpPr>
          <p:nvPr>
            <p:ph type="sldNum" sz="quarter" idx="12"/>
          </p:nvPr>
        </p:nvSpPr>
        <p:spPr/>
        <p:txBody>
          <a:bodyPr/>
          <a:lstStyle/>
          <a:p>
            <a:fld id="{CF68B40D-D125-4F8D-9DC7-ECCAC250002E}" type="slidenum">
              <a:rPr lang="en-US" smtClean="0"/>
              <a:t>‹#›</a:t>
            </a:fld>
            <a:endParaRPr lang="en-US"/>
          </a:p>
        </p:txBody>
      </p:sp>
    </p:spTree>
    <p:extLst>
      <p:ext uri="{BB962C8B-B14F-4D97-AF65-F5344CB8AC3E}">
        <p14:creationId xmlns:p14="http://schemas.microsoft.com/office/powerpoint/2010/main" val="1093089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6510881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AAAA72-2AE8-FC4B-734D-EEF28AE0F7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193FF32-6615-1515-F397-5E2B388963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3AB4C0-2D01-A1A1-008B-0F9C45D51A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BADDE44-2A96-4951-86B4-5BB434E9B9D5}" type="datetimeFigureOut">
              <a:rPr lang="en-US" smtClean="0"/>
              <a:t>05/18/2026</a:t>
            </a:fld>
            <a:endParaRPr lang="en-US"/>
          </a:p>
        </p:txBody>
      </p:sp>
      <p:sp>
        <p:nvSpPr>
          <p:cNvPr id="5" name="Footer Placeholder 4">
            <a:extLst>
              <a:ext uri="{FF2B5EF4-FFF2-40B4-BE49-F238E27FC236}">
                <a16:creationId xmlns:a16="http://schemas.microsoft.com/office/drawing/2014/main" id="{4BAD4F95-77B5-3EF5-9452-428E2EB202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56E7131-E6FA-01DD-D240-2EE6AAFFC7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F68B40D-D125-4F8D-9DC7-ECCAC250002E}" type="slidenum">
              <a:rPr lang="en-US" smtClean="0"/>
              <a:t>‹#›</a:t>
            </a:fld>
            <a:endParaRPr lang="en-US"/>
          </a:p>
        </p:txBody>
      </p:sp>
    </p:spTree>
    <p:extLst>
      <p:ext uri="{BB962C8B-B14F-4D97-AF65-F5344CB8AC3E}">
        <p14:creationId xmlns:p14="http://schemas.microsoft.com/office/powerpoint/2010/main" val="3677062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arxiv.org/html/2510.25761v1#:~:text=By%20considering%20both%20research%20paper,generation%20quality%20of%20paper%20diagrams."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2366D-7DDB-C44C-693E-2D6C10794D41}"/>
              </a:ext>
            </a:extLst>
          </p:cNvPr>
          <p:cNvSpPr>
            <a:spLocks noGrp="1"/>
          </p:cNvSpPr>
          <p:nvPr>
            <p:ph type="ctrTitle"/>
          </p:nvPr>
        </p:nvSpPr>
        <p:spPr>
          <a:xfrm>
            <a:off x="142875" y="811212"/>
            <a:ext cx="11906250" cy="2387600"/>
          </a:xfrm>
        </p:spPr>
        <p:txBody>
          <a:bodyPr>
            <a:normAutofit/>
          </a:bodyPr>
          <a:lstStyle/>
          <a:p>
            <a:r>
              <a:rPr lang="en-US" b="1" dirty="0" err="1">
                <a:solidFill>
                  <a:srgbClr val="A02B93"/>
                </a:solidFill>
              </a:rPr>
              <a:t>PAnDA</a:t>
            </a:r>
            <a:r>
              <a:rPr lang="en-US" b="1" dirty="0">
                <a:solidFill>
                  <a:srgbClr val="A02B93"/>
                </a:solidFill>
              </a:rPr>
              <a:t>/ </a:t>
            </a:r>
            <a:r>
              <a:rPr lang="en-US" b="1" dirty="0" err="1">
                <a:solidFill>
                  <a:srgbClr val="A02B93"/>
                </a:solidFill>
              </a:rPr>
              <a:t>PcaPlot</a:t>
            </a:r>
            <a:r>
              <a:rPr lang="en-US" b="1" dirty="0">
                <a:solidFill>
                  <a:srgbClr val="A02B93"/>
                </a:solidFill>
              </a:rPr>
              <a:t> </a:t>
            </a:r>
          </a:p>
        </p:txBody>
      </p:sp>
      <p:sp>
        <p:nvSpPr>
          <p:cNvPr id="5" name="Subtitle 4">
            <a:extLst>
              <a:ext uri="{FF2B5EF4-FFF2-40B4-BE49-F238E27FC236}">
                <a16:creationId xmlns:a16="http://schemas.microsoft.com/office/drawing/2014/main" id="{6E5D7C37-B2FA-6789-B862-C24E46B7565D}"/>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4265948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6B481-CF82-8074-D3BC-87820EE993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F29BDB-2DD3-DF78-8F33-301358A6F20F}"/>
              </a:ext>
            </a:extLst>
          </p:cNvPr>
          <p:cNvSpPr>
            <a:spLocks noGrp="1"/>
          </p:cNvSpPr>
          <p:nvPr>
            <p:ph type="title"/>
          </p:nvPr>
        </p:nvSpPr>
        <p:spPr>
          <a:xfrm>
            <a:off x="415600" y="593367"/>
            <a:ext cx="13369022" cy="860922"/>
          </a:xfrm>
        </p:spPr>
        <p:txBody>
          <a:bodyPr>
            <a:normAutofit/>
          </a:bodyPr>
          <a:lstStyle/>
          <a:p>
            <a:r>
              <a:rPr lang="en-US" b="1" dirty="0">
                <a:solidFill>
                  <a:srgbClr val="A02B93"/>
                </a:solidFill>
              </a:rPr>
              <a:t>The Necessity</a:t>
            </a:r>
          </a:p>
        </p:txBody>
      </p:sp>
      <p:grpSp>
        <p:nvGrpSpPr>
          <p:cNvPr id="12" name="Group 11">
            <a:extLst>
              <a:ext uri="{FF2B5EF4-FFF2-40B4-BE49-F238E27FC236}">
                <a16:creationId xmlns:a16="http://schemas.microsoft.com/office/drawing/2014/main" id="{1990AAA5-D140-1710-E384-9456D6597526}"/>
              </a:ext>
            </a:extLst>
          </p:cNvPr>
          <p:cNvGrpSpPr/>
          <p:nvPr/>
        </p:nvGrpSpPr>
        <p:grpSpPr>
          <a:xfrm>
            <a:off x="415598" y="1981281"/>
            <a:ext cx="3542038" cy="3684428"/>
            <a:chOff x="385716" y="2169273"/>
            <a:chExt cx="3542038" cy="3684428"/>
          </a:xfrm>
        </p:grpSpPr>
        <p:pic>
          <p:nvPicPr>
            <p:cNvPr id="4" name="Picture 3">
              <a:extLst>
                <a:ext uri="{FF2B5EF4-FFF2-40B4-BE49-F238E27FC236}">
                  <a16:creationId xmlns:a16="http://schemas.microsoft.com/office/drawing/2014/main" id="{F6033513-9991-732C-D02A-B08E3FF59990}"/>
                </a:ext>
              </a:extLst>
            </p:cNvPr>
            <p:cNvPicPr>
              <a:picLocks noChangeAspect="1"/>
            </p:cNvPicPr>
            <p:nvPr/>
          </p:nvPicPr>
          <p:blipFill>
            <a:blip r:embed="rId3">
              <a:duotone>
                <a:schemeClr val="accent5">
                  <a:shade val="45000"/>
                  <a:satMod val="135000"/>
                </a:schemeClr>
                <a:prstClr val="white"/>
              </a:duotone>
            </a:blip>
            <a:stretch>
              <a:fillRect/>
            </a:stretch>
          </p:blipFill>
          <p:spPr>
            <a:xfrm>
              <a:off x="1284280" y="2169273"/>
              <a:ext cx="1797368" cy="1797368"/>
            </a:xfrm>
            <a:prstGeom prst="rect">
              <a:avLst/>
            </a:prstGeom>
          </p:spPr>
        </p:pic>
        <p:sp>
          <p:nvSpPr>
            <p:cNvPr id="6" name="TextBox 5">
              <a:extLst>
                <a:ext uri="{FF2B5EF4-FFF2-40B4-BE49-F238E27FC236}">
                  <a16:creationId xmlns:a16="http://schemas.microsoft.com/office/drawing/2014/main" id="{EA58E90C-92F2-E1A6-FE68-9C64F012A915}"/>
                </a:ext>
              </a:extLst>
            </p:cNvPr>
            <p:cNvSpPr txBox="1"/>
            <p:nvPr/>
          </p:nvSpPr>
          <p:spPr>
            <a:xfrm>
              <a:off x="385716" y="4191708"/>
              <a:ext cx="3542038" cy="1661993"/>
            </a:xfrm>
            <a:prstGeom prst="rect">
              <a:avLst/>
            </a:prstGeom>
            <a:noFill/>
          </p:spPr>
          <p:txBody>
            <a:bodyPr wrap="square">
              <a:spAutoFit/>
            </a:bodyPr>
            <a:lstStyle/>
            <a:p>
              <a:pPr algn="ctr"/>
              <a:r>
                <a:rPr lang="en-US" sz="2400" b="1" dirty="0">
                  <a:solidFill>
                    <a:schemeClr val="accent5">
                      <a:lumMod val="50000"/>
                    </a:schemeClr>
                  </a:solidFill>
                </a:rPr>
                <a:t>Visualization is Powerful</a:t>
              </a:r>
            </a:p>
            <a:p>
              <a:pPr algn="ctr"/>
              <a:r>
                <a:rPr lang="en-US" b="1" dirty="0">
                  <a:solidFill>
                    <a:schemeClr val="accent5">
                      <a:lumMod val="60000"/>
                      <a:lumOff val="40000"/>
                    </a:schemeClr>
                  </a:solidFill>
                </a:rPr>
                <a:t>Visuals increase recall from 10% to 65% (Jasina et al., 2025)</a:t>
              </a:r>
            </a:p>
            <a:p>
              <a:pPr algn="ctr"/>
              <a:endParaRPr lang="en-US" b="1" dirty="0">
                <a:solidFill>
                  <a:schemeClr val="accent5">
                    <a:lumMod val="40000"/>
                    <a:lumOff val="60000"/>
                  </a:schemeClr>
                </a:solidFill>
              </a:endParaRPr>
            </a:p>
          </p:txBody>
        </p:sp>
      </p:grpSp>
      <p:grpSp>
        <p:nvGrpSpPr>
          <p:cNvPr id="17" name="Group 16">
            <a:extLst>
              <a:ext uri="{FF2B5EF4-FFF2-40B4-BE49-F238E27FC236}">
                <a16:creationId xmlns:a16="http://schemas.microsoft.com/office/drawing/2014/main" id="{EABE60A7-6948-3665-1D23-769F731DD71C}"/>
              </a:ext>
            </a:extLst>
          </p:cNvPr>
          <p:cNvGrpSpPr/>
          <p:nvPr/>
        </p:nvGrpSpPr>
        <p:grpSpPr>
          <a:xfrm>
            <a:off x="4366368" y="1454289"/>
            <a:ext cx="3346354" cy="4504301"/>
            <a:chOff x="4102660" y="2102150"/>
            <a:chExt cx="3542038" cy="4504301"/>
          </a:xfrm>
        </p:grpSpPr>
        <p:sp>
          <p:nvSpPr>
            <p:cNvPr id="19" name="TextBox 18">
              <a:extLst>
                <a:ext uri="{FF2B5EF4-FFF2-40B4-BE49-F238E27FC236}">
                  <a16:creationId xmlns:a16="http://schemas.microsoft.com/office/drawing/2014/main" id="{132D5680-C416-8E2E-E216-DFD9EEAE0B93}"/>
                </a:ext>
              </a:extLst>
            </p:cNvPr>
            <p:cNvSpPr txBox="1"/>
            <p:nvPr/>
          </p:nvSpPr>
          <p:spPr>
            <a:xfrm>
              <a:off x="4102660" y="4390460"/>
              <a:ext cx="3542038" cy="2215991"/>
            </a:xfrm>
            <a:prstGeom prst="rect">
              <a:avLst/>
            </a:prstGeom>
            <a:noFill/>
          </p:spPr>
          <p:txBody>
            <a:bodyPr wrap="square">
              <a:spAutoFit/>
            </a:bodyPr>
            <a:lstStyle/>
            <a:p>
              <a:pPr algn="ctr"/>
              <a:r>
                <a:rPr lang="en-US" sz="2400" b="1" dirty="0">
                  <a:solidFill>
                    <a:schemeClr val="accent5">
                      <a:lumMod val="50000"/>
                    </a:schemeClr>
                  </a:solidFill>
                </a:rPr>
                <a:t>Verification</a:t>
              </a:r>
            </a:p>
            <a:p>
              <a:pPr algn="ctr"/>
              <a:r>
                <a:rPr lang="en-US" sz="2400" b="1" dirty="0">
                  <a:solidFill>
                    <a:schemeClr val="accent5">
                      <a:lumMod val="50000"/>
                    </a:schemeClr>
                  </a:solidFill>
                </a:rPr>
                <a:t>&amp; Reproducibility </a:t>
              </a:r>
            </a:p>
            <a:p>
              <a:pPr algn="ctr"/>
              <a:r>
                <a:rPr lang="en-US" b="1" dirty="0">
                  <a:solidFill>
                    <a:schemeClr val="accent5">
                      <a:lumMod val="60000"/>
                      <a:lumOff val="40000"/>
                    </a:schemeClr>
                  </a:solidFill>
                </a:rPr>
                <a:t>Reviewers need to verify thousands of raw packets against data in papers. An automated pipeline makes reproducibility easier.</a:t>
              </a:r>
            </a:p>
          </p:txBody>
        </p:sp>
        <p:pic>
          <p:nvPicPr>
            <p:cNvPr id="20" name="Picture 19">
              <a:extLst>
                <a:ext uri="{FF2B5EF4-FFF2-40B4-BE49-F238E27FC236}">
                  <a16:creationId xmlns:a16="http://schemas.microsoft.com/office/drawing/2014/main" id="{665B5A40-58B0-6DA7-93D9-555693EC70B3}"/>
                </a:ext>
              </a:extLst>
            </p:cNvPr>
            <p:cNvPicPr>
              <a:picLocks noChangeAspect="1"/>
            </p:cNvPicPr>
            <p:nvPr/>
          </p:nvPicPr>
          <p:blipFill>
            <a:blip r:embed="rId4">
              <a:duotone>
                <a:schemeClr val="accent5">
                  <a:shade val="45000"/>
                  <a:satMod val="135000"/>
                </a:schemeClr>
                <a:prstClr val="white"/>
              </a:duotone>
            </a:blip>
            <a:stretch>
              <a:fillRect/>
            </a:stretch>
          </p:blipFill>
          <p:spPr>
            <a:xfrm>
              <a:off x="4788974" y="2102150"/>
              <a:ext cx="2169409" cy="2169409"/>
            </a:xfrm>
            <a:prstGeom prst="rect">
              <a:avLst/>
            </a:prstGeom>
          </p:spPr>
        </p:pic>
      </p:grpSp>
      <p:grpSp>
        <p:nvGrpSpPr>
          <p:cNvPr id="28" name="Group 27">
            <a:extLst>
              <a:ext uri="{FF2B5EF4-FFF2-40B4-BE49-F238E27FC236}">
                <a16:creationId xmlns:a16="http://schemas.microsoft.com/office/drawing/2014/main" id="{BB156FF7-18FE-A64F-EE60-2FFB56508DEE}"/>
              </a:ext>
            </a:extLst>
          </p:cNvPr>
          <p:cNvGrpSpPr/>
          <p:nvPr/>
        </p:nvGrpSpPr>
        <p:grpSpPr>
          <a:xfrm>
            <a:off x="8234364" y="1756010"/>
            <a:ext cx="3542038" cy="4108175"/>
            <a:chOff x="4023039" y="1737363"/>
            <a:chExt cx="3542038" cy="4108175"/>
          </a:xfrm>
        </p:grpSpPr>
        <p:sp>
          <p:nvSpPr>
            <p:cNvPr id="13" name="TextBox 12">
              <a:extLst>
                <a:ext uri="{FF2B5EF4-FFF2-40B4-BE49-F238E27FC236}">
                  <a16:creationId xmlns:a16="http://schemas.microsoft.com/office/drawing/2014/main" id="{A1C37982-A4F9-866D-3400-249A06F89B68}"/>
                </a:ext>
              </a:extLst>
            </p:cNvPr>
            <p:cNvSpPr txBox="1"/>
            <p:nvPr/>
          </p:nvSpPr>
          <p:spPr>
            <a:xfrm>
              <a:off x="4023039" y="3998879"/>
              <a:ext cx="3542038" cy="1846659"/>
            </a:xfrm>
            <a:prstGeom prst="rect">
              <a:avLst/>
            </a:prstGeom>
            <a:noFill/>
          </p:spPr>
          <p:txBody>
            <a:bodyPr wrap="square">
              <a:spAutoFit/>
            </a:bodyPr>
            <a:lstStyle/>
            <a:p>
              <a:pPr algn="ctr"/>
              <a:r>
                <a:rPr lang="en-US" sz="2400" b="1" dirty="0">
                  <a:solidFill>
                    <a:schemeClr val="accent5">
                      <a:lumMod val="50000"/>
                    </a:schemeClr>
                  </a:solidFill>
                </a:rPr>
                <a:t>Documentation Tax</a:t>
              </a:r>
            </a:p>
            <a:p>
              <a:pPr algn="ctr"/>
              <a:r>
                <a:rPr lang="en-US" b="1" dirty="0">
                  <a:solidFill>
                    <a:schemeClr val="accent5">
                      <a:lumMod val="60000"/>
                      <a:lumOff val="40000"/>
                    </a:schemeClr>
                  </a:solidFill>
                </a:rPr>
                <a:t>As data grows in complexity, the diagrams required to explain them become exponentially harder to produce.</a:t>
              </a:r>
            </a:p>
            <a:p>
              <a:pPr algn="ctr"/>
              <a:endParaRPr lang="en-US" b="1" dirty="0">
                <a:solidFill>
                  <a:schemeClr val="accent5">
                    <a:lumMod val="40000"/>
                    <a:lumOff val="60000"/>
                  </a:schemeClr>
                </a:solidFill>
              </a:endParaRPr>
            </a:p>
          </p:txBody>
        </p:sp>
        <p:pic>
          <p:nvPicPr>
            <p:cNvPr id="27" name="Picture 26">
              <a:extLst>
                <a:ext uri="{FF2B5EF4-FFF2-40B4-BE49-F238E27FC236}">
                  <a16:creationId xmlns:a16="http://schemas.microsoft.com/office/drawing/2014/main" id="{B7A53FEC-2E41-34ED-C87A-2C4B559C842C}"/>
                </a:ext>
              </a:extLst>
            </p:cNvPr>
            <p:cNvPicPr>
              <a:picLocks noChangeAspect="1"/>
            </p:cNvPicPr>
            <p:nvPr/>
          </p:nvPicPr>
          <p:blipFill>
            <a:blip r:embed="rId5">
              <a:duotone>
                <a:schemeClr val="accent5">
                  <a:shade val="45000"/>
                  <a:satMod val="135000"/>
                </a:schemeClr>
                <a:prstClr val="white"/>
              </a:duotone>
            </a:blip>
            <a:stretch>
              <a:fillRect/>
            </a:stretch>
          </p:blipFill>
          <p:spPr>
            <a:xfrm>
              <a:off x="4756236" y="1737363"/>
              <a:ext cx="2023128" cy="2027080"/>
            </a:xfrm>
            <a:prstGeom prst="rect">
              <a:avLst/>
            </a:prstGeom>
          </p:spPr>
        </p:pic>
      </p:grpSp>
    </p:spTree>
    <p:extLst>
      <p:ext uri="{BB962C8B-B14F-4D97-AF65-F5344CB8AC3E}">
        <p14:creationId xmlns:p14="http://schemas.microsoft.com/office/powerpoint/2010/main" val="3700490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A91FFF2-E37C-1E38-9B7C-2FDAAECE5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52F383-28DA-44D4-D0D8-9588C331ED31}"/>
              </a:ext>
            </a:extLst>
          </p:cNvPr>
          <p:cNvSpPr>
            <a:spLocks noGrp="1"/>
          </p:cNvSpPr>
          <p:nvPr>
            <p:ph type="title"/>
          </p:nvPr>
        </p:nvSpPr>
        <p:spPr>
          <a:xfrm>
            <a:off x="415600" y="593367"/>
            <a:ext cx="13369022" cy="860922"/>
          </a:xfrm>
        </p:spPr>
        <p:txBody>
          <a:bodyPr>
            <a:normAutofit/>
          </a:bodyPr>
          <a:lstStyle/>
          <a:p>
            <a:r>
              <a:rPr lang="en-US" b="1" dirty="0">
                <a:solidFill>
                  <a:srgbClr val="A02B93"/>
                </a:solidFill>
              </a:rPr>
              <a:t>Manual Effort has a Cost</a:t>
            </a:r>
          </a:p>
        </p:txBody>
      </p:sp>
      <p:sp>
        <p:nvSpPr>
          <p:cNvPr id="6" name="TextBox 5">
            <a:extLst>
              <a:ext uri="{FF2B5EF4-FFF2-40B4-BE49-F238E27FC236}">
                <a16:creationId xmlns:a16="http://schemas.microsoft.com/office/drawing/2014/main" id="{C6E72610-B977-8306-5D17-F0509A2B42E2}"/>
              </a:ext>
            </a:extLst>
          </p:cNvPr>
          <p:cNvSpPr txBox="1"/>
          <p:nvPr/>
        </p:nvSpPr>
        <p:spPr>
          <a:xfrm>
            <a:off x="415600" y="1797784"/>
            <a:ext cx="3542038" cy="1631216"/>
          </a:xfrm>
          <a:prstGeom prst="rect">
            <a:avLst/>
          </a:prstGeom>
          <a:noFill/>
        </p:spPr>
        <p:txBody>
          <a:bodyPr wrap="square">
            <a:spAutoFit/>
          </a:bodyPr>
          <a:lstStyle/>
          <a:p>
            <a:pPr algn="ctr"/>
            <a:r>
              <a:rPr lang="en-US" sz="2800" b="1" dirty="0">
                <a:solidFill>
                  <a:schemeClr val="accent5">
                    <a:lumMod val="50000"/>
                  </a:schemeClr>
                </a:solidFill>
              </a:rPr>
              <a:t>Lacking Visuals</a:t>
            </a:r>
            <a:endParaRPr lang="en-US" sz="2400" b="1" dirty="0">
              <a:solidFill>
                <a:schemeClr val="accent5">
                  <a:lumMod val="50000"/>
                </a:schemeClr>
              </a:solidFill>
            </a:endParaRPr>
          </a:p>
          <a:p>
            <a:pPr algn="ctr"/>
            <a:r>
              <a:rPr lang="en-US" b="1" dirty="0">
                <a:solidFill>
                  <a:schemeClr val="accent5">
                    <a:lumMod val="60000"/>
                    <a:lumOff val="40000"/>
                  </a:schemeClr>
                </a:solidFill>
              </a:rPr>
              <a:t>High quality research often ships without visuals or with complex  diagrams </a:t>
            </a:r>
          </a:p>
          <a:p>
            <a:pPr algn="ctr"/>
            <a:endParaRPr lang="en-US" b="1" dirty="0">
              <a:solidFill>
                <a:schemeClr val="accent5">
                  <a:lumMod val="40000"/>
                  <a:lumOff val="60000"/>
                </a:schemeClr>
              </a:solidFill>
            </a:endParaRPr>
          </a:p>
        </p:txBody>
      </p:sp>
      <p:sp>
        <p:nvSpPr>
          <p:cNvPr id="19" name="TextBox 18">
            <a:extLst>
              <a:ext uri="{FF2B5EF4-FFF2-40B4-BE49-F238E27FC236}">
                <a16:creationId xmlns:a16="http://schemas.microsoft.com/office/drawing/2014/main" id="{D97CA21F-18D5-EB66-60AE-56D60A08BD3E}"/>
              </a:ext>
            </a:extLst>
          </p:cNvPr>
          <p:cNvSpPr txBox="1"/>
          <p:nvPr/>
        </p:nvSpPr>
        <p:spPr>
          <a:xfrm>
            <a:off x="7801018" y="4541084"/>
            <a:ext cx="3542038" cy="1723549"/>
          </a:xfrm>
          <a:prstGeom prst="rect">
            <a:avLst/>
          </a:prstGeom>
          <a:noFill/>
        </p:spPr>
        <p:txBody>
          <a:bodyPr wrap="square">
            <a:spAutoFit/>
          </a:bodyPr>
          <a:lstStyle/>
          <a:p>
            <a:pPr algn="ctr"/>
            <a:r>
              <a:rPr lang="en-US" sz="2800" b="1" dirty="0">
                <a:solidFill>
                  <a:schemeClr val="accent5">
                    <a:lumMod val="50000"/>
                  </a:schemeClr>
                </a:solidFill>
              </a:rPr>
              <a:t>Losing the story</a:t>
            </a:r>
          </a:p>
          <a:p>
            <a:pPr algn="ctr"/>
            <a:r>
              <a:rPr lang="en-US" sz="2400" b="1" dirty="0">
                <a:solidFill>
                  <a:schemeClr val="accent5">
                    <a:lumMod val="50000"/>
                  </a:schemeClr>
                </a:solidFill>
              </a:rPr>
              <a:t>Within </a:t>
            </a:r>
            <a:r>
              <a:rPr lang="en-US" sz="2400" b="1" dirty="0" err="1">
                <a:solidFill>
                  <a:schemeClr val="accent5">
                    <a:lumMod val="50000"/>
                  </a:schemeClr>
                </a:solidFill>
              </a:rPr>
              <a:t>Pcaps</a:t>
            </a:r>
            <a:endParaRPr lang="en-US" sz="2400" b="1" dirty="0">
              <a:solidFill>
                <a:schemeClr val="accent5">
                  <a:lumMod val="50000"/>
                </a:schemeClr>
              </a:solidFill>
            </a:endParaRPr>
          </a:p>
          <a:p>
            <a:pPr algn="ctr"/>
            <a:r>
              <a:rPr lang="en-US" b="1" dirty="0">
                <a:solidFill>
                  <a:schemeClr val="accent5">
                    <a:lumMod val="60000"/>
                    <a:lumOff val="40000"/>
                  </a:schemeClr>
                </a:solidFill>
              </a:rPr>
              <a:t>Scanning thousands of hex packets often leads to “drowning in packets”</a:t>
            </a:r>
          </a:p>
        </p:txBody>
      </p:sp>
      <p:sp>
        <p:nvSpPr>
          <p:cNvPr id="13" name="TextBox 12">
            <a:extLst>
              <a:ext uri="{FF2B5EF4-FFF2-40B4-BE49-F238E27FC236}">
                <a16:creationId xmlns:a16="http://schemas.microsoft.com/office/drawing/2014/main" id="{1062145E-7220-B88D-A882-C562397307D2}"/>
              </a:ext>
            </a:extLst>
          </p:cNvPr>
          <p:cNvSpPr txBox="1"/>
          <p:nvPr/>
        </p:nvSpPr>
        <p:spPr>
          <a:xfrm>
            <a:off x="4047349" y="2996486"/>
            <a:ext cx="3542038" cy="1631216"/>
          </a:xfrm>
          <a:prstGeom prst="rect">
            <a:avLst/>
          </a:prstGeom>
          <a:noFill/>
        </p:spPr>
        <p:txBody>
          <a:bodyPr wrap="square">
            <a:spAutoFit/>
          </a:bodyPr>
          <a:lstStyle/>
          <a:p>
            <a:pPr algn="ctr"/>
            <a:r>
              <a:rPr lang="en-US" sz="2800" b="1" dirty="0">
                <a:solidFill>
                  <a:schemeClr val="accent5">
                    <a:lumMod val="50000"/>
                  </a:schemeClr>
                </a:solidFill>
              </a:rPr>
              <a:t>Partial Evidencing</a:t>
            </a:r>
            <a:endParaRPr lang="en-US" sz="2400" b="1" dirty="0">
              <a:solidFill>
                <a:schemeClr val="accent5">
                  <a:lumMod val="50000"/>
                </a:schemeClr>
              </a:solidFill>
            </a:endParaRPr>
          </a:p>
          <a:p>
            <a:pPr algn="ctr"/>
            <a:r>
              <a:rPr lang="en-US" b="1" dirty="0">
                <a:solidFill>
                  <a:schemeClr val="accent5">
                    <a:lumMod val="60000"/>
                    <a:lumOff val="40000"/>
                  </a:schemeClr>
                </a:solidFill>
              </a:rPr>
              <a:t>Complex attacks are oversimplified or "cherry-picked" because mapping the full chain is too cumbersome.</a:t>
            </a:r>
          </a:p>
        </p:txBody>
      </p:sp>
      <p:pic>
        <p:nvPicPr>
          <p:cNvPr id="7" name="Picture 6">
            <a:extLst>
              <a:ext uri="{FF2B5EF4-FFF2-40B4-BE49-F238E27FC236}">
                <a16:creationId xmlns:a16="http://schemas.microsoft.com/office/drawing/2014/main" id="{FE3B5B84-DA27-63DF-F771-F4CA17E9DC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04744" y="0"/>
            <a:ext cx="4687256" cy="2613373"/>
          </a:xfrm>
          <a:prstGeom prst="rect">
            <a:avLst/>
          </a:prstGeom>
        </p:spPr>
      </p:pic>
      <p:pic>
        <p:nvPicPr>
          <p:cNvPr id="2050" name="Picture 2" descr="10 Golden Rules for Every Boss: How to Delegate Work and Save Money and  Time with a Project Management Tool - Business Wiki">
            <a:extLst>
              <a:ext uri="{FF2B5EF4-FFF2-40B4-BE49-F238E27FC236}">
                <a16:creationId xmlns:a16="http://schemas.microsoft.com/office/drawing/2014/main" id="{9665BA6A-87D5-20E6-7640-BC4A92D566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3609" y="1454289"/>
            <a:ext cx="4277025" cy="51324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3507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050"/>
                                        </p:tgtEl>
                                        <p:attrNameLst>
                                          <p:attrName>style.visibility</p:attrName>
                                        </p:attrNameLst>
                                      </p:cBhvr>
                                      <p:to>
                                        <p:strVal val="visible"/>
                                      </p:to>
                                    </p:set>
                                    <p:anim calcmode="lin" valueType="num">
                                      <p:cBhvr additive="base">
                                        <p:cTn id="22" dur="500" fill="hold"/>
                                        <p:tgtEl>
                                          <p:spTgt spid="2050"/>
                                        </p:tgtEl>
                                        <p:attrNameLst>
                                          <p:attrName>ppt_x</p:attrName>
                                        </p:attrNameLst>
                                      </p:cBhvr>
                                      <p:tavLst>
                                        <p:tav tm="0">
                                          <p:val>
                                            <p:strVal val="#ppt_x"/>
                                          </p:val>
                                        </p:tav>
                                        <p:tav tm="100000">
                                          <p:val>
                                            <p:strVal val="#ppt_x"/>
                                          </p:val>
                                        </p:tav>
                                      </p:tavLst>
                                    </p:anim>
                                    <p:anim calcmode="lin" valueType="num">
                                      <p:cBhvr additive="base">
                                        <p:cTn id="23"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9" grpId="0"/>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6635F-C002-A809-BB7E-455B7BC3C8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C3C289-9478-9B15-4CE2-1369D9B0BA02}"/>
              </a:ext>
            </a:extLst>
          </p:cNvPr>
          <p:cNvSpPr>
            <a:spLocks noGrp="1"/>
          </p:cNvSpPr>
          <p:nvPr>
            <p:ph type="title"/>
          </p:nvPr>
        </p:nvSpPr>
        <p:spPr>
          <a:xfrm>
            <a:off x="415600" y="593366"/>
            <a:ext cx="11913560" cy="1052553"/>
          </a:xfrm>
        </p:spPr>
        <p:txBody>
          <a:bodyPr>
            <a:normAutofit/>
          </a:bodyPr>
          <a:lstStyle/>
          <a:p>
            <a:r>
              <a:rPr lang="en-US" b="1" dirty="0">
                <a:solidFill>
                  <a:srgbClr val="A02B93"/>
                </a:solidFill>
              </a:rPr>
              <a:t>The Goals</a:t>
            </a:r>
          </a:p>
        </p:txBody>
      </p:sp>
      <p:pic>
        <p:nvPicPr>
          <p:cNvPr id="1026" name="Picture 2" descr="Reformatting flow diagrams for explaining complex processes">
            <a:extLst>
              <a:ext uri="{FF2B5EF4-FFF2-40B4-BE49-F238E27FC236}">
                <a16:creationId xmlns:a16="http://schemas.microsoft.com/office/drawing/2014/main" id="{DADC407B-0C96-B343-E0B5-97DF598249CB}"/>
              </a:ext>
            </a:extLst>
          </p:cNvPr>
          <p:cNvPicPr>
            <a:picLocks noChangeAspect="1" noChangeArrowheads="1"/>
          </p:cNvPicPr>
          <p:nvPr/>
        </p:nvPicPr>
        <p:blipFill>
          <a:blip r:embed="rId3">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44160" y="289646"/>
            <a:ext cx="4062694" cy="313935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4F36C61-8A86-4014-3A41-F6B24A31FFAC}"/>
              </a:ext>
            </a:extLst>
          </p:cNvPr>
          <p:cNvSpPr txBox="1"/>
          <p:nvPr/>
        </p:nvSpPr>
        <p:spPr>
          <a:xfrm>
            <a:off x="415600" y="1383298"/>
            <a:ext cx="6096000" cy="2308324"/>
          </a:xfrm>
          <a:prstGeom prst="rect">
            <a:avLst/>
          </a:prstGeom>
          <a:noFill/>
        </p:spPr>
        <p:txBody>
          <a:bodyPr wrap="square">
            <a:spAutoFit/>
          </a:bodyPr>
          <a:lstStyle/>
          <a:p>
            <a:r>
              <a:rPr lang="en-US" sz="3600" b="1" dirty="0">
                <a:solidFill>
                  <a:schemeClr val="accent5">
                    <a:lumMod val="75000"/>
                  </a:schemeClr>
                </a:solidFill>
              </a:rPr>
              <a:t>Transform raw data that includes </a:t>
            </a:r>
            <a:r>
              <a:rPr lang="en-US" sz="3600" b="1" dirty="0" err="1">
                <a:solidFill>
                  <a:schemeClr val="accent5">
                    <a:lumMod val="75000"/>
                  </a:schemeClr>
                </a:solidFill>
              </a:rPr>
              <a:t>Pcaps</a:t>
            </a:r>
            <a:r>
              <a:rPr lang="en-US" sz="3600" b="1" dirty="0">
                <a:solidFill>
                  <a:schemeClr val="accent5">
                    <a:lumMod val="75000"/>
                  </a:schemeClr>
                </a:solidFill>
              </a:rPr>
              <a:t>/texts into instant, high-fidelity visual narratives using LLMs</a:t>
            </a:r>
            <a:endParaRPr lang="en-US" sz="3600" b="1" dirty="0">
              <a:solidFill>
                <a:schemeClr val="accent5">
                  <a:lumMod val="60000"/>
                  <a:lumOff val="40000"/>
                </a:schemeClr>
              </a:solidFill>
            </a:endParaRPr>
          </a:p>
        </p:txBody>
      </p:sp>
      <p:sp>
        <p:nvSpPr>
          <p:cNvPr id="3" name="TextBox 2">
            <a:extLst>
              <a:ext uri="{FF2B5EF4-FFF2-40B4-BE49-F238E27FC236}">
                <a16:creationId xmlns:a16="http://schemas.microsoft.com/office/drawing/2014/main" id="{12BC02BB-F567-F6AB-1549-974B344D0188}"/>
              </a:ext>
            </a:extLst>
          </p:cNvPr>
          <p:cNvSpPr txBox="1"/>
          <p:nvPr/>
        </p:nvSpPr>
        <p:spPr>
          <a:xfrm>
            <a:off x="4663440" y="4105096"/>
            <a:ext cx="7528560" cy="2739211"/>
          </a:xfrm>
          <a:prstGeom prst="rect">
            <a:avLst/>
          </a:prstGeom>
          <a:noFill/>
        </p:spPr>
        <p:txBody>
          <a:bodyPr wrap="square">
            <a:spAutoFit/>
          </a:bodyPr>
          <a:lstStyle/>
          <a:p>
            <a:r>
              <a:rPr lang="en-US" sz="3600" b="1" dirty="0">
                <a:solidFill>
                  <a:srgbClr val="C836B7"/>
                </a:solidFill>
              </a:rPr>
              <a:t>Provide a deterministic tool that allows reviewers to traceback data shown in diagrams to the original PCAPs</a:t>
            </a:r>
          </a:p>
          <a:p>
            <a:pPr algn="ctr"/>
            <a:endParaRPr lang="en-US" sz="2800" b="1" dirty="0">
              <a:solidFill>
                <a:srgbClr val="FF0000"/>
              </a:solidFill>
            </a:endParaRPr>
          </a:p>
        </p:txBody>
      </p:sp>
    </p:spTree>
    <p:extLst>
      <p:ext uri="{BB962C8B-B14F-4D97-AF65-F5344CB8AC3E}">
        <p14:creationId xmlns:p14="http://schemas.microsoft.com/office/powerpoint/2010/main" val="1881224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D373F-1BF2-6A0A-1308-E143B9FC2945}"/>
              </a:ext>
            </a:extLst>
          </p:cNvPr>
          <p:cNvSpPr>
            <a:spLocks noGrp="1"/>
          </p:cNvSpPr>
          <p:nvPr>
            <p:ph type="title"/>
          </p:nvPr>
        </p:nvSpPr>
        <p:spPr>
          <a:xfrm>
            <a:off x="415600" y="593366"/>
            <a:ext cx="11669720" cy="1285667"/>
          </a:xfrm>
        </p:spPr>
        <p:txBody>
          <a:bodyPr>
            <a:normAutofit/>
          </a:bodyPr>
          <a:lstStyle/>
          <a:p>
            <a:r>
              <a:rPr lang="en-US" b="1" dirty="0">
                <a:solidFill>
                  <a:srgbClr val="A02B93"/>
                </a:solidFill>
              </a:rPr>
              <a:t>Existing Methods</a:t>
            </a:r>
          </a:p>
        </p:txBody>
      </p:sp>
      <p:grpSp>
        <p:nvGrpSpPr>
          <p:cNvPr id="22" name="Group 21">
            <a:extLst>
              <a:ext uri="{FF2B5EF4-FFF2-40B4-BE49-F238E27FC236}">
                <a16:creationId xmlns:a16="http://schemas.microsoft.com/office/drawing/2014/main" id="{9F3C704A-6A15-76C8-B75E-DD707D0C261E}"/>
              </a:ext>
            </a:extLst>
          </p:cNvPr>
          <p:cNvGrpSpPr/>
          <p:nvPr/>
        </p:nvGrpSpPr>
        <p:grpSpPr>
          <a:xfrm>
            <a:off x="4417448" y="2424105"/>
            <a:ext cx="3542038" cy="2928107"/>
            <a:chOff x="415600" y="2624137"/>
            <a:chExt cx="3542038" cy="2928107"/>
          </a:xfrm>
        </p:grpSpPr>
        <p:pic>
          <p:nvPicPr>
            <p:cNvPr id="5" name="Picture 4" descr="A black background with a black square&#10;&#10;AI-generated content may be incorrect.">
              <a:extLst>
                <a:ext uri="{FF2B5EF4-FFF2-40B4-BE49-F238E27FC236}">
                  <a16:creationId xmlns:a16="http://schemas.microsoft.com/office/drawing/2014/main" id="{53FEC169-4A40-0848-51A6-8B2A5068ECF7}"/>
                </a:ext>
              </a:extLst>
            </p:cNvPr>
            <p:cNvPicPr>
              <a:picLocks noChangeAspect="1"/>
            </p:cNvPicPr>
            <p:nvPr/>
          </p:nvPicPr>
          <p:blipFill>
            <a:blip r:embed="rId3">
              <a:duotone>
                <a:schemeClr val="accent5">
                  <a:shade val="45000"/>
                  <a:satMod val="135000"/>
                </a:schemeClr>
                <a:prstClr val="white"/>
              </a:duotone>
            </a:blip>
            <a:stretch>
              <a:fillRect/>
            </a:stretch>
          </p:blipFill>
          <p:spPr>
            <a:xfrm>
              <a:off x="1419261" y="2624137"/>
              <a:ext cx="1534716" cy="1534716"/>
            </a:xfrm>
            <a:prstGeom prst="rect">
              <a:avLst/>
            </a:prstGeom>
          </p:spPr>
        </p:pic>
        <p:sp>
          <p:nvSpPr>
            <p:cNvPr id="11" name="TextBox 10">
              <a:extLst>
                <a:ext uri="{FF2B5EF4-FFF2-40B4-BE49-F238E27FC236}">
                  <a16:creationId xmlns:a16="http://schemas.microsoft.com/office/drawing/2014/main" id="{F4D886D3-CB83-CDA3-372B-92B1088C91FC}"/>
                </a:ext>
              </a:extLst>
            </p:cNvPr>
            <p:cNvSpPr txBox="1"/>
            <p:nvPr/>
          </p:nvSpPr>
          <p:spPr>
            <a:xfrm>
              <a:off x="415600" y="4628914"/>
              <a:ext cx="3542038" cy="923330"/>
            </a:xfrm>
            <a:prstGeom prst="rect">
              <a:avLst/>
            </a:prstGeom>
            <a:noFill/>
          </p:spPr>
          <p:txBody>
            <a:bodyPr wrap="square">
              <a:spAutoFit/>
            </a:bodyPr>
            <a:lstStyle/>
            <a:p>
              <a:r>
                <a:rPr lang="en-US" b="1" dirty="0">
                  <a:solidFill>
                    <a:schemeClr val="accent5">
                      <a:lumMod val="50000"/>
                    </a:schemeClr>
                  </a:solidFill>
                </a:rPr>
                <a:t>Attack Trees and Attack Graphs</a:t>
              </a:r>
            </a:p>
            <a:p>
              <a:endParaRPr lang="en-US" b="1" dirty="0">
                <a:solidFill>
                  <a:schemeClr val="accent5">
                    <a:lumMod val="50000"/>
                  </a:schemeClr>
                </a:solidFill>
              </a:endParaRPr>
            </a:p>
            <a:p>
              <a:pPr algn="ctr"/>
              <a:r>
                <a:rPr lang="en-US" b="1" dirty="0" err="1">
                  <a:solidFill>
                    <a:schemeClr val="accent5">
                      <a:lumMod val="60000"/>
                      <a:lumOff val="40000"/>
                    </a:schemeClr>
                  </a:solidFill>
                </a:rPr>
                <a:t>MulVal</a:t>
              </a:r>
              <a:r>
                <a:rPr lang="en-US" b="1" dirty="0">
                  <a:solidFill>
                    <a:schemeClr val="accent5">
                      <a:lumMod val="60000"/>
                      <a:lumOff val="40000"/>
                    </a:schemeClr>
                  </a:solidFill>
                </a:rPr>
                <a:t>, Mul</a:t>
              </a:r>
            </a:p>
          </p:txBody>
        </p:sp>
      </p:grpSp>
      <p:grpSp>
        <p:nvGrpSpPr>
          <p:cNvPr id="23" name="Group 22">
            <a:extLst>
              <a:ext uri="{FF2B5EF4-FFF2-40B4-BE49-F238E27FC236}">
                <a16:creationId xmlns:a16="http://schemas.microsoft.com/office/drawing/2014/main" id="{794FA2AE-FD09-EF8D-358A-D46BBA6E7FB2}"/>
              </a:ext>
            </a:extLst>
          </p:cNvPr>
          <p:cNvGrpSpPr/>
          <p:nvPr/>
        </p:nvGrpSpPr>
        <p:grpSpPr>
          <a:xfrm>
            <a:off x="290935" y="2349095"/>
            <a:ext cx="3542038" cy="3003117"/>
            <a:chOff x="4633317" y="2549127"/>
            <a:chExt cx="3542038" cy="3003117"/>
          </a:xfrm>
        </p:grpSpPr>
        <p:sp>
          <p:nvSpPr>
            <p:cNvPr id="13" name="TextBox 12">
              <a:extLst>
                <a:ext uri="{FF2B5EF4-FFF2-40B4-BE49-F238E27FC236}">
                  <a16:creationId xmlns:a16="http://schemas.microsoft.com/office/drawing/2014/main" id="{C4AA4AD4-3ED2-033D-FA27-0C1407F88703}"/>
                </a:ext>
              </a:extLst>
            </p:cNvPr>
            <p:cNvSpPr txBox="1"/>
            <p:nvPr/>
          </p:nvSpPr>
          <p:spPr>
            <a:xfrm>
              <a:off x="4633317" y="4628914"/>
              <a:ext cx="3542038" cy="923330"/>
            </a:xfrm>
            <a:prstGeom prst="rect">
              <a:avLst/>
            </a:prstGeom>
            <a:noFill/>
          </p:spPr>
          <p:txBody>
            <a:bodyPr wrap="square">
              <a:spAutoFit/>
            </a:bodyPr>
            <a:lstStyle/>
            <a:p>
              <a:r>
                <a:rPr lang="en-US" b="1" dirty="0">
                  <a:solidFill>
                    <a:schemeClr val="accent5">
                      <a:lumMod val="50000"/>
                    </a:schemeClr>
                  </a:solidFill>
                </a:rPr>
                <a:t>Visualization of Network Traffic</a:t>
              </a:r>
            </a:p>
            <a:p>
              <a:endParaRPr lang="en-US" b="1" dirty="0">
                <a:solidFill>
                  <a:schemeClr val="accent5">
                    <a:lumMod val="50000"/>
                  </a:schemeClr>
                </a:solidFill>
              </a:endParaRPr>
            </a:p>
            <a:p>
              <a:pPr algn="ctr"/>
              <a:r>
                <a:rPr lang="en-US" b="1" dirty="0">
                  <a:solidFill>
                    <a:schemeClr val="accent5">
                      <a:lumMod val="60000"/>
                      <a:lumOff val="40000"/>
                    </a:schemeClr>
                  </a:solidFill>
                </a:rPr>
                <a:t>Wireshark flow diagram</a:t>
              </a:r>
            </a:p>
          </p:txBody>
        </p:sp>
        <p:pic>
          <p:nvPicPr>
            <p:cNvPr id="17" name="Picture 16" descr="A black background with a black square&#10;&#10;AI-generated content may be incorrect.">
              <a:extLst>
                <a:ext uri="{FF2B5EF4-FFF2-40B4-BE49-F238E27FC236}">
                  <a16:creationId xmlns:a16="http://schemas.microsoft.com/office/drawing/2014/main" id="{9B0BBC2D-8259-DD62-6253-9739BB950F03}"/>
                </a:ext>
              </a:extLst>
            </p:cNvPr>
            <p:cNvPicPr>
              <a:picLocks noChangeAspect="1"/>
            </p:cNvPicPr>
            <p:nvPr/>
          </p:nvPicPr>
          <p:blipFill>
            <a:blip r:embed="rId4">
              <a:duotone>
                <a:schemeClr val="accent5">
                  <a:shade val="45000"/>
                  <a:satMod val="135000"/>
                </a:schemeClr>
                <a:prstClr val="white"/>
              </a:duotone>
            </a:blip>
            <a:stretch>
              <a:fillRect/>
            </a:stretch>
          </p:blipFill>
          <p:spPr>
            <a:xfrm>
              <a:off x="5599473" y="2549127"/>
              <a:ext cx="1609726" cy="1609726"/>
            </a:xfrm>
            <a:prstGeom prst="rect">
              <a:avLst/>
            </a:prstGeom>
          </p:spPr>
        </p:pic>
      </p:grpSp>
      <p:grpSp>
        <p:nvGrpSpPr>
          <p:cNvPr id="24" name="Group 23">
            <a:extLst>
              <a:ext uri="{FF2B5EF4-FFF2-40B4-BE49-F238E27FC236}">
                <a16:creationId xmlns:a16="http://schemas.microsoft.com/office/drawing/2014/main" id="{4A3EE874-E24D-62DA-CA4A-60C902640557}"/>
              </a:ext>
            </a:extLst>
          </p:cNvPr>
          <p:cNvGrpSpPr/>
          <p:nvPr/>
        </p:nvGrpSpPr>
        <p:grpSpPr>
          <a:xfrm>
            <a:off x="8543961" y="2366524"/>
            <a:ext cx="3226665" cy="3539686"/>
            <a:chOff x="8851035" y="2566556"/>
            <a:chExt cx="3226665" cy="3539686"/>
          </a:xfrm>
        </p:grpSpPr>
        <p:sp>
          <p:nvSpPr>
            <p:cNvPr id="15" name="TextBox 14">
              <a:extLst>
                <a:ext uri="{FF2B5EF4-FFF2-40B4-BE49-F238E27FC236}">
                  <a16:creationId xmlns:a16="http://schemas.microsoft.com/office/drawing/2014/main" id="{AE6BF649-5421-13B5-D265-92E375B6EB17}"/>
                </a:ext>
              </a:extLst>
            </p:cNvPr>
            <p:cNvSpPr txBox="1"/>
            <p:nvPr/>
          </p:nvSpPr>
          <p:spPr>
            <a:xfrm>
              <a:off x="8851035" y="4628914"/>
              <a:ext cx="3226665" cy="1477328"/>
            </a:xfrm>
            <a:prstGeom prst="rect">
              <a:avLst/>
            </a:prstGeom>
            <a:noFill/>
          </p:spPr>
          <p:txBody>
            <a:bodyPr wrap="square">
              <a:spAutoFit/>
            </a:bodyPr>
            <a:lstStyle/>
            <a:p>
              <a:r>
                <a:rPr lang="en-US" b="1" dirty="0">
                  <a:solidFill>
                    <a:schemeClr val="accent5">
                      <a:lumMod val="50000"/>
                    </a:schemeClr>
                  </a:solidFill>
                </a:rPr>
                <a:t>LLM + Diagram Generation</a:t>
              </a:r>
            </a:p>
            <a:p>
              <a:endParaRPr lang="en-US" b="1" dirty="0">
                <a:solidFill>
                  <a:schemeClr val="accent5">
                    <a:lumMod val="50000"/>
                  </a:schemeClr>
                </a:solidFill>
              </a:endParaRPr>
            </a:p>
            <a:p>
              <a:pPr algn="ctr"/>
              <a:r>
                <a:rPr lang="en-US" b="1" dirty="0">
                  <a:solidFill>
                    <a:schemeClr val="accent5">
                      <a:lumMod val="60000"/>
                      <a:lumOff val="40000"/>
                    </a:schemeClr>
                  </a:solidFill>
                </a:rPr>
                <a:t>Eraser.com,</a:t>
              </a:r>
            </a:p>
            <a:p>
              <a:pPr algn="ctr"/>
              <a:r>
                <a:rPr lang="en-US" b="1" dirty="0">
                  <a:solidFill>
                    <a:schemeClr val="accent5">
                      <a:lumMod val="60000"/>
                      <a:lumOff val="40000"/>
                    </a:schemeClr>
                  </a:solidFill>
                </a:rPr>
                <a:t>Selector.ai</a:t>
              </a:r>
              <a:endParaRPr lang="en-US" dirty="0">
                <a:solidFill>
                  <a:schemeClr val="accent5">
                    <a:lumMod val="60000"/>
                    <a:lumOff val="40000"/>
                  </a:schemeClr>
                </a:solidFill>
              </a:endParaRPr>
            </a:p>
            <a:p>
              <a:pPr algn="ctr"/>
              <a:r>
                <a:rPr lang="en-US" b="1" dirty="0" err="1">
                  <a:solidFill>
                    <a:schemeClr val="accent5">
                      <a:lumMod val="60000"/>
                      <a:lumOff val="40000"/>
                    </a:schemeClr>
                  </a:solidFill>
                </a:rPr>
                <a:t>Github</a:t>
              </a:r>
              <a:r>
                <a:rPr lang="en-US" b="1" dirty="0">
                  <a:solidFill>
                    <a:schemeClr val="accent5">
                      <a:lumMod val="60000"/>
                      <a:lumOff val="40000"/>
                    </a:schemeClr>
                  </a:solidFill>
                </a:rPr>
                <a:t> CoPilot </a:t>
              </a:r>
            </a:p>
          </p:txBody>
        </p:sp>
        <p:pic>
          <p:nvPicPr>
            <p:cNvPr id="21" name="Picture 20" descr="A black background with a black square&#10;&#10;AI-generated content may be incorrect.">
              <a:extLst>
                <a:ext uri="{FF2B5EF4-FFF2-40B4-BE49-F238E27FC236}">
                  <a16:creationId xmlns:a16="http://schemas.microsoft.com/office/drawing/2014/main" id="{F9B1B271-AFAB-6890-4439-E02100A0D8C3}"/>
                </a:ext>
              </a:extLst>
            </p:cNvPr>
            <p:cNvPicPr>
              <a:picLocks noChangeAspect="1"/>
            </p:cNvPicPr>
            <p:nvPr/>
          </p:nvPicPr>
          <p:blipFill>
            <a:blip r:embed="rId5">
              <a:duotone>
                <a:schemeClr val="accent5">
                  <a:shade val="45000"/>
                  <a:satMod val="135000"/>
                </a:schemeClr>
                <a:prstClr val="white"/>
              </a:duotone>
            </a:blip>
            <a:stretch>
              <a:fillRect/>
            </a:stretch>
          </p:blipFill>
          <p:spPr>
            <a:xfrm>
              <a:off x="9510117" y="2566556"/>
              <a:ext cx="1649878" cy="1649878"/>
            </a:xfrm>
            <a:prstGeom prst="rect">
              <a:avLst/>
            </a:prstGeom>
          </p:spPr>
        </p:pic>
      </p:grpSp>
    </p:spTree>
    <p:extLst>
      <p:ext uri="{BB962C8B-B14F-4D97-AF65-F5344CB8AC3E}">
        <p14:creationId xmlns:p14="http://schemas.microsoft.com/office/powerpoint/2010/main" val="2881076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1736E-81CF-2D69-F069-600779067402}"/>
              </a:ext>
            </a:extLst>
          </p:cNvPr>
          <p:cNvSpPr>
            <a:spLocks noGrp="1"/>
          </p:cNvSpPr>
          <p:nvPr>
            <p:ph type="title"/>
          </p:nvPr>
        </p:nvSpPr>
        <p:spPr/>
        <p:txBody>
          <a:bodyPr/>
          <a:lstStyle/>
          <a:p>
            <a:r>
              <a:rPr lang="en-US" b="1" dirty="0">
                <a:solidFill>
                  <a:srgbClr val="A02B93"/>
                </a:solidFill>
              </a:rPr>
              <a:t>Technology Comparison </a:t>
            </a:r>
          </a:p>
        </p:txBody>
      </p:sp>
      <p:graphicFrame>
        <p:nvGraphicFramePr>
          <p:cNvPr id="4" name="Table 3">
            <a:extLst>
              <a:ext uri="{FF2B5EF4-FFF2-40B4-BE49-F238E27FC236}">
                <a16:creationId xmlns:a16="http://schemas.microsoft.com/office/drawing/2014/main" id="{A5EDC931-C478-3E7C-BBA0-CE06FDDD0B96}"/>
              </a:ext>
            </a:extLst>
          </p:cNvPr>
          <p:cNvGraphicFramePr>
            <a:graphicFrameLocks noGrp="1"/>
          </p:cNvGraphicFramePr>
          <p:nvPr>
            <p:extLst>
              <p:ext uri="{D42A27DB-BD31-4B8C-83A1-F6EECF244321}">
                <p14:modId xmlns:p14="http://schemas.microsoft.com/office/powerpoint/2010/main" val="3080300605"/>
              </p:ext>
            </p:extLst>
          </p:nvPr>
        </p:nvGraphicFramePr>
        <p:xfrm>
          <a:off x="421481" y="1690688"/>
          <a:ext cx="11349037" cy="4684000"/>
        </p:xfrm>
        <a:graphic>
          <a:graphicData uri="http://schemas.openxmlformats.org/drawingml/2006/table">
            <a:tbl>
              <a:tblPr firstRow="1" bandRow="1">
                <a:tableStyleId>{7DF18680-E054-41AD-8BC1-D1AEF772440D}</a:tableStyleId>
              </a:tblPr>
              <a:tblGrid>
                <a:gridCol w="2006843">
                  <a:extLst>
                    <a:ext uri="{9D8B030D-6E8A-4147-A177-3AD203B41FA5}">
                      <a16:colId xmlns:a16="http://schemas.microsoft.com/office/drawing/2014/main" val="859849300"/>
                    </a:ext>
                  </a:extLst>
                </a:gridCol>
                <a:gridCol w="3366859">
                  <a:extLst>
                    <a:ext uri="{9D8B030D-6E8A-4147-A177-3AD203B41FA5}">
                      <a16:colId xmlns:a16="http://schemas.microsoft.com/office/drawing/2014/main" val="2451191080"/>
                    </a:ext>
                  </a:extLst>
                </a:gridCol>
                <a:gridCol w="3101169">
                  <a:extLst>
                    <a:ext uri="{9D8B030D-6E8A-4147-A177-3AD203B41FA5}">
                      <a16:colId xmlns:a16="http://schemas.microsoft.com/office/drawing/2014/main" val="1325007840"/>
                    </a:ext>
                  </a:extLst>
                </a:gridCol>
                <a:gridCol w="2874166">
                  <a:extLst>
                    <a:ext uri="{9D8B030D-6E8A-4147-A177-3AD203B41FA5}">
                      <a16:colId xmlns:a16="http://schemas.microsoft.com/office/drawing/2014/main" val="3437199956"/>
                    </a:ext>
                  </a:extLst>
                </a:gridCol>
              </a:tblGrid>
              <a:tr h="354399">
                <a:tc>
                  <a:txBody>
                    <a:bodyPr/>
                    <a:lstStyle/>
                    <a:p>
                      <a:pPr algn="ctr"/>
                      <a:r>
                        <a:rPr lang="en-US" sz="1600" dirty="0">
                          <a:solidFill>
                            <a:schemeClr val="bg1"/>
                          </a:solidFill>
                        </a:rPr>
                        <a:t>Features</a:t>
                      </a:r>
                      <a:endParaRPr lang="en-US" sz="1600" dirty="0">
                        <a:solidFill>
                          <a:srgbClr val="A02B93"/>
                        </a:solidFill>
                      </a:endParaRPr>
                    </a:p>
                  </a:txBody>
                  <a:tcPr/>
                </a:tc>
                <a:tc>
                  <a:txBody>
                    <a:bodyPr/>
                    <a:lstStyle/>
                    <a:p>
                      <a:pPr algn="ctr"/>
                      <a:r>
                        <a:rPr lang="en-US" sz="1600" dirty="0"/>
                        <a:t>Traditional Tools</a:t>
                      </a:r>
                    </a:p>
                  </a:txBody>
                  <a:tcPr/>
                </a:tc>
                <a:tc>
                  <a:txBody>
                    <a:bodyPr/>
                    <a:lstStyle/>
                    <a:p>
                      <a:pPr algn="ctr"/>
                      <a:r>
                        <a:rPr lang="en-US" sz="1600" dirty="0"/>
                        <a:t>AI Generators</a:t>
                      </a:r>
                    </a:p>
                  </a:txBody>
                  <a:tcPr/>
                </a:tc>
                <a:tc>
                  <a:txBody>
                    <a:bodyPr/>
                    <a:lstStyle/>
                    <a:p>
                      <a:pPr algn="ctr"/>
                      <a:r>
                        <a:rPr lang="en-US" sz="1600" dirty="0"/>
                        <a:t>Extended Auto – Diagram </a:t>
                      </a:r>
                    </a:p>
                  </a:txBody>
                  <a:tcPr/>
                </a:tc>
                <a:extLst>
                  <a:ext uri="{0D108BD9-81ED-4DB2-BD59-A6C34878D82A}">
                    <a16:rowId xmlns:a16="http://schemas.microsoft.com/office/drawing/2014/main" val="4000797501"/>
                  </a:ext>
                </a:extLst>
              </a:tr>
              <a:tr h="640079">
                <a:tc>
                  <a:txBody>
                    <a:bodyPr/>
                    <a:lstStyle/>
                    <a:p>
                      <a:pPr algn="ctr"/>
                      <a:r>
                        <a:rPr lang="en-US" sz="1600" dirty="0"/>
                        <a:t>Input Source </a:t>
                      </a:r>
                    </a:p>
                  </a:txBody>
                  <a:tcPr/>
                </a:tc>
                <a:tc>
                  <a:txBody>
                    <a:bodyPr/>
                    <a:lstStyle/>
                    <a:p>
                      <a:pPr algn="ctr"/>
                      <a:r>
                        <a:rPr lang="en-US" sz="1600" dirty="0"/>
                        <a:t>Configs, PCAPs, manual input</a:t>
                      </a:r>
                    </a:p>
                  </a:txBody>
                  <a:tcPr/>
                </a:tc>
                <a:tc>
                  <a:txBody>
                    <a:bodyPr/>
                    <a:lstStyle/>
                    <a:p>
                      <a:pPr algn="ctr"/>
                      <a:r>
                        <a:rPr lang="en-US" sz="1600" dirty="0"/>
                        <a:t>PDF/Images/Prompts </a:t>
                      </a:r>
                    </a:p>
                  </a:txBody>
                  <a:tcPr/>
                </a:tc>
                <a:tc>
                  <a:txBody>
                    <a:bodyPr/>
                    <a:lstStyle/>
                    <a:p>
                      <a:pPr algn="ctr" rtl="0"/>
                      <a:r>
                        <a:rPr lang="en-US" sz="1600" dirty="0"/>
                        <a:t>PDF/PCAP/Prompts (hybrid)</a:t>
                      </a:r>
                    </a:p>
                  </a:txBody>
                  <a:tcPr/>
                </a:tc>
                <a:extLst>
                  <a:ext uri="{0D108BD9-81ED-4DB2-BD59-A6C34878D82A}">
                    <a16:rowId xmlns:a16="http://schemas.microsoft.com/office/drawing/2014/main" val="3435123179"/>
                  </a:ext>
                </a:extLst>
              </a:tr>
              <a:tr h="914399">
                <a:tc>
                  <a:txBody>
                    <a:bodyPr/>
                    <a:lstStyle/>
                    <a:p>
                      <a:pPr algn="ctr"/>
                      <a:r>
                        <a:rPr lang="en-US" sz="1600" dirty="0"/>
                        <a:t>Logic</a:t>
                      </a:r>
                    </a:p>
                  </a:txBody>
                  <a:tcPr/>
                </a:tc>
                <a:tc>
                  <a:txBody>
                    <a:bodyPr/>
                    <a:lstStyle/>
                    <a:p>
                      <a:pPr algn="ctr"/>
                      <a:r>
                        <a:rPr lang="en-US" sz="1600" dirty="0"/>
                        <a:t>Configs, manual decisions and Protocols</a:t>
                      </a:r>
                    </a:p>
                  </a:txBody>
                  <a:tcPr/>
                </a:tc>
                <a:tc>
                  <a:txBody>
                    <a:bodyPr/>
                    <a:lstStyle/>
                    <a:p>
                      <a:pPr algn="ctr"/>
                      <a:r>
                        <a:rPr lang="en-US" sz="1600" dirty="0"/>
                        <a:t>Unspecified LLM knowledge</a:t>
                      </a:r>
                    </a:p>
                  </a:txBody>
                  <a:tcPr/>
                </a:tc>
                <a:tc>
                  <a:txBody>
                    <a:bodyPr/>
                    <a:lstStyle/>
                    <a:p>
                      <a:pPr algn="ctr"/>
                      <a:r>
                        <a:rPr lang="en-US" sz="1600" dirty="0"/>
                        <a:t>LLM general knowledge + Fine tuning on </a:t>
                      </a:r>
                    </a:p>
                  </a:txBody>
                  <a:tcPr/>
                </a:tc>
                <a:extLst>
                  <a:ext uri="{0D108BD9-81ED-4DB2-BD59-A6C34878D82A}">
                    <a16:rowId xmlns:a16="http://schemas.microsoft.com/office/drawing/2014/main" val="2611402341"/>
                  </a:ext>
                </a:extLst>
              </a:tr>
              <a:tr h="1265156">
                <a:tc>
                  <a:txBody>
                    <a:bodyPr/>
                    <a:lstStyle/>
                    <a:p>
                      <a:pPr algn="ctr"/>
                      <a:r>
                        <a:rPr lang="en-US" sz="1600" dirty="0"/>
                        <a:t>Security awareness</a:t>
                      </a:r>
                    </a:p>
                  </a:txBody>
                  <a:tcPr/>
                </a:tc>
                <a:tc>
                  <a:txBody>
                    <a:bodyPr/>
                    <a:lstStyle/>
                    <a:p>
                      <a:pPr algn="ctr"/>
                      <a:r>
                        <a:rPr lang="en-US" sz="1600" dirty="0"/>
                        <a:t>Depends on inserted protocols and configs</a:t>
                      </a:r>
                    </a:p>
                  </a:txBody>
                  <a:tcPr/>
                </a:tc>
                <a:tc>
                  <a:txBody>
                    <a:bodyPr/>
                    <a:lstStyle/>
                    <a:p>
                      <a:pPr algn="ctr"/>
                      <a:r>
                        <a:rPr lang="en-US" sz="1600" dirty="0"/>
                        <a:t>Not specifically networks aware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Specified data related to security and networks </a:t>
                      </a:r>
                    </a:p>
                    <a:p>
                      <a:pPr algn="ctr"/>
                      <a:endParaRPr lang="en-US" sz="1600" dirty="0"/>
                    </a:p>
                  </a:txBody>
                  <a:tcPr/>
                </a:tc>
                <a:extLst>
                  <a:ext uri="{0D108BD9-81ED-4DB2-BD59-A6C34878D82A}">
                    <a16:rowId xmlns:a16="http://schemas.microsoft.com/office/drawing/2014/main" val="467409292"/>
                  </a:ext>
                </a:extLst>
              </a:tr>
              <a:tr h="86988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Abstraction</a:t>
                      </a:r>
                    </a:p>
                    <a:p>
                      <a:pPr algn="ctr"/>
                      <a:endParaRPr lang="en-US" sz="1600" dirty="0"/>
                    </a:p>
                  </a:txBody>
                  <a:tcPr/>
                </a:tc>
                <a:tc>
                  <a:txBody>
                    <a:bodyPr/>
                    <a:lstStyle/>
                    <a:p>
                      <a:pPr algn="ctr"/>
                      <a:r>
                        <a:rPr lang="en-US" sz="1600" dirty="0"/>
                        <a:t>Sometimes too technical, manual abstraction control </a:t>
                      </a:r>
                    </a:p>
                  </a:txBody>
                  <a:tcPr/>
                </a:tc>
                <a:tc>
                  <a:txBody>
                    <a:bodyPr/>
                    <a:lstStyle/>
                    <a:p>
                      <a:pPr algn="ctr"/>
                      <a:r>
                        <a:rPr lang="en-US" sz="1600" dirty="0"/>
                        <a:t>Visually polished graphs with static shapes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t>Controllable abstraction</a:t>
                      </a:r>
                      <a:r>
                        <a:rPr lang="en-US" sz="1600" dirty="0"/>
                        <a:t>, Conceptual related blocks </a:t>
                      </a:r>
                    </a:p>
                    <a:p>
                      <a:pPr algn="ctr"/>
                      <a:endParaRPr lang="en-US" sz="1600" dirty="0"/>
                    </a:p>
                  </a:txBody>
                  <a:tcPr/>
                </a:tc>
                <a:extLst>
                  <a:ext uri="{0D108BD9-81ED-4DB2-BD59-A6C34878D82A}">
                    <a16:rowId xmlns:a16="http://schemas.microsoft.com/office/drawing/2014/main" val="3116716771"/>
                  </a:ext>
                </a:extLst>
              </a:tr>
              <a:tr h="640079">
                <a:tc>
                  <a:txBody>
                    <a:bodyPr/>
                    <a:lstStyle/>
                    <a:p>
                      <a:pPr algn="ctr"/>
                      <a:r>
                        <a:rPr lang="en-US" sz="1600" dirty="0"/>
                        <a:t>Evaluation support</a:t>
                      </a:r>
                    </a:p>
                  </a:txBody>
                  <a:tcPr/>
                </a:tc>
                <a:tc>
                  <a:txBody>
                    <a:bodyPr/>
                    <a:lstStyle/>
                    <a:p>
                      <a:pPr algn="ctr"/>
                      <a:r>
                        <a:rPr lang="en-US" sz="1600" dirty="0"/>
                        <a:t>None</a:t>
                      </a:r>
                    </a:p>
                  </a:txBody>
                  <a:tcPr/>
                </a:tc>
                <a:tc>
                  <a:txBody>
                    <a:bodyPr/>
                    <a:lstStyle/>
                    <a:p>
                      <a:pPr algn="ctr"/>
                      <a:r>
                        <a:rPr lang="en-US" sz="1600" dirty="0"/>
                        <a:t>None</a:t>
                      </a:r>
                    </a:p>
                  </a:txBody>
                  <a:tcPr/>
                </a:tc>
                <a:tc>
                  <a:txBody>
                    <a:bodyPr/>
                    <a:lstStyle/>
                    <a:p>
                      <a:pPr algn="ctr"/>
                      <a:r>
                        <a:rPr lang="en-US" sz="1600" dirty="0"/>
                        <a:t>Quantitative/Qualitative </a:t>
                      </a:r>
                    </a:p>
                  </a:txBody>
                  <a:tcPr/>
                </a:tc>
                <a:extLst>
                  <a:ext uri="{0D108BD9-81ED-4DB2-BD59-A6C34878D82A}">
                    <a16:rowId xmlns:a16="http://schemas.microsoft.com/office/drawing/2014/main" val="4117927386"/>
                  </a:ext>
                </a:extLst>
              </a:tr>
            </a:tbl>
          </a:graphicData>
        </a:graphic>
      </p:graphicFrame>
    </p:spTree>
    <p:extLst>
      <p:ext uri="{BB962C8B-B14F-4D97-AF65-F5344CB8AC3E}">
        <p14:creationId xmlns:p14="http://schemas.microsoft.com/office/powerpoint/2010/main" val="1893828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685CD-9A29-7B4B-3B1C-B9EEB3781A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85C695-BBEB-BFFA-15F4-C54896496E15}"/>
              </a:ext>
            </a:extLst>
          </p:cNvPr>
          <p:cNvSpPr>
            <a:spLocks noGrp="1"/>
          </p:cNvSpPr>
          <p:nvPr>
            <p:ph type="title"/>
          </p:nvPr>
        </p:nvSpPr>
        <p:spPr/>
        <p:txBody>
          <a:bodyPr/>
          <a:lstStyle/>
          <a:p>
            <a:r>
              <a:rPr lang="en-US" b="1" dirty="0">
                <a:solidFill>
                  <a:srgbClr val="A02B93"/>
                </a:solidFill>
              </a:rPr>
              <a:t>The Requirements</a:t>
            </a:r>
          </a:p>
        </p:txBody>
      </p:sp>
      <p:sp>
        <p:nvSpPr>
          <p:cNvPr id="6" name="Rectangle: Rounded Corners 5">
            <a:extLst>
              <a:ext uri="{FF2B5EF4-FFF2-40B4-BE49-F238E27FC236}">
                <a16:creationId xmlns:a16="http://schemas.microsoft.com/office/drawing/2014/main" id="{801E4B86-8CE8-0AD9-C817-D3D80D7311EC}"/>
              </a:ext>
            </a:extLst>
          </p:cNvPr>
          <p:cNvSpPr/>
          <p:nvPr/>
        </p:nvSpPr>
        <p:spPr>
          <a:xfrm>
            <a:off x="502920" y="1646555"/>
            <a:ext cx="3124200" cy="4846320"/>
          </a:xfrm>
          <a:prstGeom prst="roundRect">
            <a:avLst/>
          </a:prstGeom>
          <a:solidFill>
            <a:schemeClr val="bg1"/>
          </a:solidFill>
          <a:ln w="76200">
            <a:gradFill flip="none" rotWithShape="1">
              <a:gsLst>
                <a:gs pos="90000">
                  <a:schemeClr val="accent5">
                    <a:lumMod val="40000"/>
                    <a:lumOff val="60000"/>
                  </a:schemeClr>
                </a:gs>
                <a:gs pos="13000">
                  <a:schemeClr val="accent5">
                    <a:lumMod val="40000"/>
                    <a:lumOff val="60000"/>
                  </a:schemeClr>
                </a:gs>
                <a:gs pos="50000">
                  <a:schemeClr val="accent4">
                    <a:lumMod val="5000"/>
                    <a:lumOff val="95000"/>
                  </a:schemeClr>
                </a:gs>
                <a:gs pos="0">
                  <a:schemeClr val="accent5">
                    <a:lumMod val="75000"/>
                  </a:schemeClr>
                </a:gs>
                <a:gs pos="100000">
                  <a:schemeClr val="accent5">
                    <a:lumMod val="75000"/>
                  </a:schemeClr>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accent5">
                    <a:lumMod val="75000"/>
                  </a:schemeClr>
                </a:solidFill>
              </a:rPr>
              <a:t>Syntactic Integrity:</a:t>
            </a:r>
            <a:r>
              <a:rPr lang="en-US" sz="2400" b="1" dirty="0">
                <a:solidFill>
                  <a:schemeClr val="tx1"/>
                </a:solidFill>
              </a:rPr>
              <a:t> </a:t>
            </a:r>
          </a:p>
          <a:p>
            <a:pPr algn="ctr"/>
            <a:r>
              <a:rPr lang="en-US" sz="2400" dirty="0">
                <a:solidFill>
                  <a:schemeClr val="tx1"/>
                </a:solidFill>
              </a:rPr>
              <a:t>Diagrams must be 100% syntactically correct </a:t>
            </a:r>
          </a:p>
        </p:txBody>
      </p:sp>
      <p:sp>
        <p:nvSpPr>
          <p:cNvPr id="7" name="Rectangle: Rounded Corners 6">
            <a:extLst>
              <a:ext uri="{FF2B5EF4-FFF2-40B4-BE49-F238E27FC236}">
                <a16:creationId xmlns:a16="http://schemas.microsoft.com/office/drawing/2014/main" id="{751DA66E-36F7-D575-FFF4-D69969FF61B5}"/>
              </a:ext>
            </a:extLst>
          </p:cNvPr>
          <p:cNvSpPr/>
          <p:nvPr/>
        </p:nvSpPr>
        <p:spPr>
          <a:xfrm>
            <a:off x="8229600" y="1646555"/>
            <a:ext cx="3124200" cy="4846320"/>
          </a:xfrm>
          <a:prstGeom prst="roundRect">
            <a:avLst/>
          </a:prstGeom>
          <a:solidFill>
            <a:schemeClr val="bg1"/>
          </a:solidFill>
          <a:ln w="76200">
            <a:gradFill flip="none" rotWithShape="1">
              <a:gsLst>
                <a:gs pos="90000">
                  <a:schemeClr val="accent5">
                    <a:lumMod val="40000"/>
                    <a:lumOff val="60000"/>
                  </a:schemeClr>
                </a:gs>
                <a:gs pos="13000">
                  <a:schemeClr val="accent5">
                    <a:lumMod val="40000"/>
                    <a:lumOff val="60000"/>
                  </a:schemeClr>
                </a:gs>
                <a:gs pos="50000">
                  <a:schemeClr val="accent4">
                    <a:lumMod val="5000"/>
                    <a:lumOff val="95000"/>
                  </a:schemeClr>
                </a:gs>
                <a:gs pos="0">
                  <a:schemeClr val="accent5">
                    <a:lumMod val="75000"/>
                  </a:schemeClr>
                </a:gs>
                <a:gs pos="100000">
                  <a:schemeClr val="accent5">
                    <a:lumMod val="75000"/>
                  </a:schemeClr>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400" dirty="0">
              <a:solidFill>
                <a:schemeClr val="accent5">
                  <a:lumMod val="75000"/>
                </a:schemeClr>
              </a:solidFill>
            </a:endParaRPr>
          </a:p>
          <a:p>
            <a:pPr algn="ctr"/>
            <a:r>
              <a:rPr lang="en-US" sz="2400" b="1" dirty="0">
                <a:solidFill>
                  <a:schemeClr val="accent5">
                    <a:lumMod val="75000"/>
                  </a:schemeClr>
                </a:solidFill>
              </a:rPr>
              <a:t>Evidence Grounding:</a:t>
            </a:r>
            <a:r>
              <a:rPr lang="en-US" sz="2400" dirty="0">
                <a:solidFill>
                  <a:schemeClr val="accent5">
                    <a:lumMod val="75000"/>
                  </a:schemeClr>
                </a:solidFill>
              </a:rPr>
              <a:t> </a:t>
            </a:r>
            <a:r>
              <a:rPr lang="en-US" sz="2400" dirty="0">
                <a:solidFill>
                  <a:schemeClr val="tx1"/>
                </a:solidFill>
              </a:rPr>
              <a:t>Pointing every diagram message to a specific PCAP metadata</a:t>
            </a:r>
            <a:endParaRPr lang="he-IL" sz="2400" dirty="0">
              <a:solidFill>
                <a:schemeClr val="tx1"/>
              </a:solidFill>
            </a:endParaRPr>
          </a:p>
          <a:p>
            <a:pPr algn="ctr"/>
            <a:r>
              <a:rPr lang="he-IL" sz="2400" dirty="0">
                <a:solidFill>
                  <a:schemeClr val="tx1"/>
                </a:solidFill>
              </a:rPr>
              <a:t>ולא מוסיפה דאטא לא אמיתי </a:t>
            </a:r>
          </a:p>
          <a:p>
            <a:pPr algn="ctr"/>
            <a:r>
              <a:rPr lang="he-IL" sz="2400" dirty="0">
                <a:solidFill>
                  <a:schemeClr val="tx1"/>
                </a:solidFill>
              </a:rPr>
              <a:t>כל מה שמופיע בפיקאפ צריך להיות בדיאגרמה</a:t>
            </a:r>
            <a:r>
              <a:rPr lang="en-US" sz="2400" dirty="0">
                <a:solidFill>
                  <a:schemeClr val="tx1"/>
                </a:solidFill>
              </a:rPr>
              <a:t> </a:t>
            </a:r>
          </a:p>
        </p:txBody>
      </p:sp>
      <p:sp>
        <p:nvSpPr>
          <p:cNvPr id="8" name="Rectangle: Rounded Corners 7">
            <a:extLst>
              <a:ext uri="{FF2B5EF4-FFF2-40B4-BE49-F238E27FC236}">
                <a16:creationId xmlns:a16="http://schemas.microsoft.com/office/drawing/2014/main" id="{CEBEAF5C-A241-45EC-4A02-59C7B5B76FBD}"/>
              </a:ext>
            </a:extLst>
          </p:cNvPr>
          <p:cNvSpPr/>
          <p:nvPr/>
        </p:nvSpPr>
        <p:spPr>
          <a:xfrm>
            <a:off x="4366260" y="1668622"/>
            <a:ext cx="3124200" cy="4846320"/>
          </a:xfrm>
          <a:prstGeom prst="roundRect">
            <a:avLst/>
          </a:prstGeom>
          <a:solidFill>
            <a:schemeClr val="bg1"/>
          </a:solidFill>
          <a:ln w="76200">
            <a:gradFill flip="none" rotWithShape="1">
              <a:gsLst>
                <a:gs pos="90000">
                  <a:schemeClr val="accent5">
                    <a:lumMod val="40000"/>
                    <a:lumOff val="60000"/>
                  </a:schemeClr>
                </a:gs>
                <a:gs pos="13000">
                  <a:schemeClr val="accent5">
                    <a:lumMod val="40000"/>
                    <a:lumOff val="60000"/>
                  </a:schemeClr>
                </a:gs>
                <a:gs pos="50000">
                  <a:schemeClr val="accent4">
                    <a:lumMod val="5000"/>
                    <a:lumOff val="95000"/>
                  </a:schemeClr>
                </a:gs>
                <a:gs pos="0">
                  <a:schemeClr val="accent5">
                    <a:lumMod val="75000"/>
                  </a:schemeClr>
                </a:gs>
                <a:gs pos="100000">
                  <a:schemeClr val="accent5">
                    <a:lumMod val="75000"/>
                  </a:schemeClr>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accent5">
                    <a:lumMod val="75000"/>
                  </a:schemeClr>
                </a:solidFill>
              </a:rPr>
              <a:t>Syntactic Uniformity:</a:t>
            </a:r>
            <a:r>
              <a:rPr lang="en-US" sz="2400" dirty="0">
                <a:solidFill>
                  <a:schemeClr val="accent5">
                    <a:lumMod val="75000"/>
                  </a:schemeClr>
                </a:solidFill>
              </a:rPr>
              <a:t> </a:t>
            </a:r>
            <a:r>
              <a:rPr lang="en-US" sz="2400" dirty="0">
                <a:solidFill>
                  <a:schemeClr val="tx1"/>
                </a:solidFill>
              </a:rPr>
              <a:t>Consistent visual language across multiple figures </a:t>
            </a:r>
          </a:p>
        </p:txBody>
      </p:sp>
    </p:spTree>
    <p:extLst>
      <p:ext uri="{BB962C8B-B14F-4D97-AF65-F5344CB8AC3E}">
        <p14:creationId xmlns:p14="http://schemas.microsoft.com/office/powerpoint/2010/main" val="1307902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2551F-C253-3D80-E2C3-7908444311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3AB405-2C46-6605-4E48-EE5A4E02371B}"/>
              </a:ext>
            </a:extLst>
          </p:cNvPr>
          <p:cNvSpPr>
            <a:spLocks noGrp="1"/>
          </p:cNvSpPr>
          <p:nvPr>
            <p:ph type="title"/>
          </p:nvPr>
        </p:nvSpPr>
        <p:spPr/>
        <p:txBody>
          <a:bodyPr/>
          <a:lstStyle/>
          <a:p>
            <a:r>
              <a:rPr lang="en-US" b="1" dirty="0">
                <a:solidFill>
                  <a:srgbClr val="A02B93"/>
                </a:solidFill>
              </a:rPr>
              <a:t>The Requirements</a:t>
            </a:r>
          </a:p>
        </p:txBody>
      </p:sp>
      <p:sp>
        <p:nvSpPr>
          <p:cNvPr id="6" name="Rectangle: Rounded Corners 5">
            <a:extLst>
              <a:ext uri="{FF2B5EF4-FFF2-40B4-BE49-F238E27FC236}">
                <a16:creationId xmlns:a16="http://schemas.microsoft.com/office/drawing/2014/main" id="{59F15D37-1B6D-41FA-5DB1-6100C15BE16D}"/>
              </a:ext>
            </a:extLst>
          </p:cNvPr>
          <p:cNvSpPr/>
          <p:nvPr/>
        </p:nvSpPr>
        <p:spPr>
          <a:xfrm>
            <a:off x="502920" y="1646555"/>
            <a:ext cx="3124200" cy="4846320"/>
          </a:xfrm>
          <a:prstGeom prst="roundRect">
            <a:avLst/>
          </a:prstGeom>
          <a:solidFill>
            <a:schemeClr val="bg1"/>
          </a:solidFill>
          <a:ln w="76200">
            <a:gradFill flip="none" rotWithShape="1">
              <a:gsLst>
                <a:gs pos="90000">
                  <a:schemeClr val="accent5">
                    <a:lumMod val="40000"/>
                    <a:lumOff val="60000"/>
                  </a:schemeClr>
                </a:gs>
                <a:gs pos="13000">
                  <a:schemeClr val="accent5">
                    <a:lumMod val="40000"/>
                    <a:lumOff val="60000"/>
                  </a:schemeClr>
                </a:gs>
                <a:gs pos="50000">
                  <a:schemeClr val="accent4">
                    <a:lumMod val="5000"/>
                    <a:lumOff val="95000"/>
                  </a:schemeClr>
                </a:gs>
                <a:gs pos="0">
                  <a:schemeClr val="accent5">
                    <a:lumMod val="75000"/>
                  </a:schemeClr>
                </a:gs>
                <a:gs pos="100000">
                  <a:schemeClr val="accent5">
                    <a:lumMod val="75000"/>
                  </a:schemeClr>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accent5">
                    <a:lumMod val="75000"/>
                  </a:schemeClr>
                </a:solidFill>
              </a:rPr>
              <a:t>Narrative Abstraction:</a:t>
            </a:r>
          </a:p>
          <a:p>
            <a:pPr algn="ctr"/>
            <a:r>
              <a:rPr lang="en-US" sz="2400" b="1" dirty="0">
                <a:solidFill>
                  <a:schemeClr val="tx1"/>
                </a:solidFill>
              </a:rPr>
              <a:t> </a:t>
            </a:r>
            <a:r>
              <a:rPr lang="en-US" sz="2400" dirty="0">
                <a:solidFill>
                  <a:schemeClr val="tx1"/>
                </a:solidFill>
              </a:rPr>
              <a:t>The texts and </a:t>
            </a:r>
            <a:r>
              <a:rPr lang="en-US" sz="2400" dirty="0" err="1">
                <a:solidFill>
                  <a:schemeClr val="tx1"/>
                </a:solidFill>
              </a:rPr>
              <a:t>Pcaps</a:t>
            </a:r>
            <a:r>
              <a:rPr lang="en-US" sz="2400" dirty="0">
                <a:solidFill>
                  <a:schemeClr val="tx1"/>
                </a:solidFill>
              </a:rPr>
              <a:t> need to be transformed to an easy-to-understand narrative </a:t>
            </a:r>
          </a:p>
        </p:txBody>
      </p:sp>
      <p:sp>
        <p:nvSpPr>
          <p:cNvPr id="7" name="Rectangle: Rounded Corners 6">
            <a:extLst>
              <a:ext uri="{FF2B5EF4-FFF2-40B4-BE49-F238E27FC236}">
                <a16:creationId xmlns:a16="http://schemas.microsoft.com/office/drawing/2014/main" id="{743498AB-D79E-FDD0-6966-ED83140B44A2}"/>
              </a:ext>
            </a:extLst>
          </p:cNvPr>
          <p:cNvSpPr/>
          <p:nvPr/>
        </p:nvSpPr>
        <p:spPr>
          <a:xfrm>
            <a:off x="8229600" y="1646555"/>
            <a:ext cx="3124200" cy="4846320"/>
          </a:xfrm>
          <a:prstGeom prst="roundRect">
            <a:avLst/>
          </a:prstGeom>
          <a:solidFill>
            <a:schemeClr val="bg1"/>
          </a:solidFill>
          <a:ln w="76200">
            <a:gradFill flip="none" rotWithShape="1">
              <a:gsLst>
                <a:gs pos="90000">
                  <a:schemeClr val="accent5">
                    <a:lumMod val="40000"/>
                    <a:lumOff val="60000"/>
                  </a:schemeClr>
                </a:gs>
                <a:gs pos="13000">
                  <a:schemeClr val="accent5">
                    <a:lumMod val="40000"/>
                    <a:lumOff val="60000"/>
                  </a:schemeClr>
                </a:gs>
                <a:gs pos="50000">
                  <a:schemeClr val="accent4">
                    <a:lumMod val="5000"/>
                    <a:lumOff val="95000"/>
                  </a:schemeClr>
                </a:gs>
                <a:gs pos="0">
                  <a:schemeClr val="accent5">
                    <a:lumMod val="75000"/>
                  </a:schemeClr>
                </a:gs>
                <a:gs pos="100000">
                  <a:schemeClr val="accent5">
                    <a:lumMod val="75000"/>
                  </a:schemeClr>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accent5">
                    <a:lumMod val="75000"/>
                  </a:schemeClr>
                </a:solidFill>
              </a:rPr>
              <a:t>Temporal Dynamics:</a:t>
            </a:r>
          </a:p>
          <a:p>
            <a:pPr algn="ctr"/>
            <a:r>
              <a:rPr lang="en-US" sz="2400" dirty="0">
                <a:solidFill>
                  <a:schemeClr val="tx1"/>
                </a:solidFill>
              </a:rPr>
              <a:t> Using animations to display the chronological flow of events</a:t>
            </a:r>
          </a:p>
        </p:txBody>
      </p:sp>
      <p:sp>
        <p:nvSpPr>
          <p:cNvPr id="8" name="Rectangle: Rounded Corners 7">
            <a:extLst>
              <a:ext uri="{FF2B5EF4-FFF2-40B4-BE49-F238E27FC236}">
                <a16:creationId xmlns:a16="http://schemas.microsoft.com/office/drawing/2014/main" id="{C383DACE-2F15-4639-B019-313C76B8F827}"/>
              </a:ext>
            </a:extLst>
          </p:cNvPr>
          <p:cNvSpPr/>
          <p:nvPr/>
        </p:nvSpPr>
        <p:spPr>
          <a:xfrm>
            <a:off x="4366260" y="1668622"/>
            <a:ext cx="3124200" cy="4846320"/>
          </a:xfrm>
          <a:prstGeom prst="roundRect">
            <a:avLst/>
          </a:prstGeom>
          <a:solidFill>
            <a:schemeClr val="bg1"/>
          </a:solidFill>
          <a:ln w="76200">
            <a:gradFill flip="none" rotWithShape="1">
              <a:gsLst>
                <a:gs pos="90000">
                  <a:schemeClr val="accent5">
                    <a:lumMod val="40000"/>
                    <a:lumOff val="60000"/>
                  </a:schemeClr>
                </a:gs>
                <a:gs pos="13000">
                  <a:schemeClr val="accent5">
                    <a:lumMod val="40000"/>
                    <a:lumOff val="60000"/>
                  </a:schemeClr>
                </a:gs>
                <a:gs pos="50000">
                  <a:schemeClr val="accent4">
                    <a:lumMod val="5000"/>
                    <a:lumOff val="95000"/>
                  </a:schemeClr>
                </a:gs>
                <a:gs pos="0">
                  <a:schemeClr val="accent5">
                    <a:lumMod val="75000"/>
                  </a:schemeClr>
                </a:gs>
                <a:gs pos="100000">
                  <a:schemeClr val="accent5">
                    <a:lumMod val="75000"/>
                  </a:schemeClr>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accent5">
                    <a:lumMod val="75000"/>
                  </a:schemeClr>
                </a:solidFill>
              </a:rPr>
              <a:t>Semantic Precision:</a:t>
            </a:r>
          </a:p>
          <a:p>
            <a:pPr algn="ctr"/>
            <a:r>
              <a:rPr lang="en-US" sz="2400" dirty="0">
                <a:solidFill>
                  <a:schemeClr val="tx1"/>
                </a:solidFill>
              </a:rPr>
              <a:t>All terms and variables need </a:t>
            </a:r>
            <a:r>
              <a:rPr lang="en-US" sz="2400" b="1" dirty="0">
                <a:solidFill>
                  <a:schemeClr val="accent5">
                    <a:lumMod val="75000"/>
                  </a:schemeClr>
                </a:solidFill>
              </a:rPr>
              <a:t> </a:t>
            </a:r>
            <a:r>
              <a:rPr lang="en-US" sz="2400" dirty="0">
                <a:solidFill>
                  <a:schemeClr val="tx1"/>
                </a:solidFill>
              </a:rPr>
              <a:t>to be defined within the diagram </a:t>
            </a:r>
          </a:p>
        </p:txBody>
      </p:sp>
    </p:spTree>
    <p:extLst>
      <p:ext uri="{BB962C8B-B14F-4D97-AF65-F5344CB8AC3E}">
        <p14:creationId xmlns:p14="http://schemas.microsoft.com/office/powerpoint/2010/main" val="1369677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73AA3-D22E-5399-1747-9AC66553D5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D16EF8-82AA-3EAD-D68B-BD4F5B3B24A5}"/>
              </a:ext>
            </a:extLst>
          </p:cNvPr>
          <p:cNvSpPr>
            <a:spLocks noGrp="1"/>
          </p:cNvSpPr>
          <p:nvPr>
            <p:ph type="title"/>
          </p:nvPr>
        </p:nvSpPr>
        <p:spPr/>
        <p:txBody>
          <a:bodyPr/>
          <a:lstStyle/>
          <a:p>
            <a:r>
              <a:rPr lang="en-US" b="1" dirty="0">
                <a:solidFill>
                  <a:srgbClr val="A02B93"/>
                </a:solidFill>
              </a:rPr>
              <a:t>Challenges</a:t>
            </a:r>
          </a:p>
        </p:txBody>
      </p:sp>
      <p:sp>
        <p:nvSpPr>
          <p:cNvPr id="3" name="Content Placeholder 2">
            <a:extLst>
              <a:ext uri="{FF2B5EF4-FFF2-40B4-BE49-F238E27FC236}">
                <a16:creationId xmlns:a16="http://schemas.microsoft.com/office/drawing/2014/main" id="{2548B1ED-A4EF-8CF8-05A8-6FBCCD0B34CF}"/>
              </a:ext>
            </a:extLst>
          </p:cNvPr>
          <p:cNvSpPr>
            <a:spLocks noGrp="1"/>
          </p:cNvSpPr>
          <p:nvPr>
            <p:ph idx="1"/>
          </p:nvPr>
        </p:nvSpPr>
        <p:spPr/>
        <p:txBody>
          <a:bodyPr/>
          <a:lstStyle/>
          <a:p>
            <a:r>
              <a:rPr lang="en-US" dirty="0"/>
              <a:t>How do we evaluate diagrams?</a:t>
            </a:r>
          </a:p>
          <a:p>
            <a:r>
              <a:rPr lang="en-US" dirty="0"/>
              <a:t>How do we handle noise and big packets?</a:t>
            </a:r>
          </a:p>
          <a:p>
            <a:r>
              <a:rPr lang="en-US" dirty="0"/>
              <a:t>Hallucination of the LLMs</a:t>
            </a:r>
          </a:p>
          <a:p>
            <a:r>
              <a:rPr lang="en-US" dirty="0"/>
              <a:t>Generalization Constraints</a:t>
            </a:r>
          </a:p>
          <a:p>
            <a:r>
              <a:rPr lang="en-US" dirty="0"/>
              <a:t>Window Constraints</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9176747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BF1AE-E4A2-532F-0B43-93A765D163D6}"/>
              </a:ext>
            </a:extLst>
          </p:cNvPr>
          <p:cNvSpPr>
            <a:spLocks noGrp="1"/>
          </p:cNvSpPr>
          <p:nvPr>
            <p:ph type="title"/>
          </p:nvPr>
        </p:nvSpPr>
        <p:spPr/>
        <p:txBody>
          <a:bodyPr/>
          <a:lstStyle/>
          <a:p>
            <a:r>
              <a:rPr lang="en-US" b="1" dirty="0">
                <a:solidFill>
                  <a:srgbClr val="A02B93"/>
                </a:solidFill>
              </a:rPr>
              <a:t>How to Evaluate?</a:t>
            </a:r>
          </a:p>
        </p:txBody>
      </p:sp>
      <p:sp>
        <p:nvSpPr>
          <p:cNvPr id="3" name="Content Placeholder 2">
            <a:extLst>
              <a:ext uri="{FF2B5EF4-FFF2-40B4-BE49-F238E27FC236}">
                <a16:creationId xmlns:a16="http://schemas.microsoft.com/office/drawing/2014/main" id="{6D35ACFE-CD7E-C8C1-254F-69FE1A21B770}"/>
              </a:ext>
            </a:extLst>
          </p:cNvPr>
          <p:cNvSpPr>
            <a:spLocks noGrp="1"/>
          </p:cNvSpPr>
          <p:nvPr>
            <p:ph idx="1"/>
          </p:nvPr>
        </p:nvSpPr>
        <p:spPr>
          <a:xfrm>
            <a:off x="520204" y="1931739"/>
            <a:ext cx="3503859" cy="2018217"/>
          </a:xfrm>
        </p:spPr>
        <p:txBody>
          <a:bodyPr>
            <a:normAutofit/>
          </a:bodyPr>
          <a:lstStyle/>
          <a:p>
            <a:pPr marL="0" indent="0" algn="ctr">
              <a:buNone/>
            </a:pPr>
            <a:r>
              <a:rPr lang="en-US" sz="1900" b="1" dirty="0">
                <a:solidFill>
                  <a:schemeClr val="accent5">
                    <a:lumMod val="50000"/>
                  </a:schemeClr>
                </a:solidFill>
              </a:rPr>
              <a:t>Quantitative Evaluation</a:t>
            </a:r>
          </a:p>
          <a:p>
            <a:pPr marL="0" indent="0" algn="ctr">
              <a:buNone/>
            </a:pPr>
            <a:r>
              <a:rPr lang="en-US" sz="1600" u="sng" dirty="0"/>
              <a:t>Syntax Correction</a:t>
            </a:r>
            <a:r>
              <a:rPr lang="en-US" sz="1600" dirty="0"/>
              <a:t>: Mermaid CLI</a:t>
            </a:r>
            <a:endParaRPr lang="en-US" sz="1600" b="1" dirty="0"/>
          </a:p>
          <a:p>
            <a:pPr marL="0" indent="0" algn="ctr">
              <a:buNone/>
            </a:pPr>
            <a:r>
              <a:rPr lang="en-US" sz="1600" u="sng" dirty="0"/>
              <a:t>Structural Fidelity</a:t>
            </a:r>
            <a:r>
              <a:rPr lang="en-US" sz="1600" dirty="0"/>
              <a:t>: GED, </a:t>
            </a:r>
            <a:r>
              <a:rPr lang="en-US" sz="1600" dirty="0">
                <a:hlinkClick r:id="rId3"/>
              </a:rPr>
              <a:t>DiagramEval</a:t>
            </a:r>
            <a:endParaRPr lang="en-US" sz="1600" dirty="0"/>
          </a:p>
          <a:p>
            <a:pPr marL="0" indent="0" algn="ctr">
              <a:buNone/>
            </a:pPr>
            <a:r>
              <a:rPr lang="en-US" sz="1600" u="sng" dirty="0"/>
              <a:t>Metrics</a:t>
            </a:r>
            <a:r>
              <a:rPr lang="en-US" sz="1600" dirty="0"/>
              <a:t>: Precision/Recall, F1-score</a:t>
            </a:r>
          </a:p>
          <a:p>
            <a:pPr marL="0" indent="0" algn="ctr">
              <a:buNone/>
            </a:pPr>
            <a:endParaRPr lang="en-US" sz="1600" dirty="0"/>
          </a:p>
        </p:txBody>
      </p:sp>
      <p:sp>
        <p:nvSpPr>
          <p:cNvPr id="4" name="Content Placeholder 2">
            <a:extLst>
              <a:ext uri="{FF2B5EF4-FFF2-40B4-BE49-F238E27FC236}">
                <a16:creationId xmlns:a16="http://schemas.microsoft.com/office/drawing/2014/main" id="{5126A984-62BD-6A81-DDD3-B13A75A68D71}"/>
              </a:ext>
            </a:extLst>
          </p:cNvPr>
          <p:cNvSpPr txBox="1">
            <a:spLocks/>
          </p:cNvSpPr>
          <p:nvPr/>
        </p:nvSpPr>
        <p:spPr>
          <a:xfrm>
            <a:off x="8416413" y="1904112"/>
            <a:ext cx="2937387" cy="17172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800" b="1" dirty="0">
                <a:solidFill>
                  <a:schemeClr val="accent5">
                    <a:lumMod val="50000"/>
                  </a:schemeClr>
                </a:solidFill>
              </a:rPr>
              <a:t>Qualitative</a:t>
            </a:r>
            <a:r>
              <a:rPr lang="en-US" sz="1800" b="1" dirty="0"/>
              <a:t> </a:t>
            </a:r>
          </a:p>
          <a:p>
            <a:pPr marL="0" indent="0" algn="ctr">
              <a:buFont typeface="Arial" panose="020B0604020202020204" pitchFamily="34" charset="0"/>
              <a:buNone/>
            </a:pPr>
            <a:r>
              <a:rPr lang="en-US" sz="1800" dirty="0"/>
              <a:t>Satisfying Density Ratio (Packets/Node)</a:t>
            </a:r>
          </a:p>
          <a:p>
            <a:pPr marL="0" indent="0" algn="ctr">
              <a:buFont typeface="Arial" panose="020B0604020202020204" pitchFamily="34" charset="0"/>
              <a:buNone/>
            </a:pPr>
            <a:r>
              <a:rPr lang="en-US" sz="1800" dirty="0"/>
              <a:t>Clarity </a:t>
            </a:r>
          </a:p>
          <a:p>
            <a:pPr marL="0" indent="0" algn="ctr">
              <a:buFont typeface="Arial" panose="020B0604020202020204" pitchFamily="34" charset="0"/>
              <a:buNone/>
            </a:pPr>
            <a:endParaRPr lang="en-US" sz="1800" dirty="0"/>
          </a:p>
        </p:txBody>
      </p:sp>
      <p:sp>
        <p:nvSpPr>
          <p:cNvPr id="5" name="Content Placeholder 2">
            <a:extLst>
              <a:ext uri="{FF2B5EF4-FFF2-40B4-BE49-F238E27FC236}">
                <a16:creationId xmlns:a16="http://schemas.microsoft.com/office/drawing/2014/main" id="{06E22DCC-C5FA-710E-C0E4-0CD52352E89C}"/>
              </a:ext>
            </a:extLst>
          </p:cNvPr>
          <p:cNvSpPr txBox="1">
            <a:spLocks/>
          </p:cNvSpPr>
          <p:nvPr/>
        </p:nvSpPr>
        <p:spPr>
          <a:xfrm>
            <a:off x="4627306" y="1927865"/>
            <a:ext cx="2937387" cy="24001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800" b="1" dirty="0">
                <a:solidFill>
                  <a:schemeClr val="accent5">
                    <a:lumMod val="50000"/>
                  </a:schemeClr>
                </a:solidFill>
              </a:rPr>
              <a:t>Researcher Review  </a:t>
            </a:r>
          </a:p>
          <a:p>
            <a:pPr marL="0" indent="0" algn="ctr">
              <a:buFont typeface="Arial" panose="020B0604020202020204" pitchFamily="34" charset="0"/>
              <a:buNone/>
            </a:pPr>
            <a:r>
              <a:rPr lang="en-US" sz="1600" dirty="0"/>
              <a:t>Creating manual metrics and a poll for researchers to rank diagrams quality </a:t>
            </a:r>
          </a:p>
          <a:p>
            <a:pPr marL="0" indent="0" algn="ctr">
              <a:buFont typeface="Arial" panose="020B0604020202020204" pitchFamily="34" charset="0"/>
              <a:buNone/>
            </a:pPr>
            <a:r>
              <a:rPr lang="en-US" sz="1600" dirty="0"/>
              <a:t>Verifiability of diagrams </a:t>
            </a:r>
          </a:p>
          <a:p>
            <a:pPr marL="0" indent="0" algn="ctr">
              <a:buFont typeface="Arial" panose="020B0604020202020204" pitchFamily="34" charset="0"/>
              <a:buNone/>
            </a:pPr>
            <a:endParaRPr lang="en-US" sz="1500" dirty="0"/>
          </a:p>
        </p:txBody>
      </p:sp>
      <p:grpSp>
        <p:nvGrpSpPr>
          <p:cNvPr id="19" name="Group 18">
            <a:extLst>
              <a:ext uri="{FF2B5EF4-FFF2-40B4-BE49-F238E27FC236}">
                <a16:creationId xmlns:a16="http://schemas.microsoft.com/office/drawing/2014/main" id="{EE4296D2-5677-0824-5683-076DCA4DDC76}"/>
              </a:ext>
            </a:extLst>
          </p:cNvPr>
          <p:cNvGrpSpPr/>
          <p:nvPr/>
        </p:nvGrpSpPr>
        <p:grpSpPr>
          <a:xfrm>
            <a:off x="3046810" y="3784773"/>
            <a:ext cx="6322647" cy="2175933"/>
            <a:chOff x="3046810" y="3784773"/>
            <a:chExt cx="6322647" cy="2175933"/>
          </a:xfrm>
        </p:grpSpPr>
        <p:sp>
          <p:nvSpPr>
            <p:cNvPr id="7" name="TextBox 6">
              <a:extLst>
                <a:ext uri="{FF2B5EF4-FFF2-40B4-BE49-F238E27FC236}">
                  <a16:creationId xmlns:a16="http://schemas.microsoft.com/office/drawing/2014/main" id="{F5A46B66-DAB0-C3FB-355E-E7558F4E4E2B}"/>
                </a:ext>
              </a:extLst>
            </p:cNvPr>
            <p:cNvSpPr txBox="1"/>
            <p:nvPr/>
          </p:nvSpPr>
          <p:spPr>
            <a:xfrm>
              <a:off x="3046810" y="4293395"/>
              <a:ext cx="1853550" cy="1021556"/>
            </a:xfrm>
            <a:prstGeom prst="roundRect">
              <a:avLst/>
            </a:prstGeom>
            <a:noFill/>
            <a:ln w="57150">
              <a:solidFill>
                <a:schemeClr val="accent5">
                  <a:lumMod val="50000"/>
                </a:schemeClr>
              </a:solidFill>
            </a:ln>
          </p:spPr>
          <p:txBody>
            <a:bodyPr wrap="square">
              <a:spAutoFit/>
            </a:bodyPr>
            <a:lstStyle/>
            <a:p>
              <a:pPr algn="ctr"/>
              <a:r>
                <a:rPr lang="en-US" b="1" dirty="0"/>
                <a:t>Ground Truth</a:t>
              </a:r>
            </a:p>
            <a:p>
              <a:pPr algn="ctr"/>
              <a:r>
                <a:rPr lang="en-US" dirty="0"/>
                <a:t>12 protocol events</a:t>
              </a:r>
            </a:p>
          </p:txBody>
        </p:sp>
        <p:cxnSp>
          <p:nvCxnSpPr>
            <p:cNvPr id="9" name="Straight Arrow Connector 8">
              <a:extLst>
                <a:ext uri="{FF2B5EF4-FFF2-40B4-BE49-F238E27FC236}">
                  <a16:creationId xmlns:a16="http://schemas.microsoft.com/office/drawing/2014/main" id="{5EB1AFB2-35C2-DE54-8B7E-833F9EF27920}"/>
                </a:ext>
              </a:extLst>
            </p:cNvPr>
            <p:cNvCxnSpPr/>
            <p:nvPr/>
          </p:nvCxnSpPr>
          <p:spPr>
            <a:xfrm>
              <a:off x="5158538" y="4879421"/>
              <a:ext cx="2187615" cy="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11" name="TextBox 10">
              <a:extLst>
                <a:ext uri="{FF2B5EF4-FFF2-40B4-BE49-F238E27FC236}">
                  <a16:creationId xmlns:a16="http://schemas.microsoft.com/office/drawing/2014/main" id="{41D755EC-1389-F508-C667-B7935F6C9C21}"/>
                </a:ext>
              </a:extLst>
            </p:cNvPr>
            <p:cNvSpPr txBox="1"/>
            <p:nvPr/>
          </p:nvSpPr>
          <p:spPr>
            <a:xfrm>
              <a:off x="5148736" y="4311525"/>
              <a:ext cx="2187615" cy="369332"/>
            </a:xfrm>
            <a:prstGeom prst="rect">
              <a:avLst/>
            </a:prstGeom>
            <a:noFill/>
          </p:spPr>
          <p:txBody>
            <a:bodyPr wrap="square">
              <a:spAutoFit/>
            </a:bodyPr>
            <a:lstStyle/>
            <a:p>
              <a:r>
                <a:rPr lang="en-US" dirty="0"/>
                <a:t>Diagram shows 10</a:t>
              </a:r>
            </a:p>
          </p:txBody>
        </p:sp>
        <p:sp>
          <p:nvSpPr>
            <p:cNvPr id="13" name="TextBox 12">
              <a:extLst>
                <a:ext uri="{FF2B5EF4-FFF2-40B4-BE49-F238E27FC236}">
                  <a16:creationId xmlns:a16="http://schemas.microsoft.com/office/drawing/2014/main" id="{CB1104C2-8E95-9D40-1A2F-AE01B78BE641}"/>
                </a:ext>
              </a:extLst>
            </p:cNvPr>
            <p:cNvSpPr txBox="1"/>
            <p:nvPr/>
          </p:nvSpPr>
          <p:spPr>
            <a:xfrm>
              <a:off x="5399038" y="4966522"/>
              <a:ext cx="1687010" cy="369332"/>
            </a:xfrm>
            <a:prstGeom prst="rect">
              <a:avLst/>
            </a:prstGeom>
            <a:noFill/>
          </p:spPr>
          <p:txBody>
            <a:bodyPr wrap="square">
              <a:spAutoFit/>
            </a:bodyPr>
            <a:lstStyle/>
            <a:p>
              <a:r>
                <a:rPr lang="en-US" dirty="0"/>
                <a:t>8 are correct</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716AD31-A674-F266-1F96-A77E96EE2302}"/>
                    </a:ext>
                  </a:extLst>
                </p:cNvPr>
                <p:cNvSpPr txBox="1"/>
                <p:nvPr/>
              </p:nvSpPr>
              <p:spPr>
                <a:xfrm>
                  <a:off x="7732147" y="4668428"/>
                  <a:ext cx="1623022" cy="535537"/>
                </a:xfrm>
                <a:prstGeom prst="roundRect">
                  <a:avLst/>
                </a:prstGeom>
                <a:noFill/>
                <a:ln w="57150">
                  <a:solidFill>
                    <a:schemeClr val="accent5">
                      <a:lumMod val="60000"/>
                      <a:lumOff val="40000"/>
                    </a:schemeClr>
                  </a:solidFill>
                </a:ln>
              </p:spPr>
              <p:txBody>
                <a:bodyPr wrap="square">
                  <a:spAutoFit/>
                </a:bodyPr>
                <a:lstStyle/>
                <a:p>
                  <a:pPr algn="ctr"/>
                  <a:r>
                    <a:rPr lang="en-US" dirty="0"/>
                    <a:t>Recall = </a:t>
                  </a:r>
                  <a14:m>
                    <m:oMath xmlns:m="http://schemas.openxmlformats.org/officeDocument/2006/math">
                      <m:f>
                        <m:fPr>
                          <m:ctrlPr>
                            <a:rPr lang="en-US" i="1" dirty="0">
                              <a:latin typeface="Cambria Math" panose="02040503050406030204" pitchFamily="18" charset="0"/>
                            </a:rPr>
                          </m:ctrlPr>
                        </m:fPr>
                        <m:num>
                          <m:r>
                            <a:rPr lang="en-US" i="1" dirty="0">
                              <a:latin typeface="Cambria Math" panose="02040503050406030204" pitchFamily="18" charset="0"/>
                            </a:rPr>
                            <m:t>8</m:t>
                          </m:r>
                        </m:num>
                        <m:den>
                          <m:r>
                            <a:rPr lang="en-US" i="1" dirty="0">
                              <a:latin typeface="Cambria Math" panose="02040503050406030204" pitchFamily="18" charset="0"/>
                            </a:rPr>
                            <m:t>12</m:t>
                          </m:r>
                        </m:den>
                      </m:f>
                    </m:oMath>
                  </a14:m>
                  <a:endParaRPr lang="en-US" dirty="0"/>
                </a:p>
              </p:txBody>
            </p:sp>
          </mc:Choice>
          <mc:Fallback xmlns="">
            <p:sp>
              <p:nvSpPr>
                <p:cNvPr id="15" name="TextBox 14">
                  <a:extLst>
                    <a:ext uri="{FF2B5EF4-FFF2-40B4-BE49-F238E27FC236}">
                      <a16:creationId xmlns:a16="http://schemas.microsoft.com/office/drawing/2014/main" id="{F716AD31-A674-F266-1F96-A77E96EE2302}"/>
                    </a:ext>
                  </a:extLst>
                </p:cNvPr>
                <p:cNvSpPr txBox="1">
                  <a:spLocks noRot="1" noChangeAspect="1" noMove="1" noResize="1" noEditPoints="1" noAdjustHandles="1" noChangeArrowheads="1" noChangeShapeType="1" noTextEdit="1"/>
                </p:cNvSpPr>
                <p:nvPr/>
              </p:nvSpPr>
              <p:spPr>
                <a:xfrm>
                  <a:off x="7732147" y="4668428"/>
                  <a:ext cx="1623022" cy="535537"/>
                </a:xfrm>
                <a:prstGeom prst="roundRect">
                  <a:avLst/>
                </a:prstGeom>
                <a:blipFill>
                  <a:blip r:embed="rId4"/>
                  <a:stretch>
                    <a:fillRect/>
                  </a:stretch>
                </a:blipFill>
                <a:ln w="57150">
                  <a:solidFill>
                    <a:schemeClr val="accent5">
                      <a:lumMod val="60000"/>
                      <a:lumOff val="40000"/>
                    </a:schemeClr>
                  </a:solidFill>
                </a:ln>
              </p:spPr>
              <p:txBody>
                <a:bodyPr/>
                <a:lstStyle/>
                <a:p>
                  <a:r>
                    <a:rPr lang="en-US">
                      <a:noFill/>
                    </a:rPr>
                    <a:t> </a:t>
                  </a:r>
                </a:p>
              </p:txBody>
            </p:sp>
          </mc:Fallback>
        </mc:AlternateContent>
        <p:sp>
          <p:nvSpPr>
            <p:cNvPr id="17" name="TextBox 16">
              <a:extLst>
                <a:ext uri="{FF2B5EF4-FFF2-40B4-BE49-F238E27FC236}">
                  <a16:creationId xmlns:a16="http://schemas.microsoft.com/office/drawing/2014/main" id="{E9B58790-073C-7001-87A2-FC5C6BD0EFE3}"/>
                </a:ext>
              </a:extLst>
            </p:cNvPr>
            <p:cNvSpPr txBox="1"/>
            <p:nvPr/>
          </p:nvSpPr>
          <p:spPr>
            <a:xfrm>
              <a:off x="7746435" y="5552083"/>
              <a:ext cx="1623022" cy="408623"/>
            </a:xfrm>
            <a:prstGeom prst="roundRect">
              <a:avLst/>
            </a:prstGeom>
            <a:solidFill>
              <a:schemeClr val="bg1"/>
            </a:solidFill>
            <a:ln w="57150">
              <a:solidFill>
                <a:srgbClr val="A02B93"/>
              </a:solidFill>
            </a:ln>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dirty="0"/>
                <a:t>F1 ≈ 0.73</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D63EFA0-58C3-1053-81CA-5A1025285332}"/>
                    </a:ext>
                  </a:extLst>
                </p:cNvPr>
                <p:cNvSpPr txBox="1"/>
                <p:nvPr/>
              </p:nvSpPr>
              <p:spPr>
                <a:xfrm>
                  <a:off x="7732147" y="3784773"/>
                  <a:ext cx="1623022" cy="537452"/>
                </a:xfrm>
                <a:prstGeom prst="roundRect">
                  <a:avLst/>
                </a:prstGeom>
                <a:noFill/>
                <a:ln w="57150">
                  <a:solidFill>
                    <a:schemeClr val="accent5">
                      <a:lumMod val="20000"/>
                      <a:lumOff val="80000"/>
                    </a:schemeClr>
                  </a:solidFill>
                </a:ln>
              </p:spPr>
              <p:txBody>
                <a:bodyPr wrap="square">
                  <a:spAutoFit/>
                </a:bodyPr>
                <a:lstStyle/>
                <a:p>
                  <a:pPr>
                    <a:buNone/>
                  </a:pPr>
                  <a:r>
                    <a:rPr lang="en-US" dirty="0"/>
                    <a:t>Precision = </a:t>
                  </a:r>
                  <a14:m>
                    <m:oMath xmlns:m="http://schemas.openxmlformats.org/officeDocument/2006/math">
                      <m:f>
                        <m:fPr>
                          <m:ctrlPr>
                            <a:rPr lang="en-US" i="1" dirty="0">
                              <a:latin typeface="Cambria Math" panose="02040503050406030204" pitchFamily="18" charset="0"/>
                            </a:rPr>
                          </m:ctrlPr>
                        </m:fPr>
                        <m:num>
                          <m:r>
                            <a:rPr lang="en-US" i="1" dirty="0">
                              <a:latin typeface="Cambria Math" panose="02040503050406030204" pitchFamily="18" charset="0"/>
                            </a:rPr>
                            <m:t>8</m:t>
                          </m:r>
                        </m:num>
                        <m:den>
                          <m:r>
                            <a:rPr lang="en-US" i="1" dirty="0">
                              <a:latin typeface="Cambria Math" panose="02040503050406030204" pitchFamily="18" charset="0"/>
                            </a:rPr>
                            <m:t>10</m:t>
                          </m:r>
                        </m:den>
                      </m:f>
                    </m:oMath>
                  </a14:m>
                  <a:endParaRPr lang="en-US" dirty="0"/>
                </a:p>
              </p:txBody>
            </p:sp>
          </mc:Choice>
          <mc:Fallback xmlns="">
            <p:sp>
              <p:nvSpPr>
                <p:cNvPr id="10" name="TextBox 9">
                  <a:extLst>
                    <a:ext uri="{FF2B5EF4-FFF2-40B4-BE49-F238E27FC236}">
                      <a16:creationId xmlns:a16="http://schemas.microsoft.com/office/drawing/2014/main" id="{3D63EFA0-58C3-1053-81CA-5A1025285332}"/>
                    </a:ext>
                  </a:extLst>
                </p:cNvPr>
                <p:cNvSpPr txBox="1">
                  <a:spLocks noRot="1" noChangeAspect="1" noMove="1" noResize="1" noEditPoints="1" noAdjustHandles="1" noChangeArrowheads="1" noChangeShapeType="1" noTextEdit="1"/>
                </p:cNvSpPr>
                <p:nvPr/>
              </p:nvSpPr>
              <p:spPr>
                <a:xfrm>
                  <a:off x="7732147" y="3784773"/>
                  <a:ext cx="1623022" cy="537452"/>
                </a:xfrm>
                <a:prstGeom prst="roundRect">
                  <a:avLst/>
                </a:prstGeom>
                <a:blipFill>
                  <a:blip r:embed="rId5"/>
                  <a:stretch>
                    <a:fillRect/>
                  </a:stretch>
                </a:blipFill>
                <a:ln w="57150">
                  <a:solidFill>
                    <a:schemeClr val="accent5">
                      <a:lumMod val="20000"/>
                      <a:lumOff val="80000"/>
                    </a:schemeClr>
                  </a:solidFill>
                </a:ln>
              </p:spPr>
              <p:txBody>
                <a:bodyPr/>
                <a:lstStyle/>
                <a:p>
                  <a:r>
                    <a:rPr lang="en-US">
                      <a:noFill/>
                    </a:rPr>
                    <a:t> </a:t>
                  </a:r>
                </a:p>
              </p:txBody>
            </p:sp>
          </mc:Fallback>
        </mc:AlternateContent>
      </p:grpSp>
    </p:spTree>
    <p:extLst>
      <p:ext uri="{BB962C8B-B14F-4D97-AF65-F5344CB8AC3E}">
        <p14:creationId xmlns:p14="http://schemas.microsoft.com/office/powerpoint/2010/main" val="1305756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500"/>
                                        <p:tgtEl>
                                          <p:spTgt spid="1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97962-95B7-587A-1B1E-02D3B7F93F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3859F6-28AE-AE11-647B-92B5001091FD}"/>
              </a:ext>
            </a:extLst>
          </p:cNvPr>
          <p:cNvSpPr>
            <a:spLocks noGrp="1"/>
          </p:cNvSpPr>
          <p:nvPr>
            <p:ph type="title"/>
          </p:nvPr>
        </p:nvSpPr>
        <p:spPr/>
        <p:txBody>
          <a:bodyPr/>
          <a:lstStyle/>
          <a:p>
            <a:r>
              <a:rPr lang="en-US" b="1" dirty="0">
                <a:solidFill>
                  <a:srgbClr val="A02B93"/>
                </a:solidFill>
              </a:rPr>
              <a:t>Handling Noise: Packet Preprocessing</a:t>
            </a:r>
            <a:endParaRPr lang="en-US" dirty="0"/>
          </a:p>
        </p:txBody>
      </p:sp>
      <p:sp>
        <p:nvSpPr>
          <p:cNvPr id="3" name="Content Placeholder 2">
            <a:extLst>
              <a:ext uri="{FF2B5EF4-FFF2-40B4-BE49-F238E27FC236}">
                <a16:creationId xmlns:a16="http://schemas.microsoft.com/office/drawing/2014/main" id="{EA48EACB-2A6F-2577-010F-BAD247DBDA10}"/>
              </a:ext>
            </a:extLst>
          </p:cNvPr>
          <p:cNvSpPr>
            <a:spLocks noGrp="1"/>
          </p:cNvSpPr>
          <p:nvPr>
            <p:ph idx="1"/>
          </p:nvPr>
        </p:nvSpPr>
        <p:spPr/>
        <p:txBody>
          <a:bodyPr>
            <a:normAutofit fontScale="85000" lnSpcReduction="20000"/>
          </a:bodyPr>
          <a:lstStyle/>
          <a:p>
            <a:pPr marL="0" indent="0">
              <a:buNone/>
            </a:pPr>
            <a:r>
              <a:rPr lang="en-US" b="1" dirty="0">
                <a:solidFill>
                  <a:srgbClr val="9900CC"/>
                </a:solidFill>
              </a:rPr>
              <a:t>Noise Removal:</a:t>
            </a:r>
          </a:p>
          <a:p>
            <a:r>
              <a:rPr lang="en-US" dirty="0"/>
              <a:t>Remove Packets that have no IP layer (2</a:t>
            </a:r>
            <a:r>
              <a:rPr lang="en-US" baseline="30000" dirty="0"/>
              <a:t>nd</a:t>
            </a:r>
            <a:r>
              <a:rPr lang="en-US" dirty="0"/>
              <a:t> layer, ARP)</a:t>
            </a:r>
          </a:p>
          <a:p>
            <a:r>
              <a:rPr lang="en-US" dirty="0"/>
              <a:t>Remove ICMP layers</a:t>
            </a:r>
          </a:p>
          <a:p>
            <a:pPr marL="0" indent="0">
              <a:buNone/>
            </a:pPr>
            <a:r>
              <a:rPr lang="en-US" b="1" dirty="0">
                <a:solidFill>
                  <a:srgbClr val="9900CC"/>
                </a:solidFill>
              </a:rPr>
              <a:t>Fingerprint: </a:t>
            </a:r>
          </a:p>
          <a:p>
            <a:r>
              <a:rPr lang="en-US" dirty="0"/>
              <a:t>TCP: Flags + </a:t>
            </a:r>
            <a:r>
              <a:rPr lang="en-US" dirty="0" err="1"/>
              <a:t>Dport</a:t>
            </a:r>
            <a:r>
              <a:rPr lang="en-US" dirty="0"/>
              <a:t> </a:t>
            </a:r>
          </a:p>
          <a:p>
            <a:r>
              <a:rPr lang="en-US" dirty="0"/>
              <a:t>UDP: </a:t>
            </a:r>
            <a:r>
              <a:rPr lang="en-US" dirty="0" err="1"/>
              <a:t>Dport</a:t>
            </a:r>
            <a:r>
              <a:rPr lang="en-US" dirty="0"/>
              <a:t> </a:t>
            </a:r>
          </a:p>
          <a:p>
            <a:r>
              <a:rPr lang="en-US" dirty="0"/>
              <a:t>DNS: Domain name </a:t>
            </a:r>
          </a:p>
          <a:p>
            <a:pPr marL="0" indent="0">
              <a:buNone/>
            </a:pPr>
            <a:r>
              <a:rPr lang="en-US" b="1" dirty="0">
                <a:solidFill>
                  <a:srgbClr val="9900CC"/>
                </a:solidFill>
              </a:rPr>
              <a:t>Pattern Finding:</a:t>
            </a:r>
          </a:p>
          <a:p>
            <a:r>
              <a:rPr lang="en-US" dirty="0"/>
              <a:t>Pick at most </a:t>
            </a:r>
            <a:r>
              <a:rPr lang="en-US" dirty="0" err="1">
                <a:solidFill>
                  <a:srgbClr val="C836B7"/>
                </a:solidFill>
              </a:rPr>
              <a:t>sampling_limit</a:t>
            </a:r>
            <a:r>
              <a:rPr lang="en-US" dirty="0"/>
              <a:t>  packets with the same fingerprint</a:t>
            </a:r>
          </a:p>
          <a:p>
            <a:pPr marL="0" indent="0">
              <a:buNone/>
            </a:pPr>
            <a:endParaRPr lang="en-US" dirty="0">
              <a:solidFill>
                <a:schemeClr val="accent5"/>
              </a:solidFill>
            </a:endParaRPr>
          </a:p>
          <a:p>
            <a:pPr marL="0" indent="0">
              <a:buNone/>
            </a:pPr>
            <a:r>
              <a:rPr lang="en-US" b="1" dirty="0">
                <a:solidFill>
                  <a:schemeClr val="accent5"/>
                </a:solidFill>
              </a:rPr>
              <a:t>Output a packet dictionary </a:t>
            </a:r>
          </a:p>
          <a:p>
            <a:pPr marL="0" indent="0">
              <a:buNone/>
            </a:pPr>
            <a:endParaRPr lang="en-US" dirty="0"/>
          </a:p>
        </p:txBody>
      </p:sp>
      <p:pic>
        <p:nvPicPr>
          <p:cNvPr id="5" name="Picture 4">
            <a:extLst>
              <a:ext uri="{FF2B5EF4-FFF2-40B4-BE49-F238E27FC236}">
                <a16:creationId xmlns:a16="http://schemas.microsoft.com/office/drawing/2014/main" id="{77331349-E153-B9EA-312C-C188037CCE69}"/>
              </a:ext>
            </a:extLst>
          </p:cNvPr>
          <p:cNvPicPr>
            <a:picLocks noChangeAspect="1"/>
          </p:cNvPicPr>
          <p:nvPr/>
        </p:nvPicPr>
        <p:blipFill>
          <a:blip r:embed="rId2"/>
          <a:stretch>
            <a:fillRect/>
          </a:stretch>
        </p:blipFill>
        <p:spPr>
          <a:xfrm>
            <a:off x="8438859" y="1891334"/>
            <a:ext cx="3554470" cy="2109960"/>
          </a:xfrm>
          <a:prstGeom prst="rect">
            <a:avLst/>
          </a:prstGeom>
        </p:spPr>
      </p:pic>
    </p:spTree>
    <p:extLst>
      <p:ext uri="{BB962C8B-B14F-4D97-AF65-F5344CB8AC3E}">
        <p14:creationId xmlns:p14="http://schemas.microsoft.com/office/powerpoint/2010/main" val="8317848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BE538-193D-5402-FC5A-00C0173F1A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B940A9-9776-7036-71F6-72BC6BFEC9AA}"/>
              </a:ext>
            </a:extLst>
          </p:cNvPr>
          <p:cNvSpPr>
            <a:spLocks noGrp="1"/>
          </p:cNvSpPr>
          <p:nvPr>
            <p:ph type="title"/>
          </p:nvPr>
        </p:nvSpPr>
        <p:spPr/>
        <p:txBody>
          <a:bodyPr/>
          <a:lstStyle/>
          <a:p>
            <a:r>
              <a:rPr lang="en-US" b="1" dirty="0">
                <a:solidFill>
                  <a:srgbClr val="A02B93"/>
                </a:solidFill>
              </a:rPr>
              <a:t>Handling Hallucinations: The second agent</a:t>
            </a:r>
            <a:endParaRPr lang="en-US" dirty="0"/>
          </a:p>
        </p:txBody>
      </p:sp>
      <p:sp>
        <p:nvSpPr>
          <p:cNvPr id="3" name="Content Placeholder 2">
            <a:extLst>
              <a:ext uri="{FF2B5EF4-FFF2-40B4-BE49-F238E27FC236}">
                <a16:creationId xmlns:a16="http://schemas.microsoft.com/office/drawing/2014/main" id="{DF5FBF26-593C-BDE2-2437-9978CCEAC870}"/>
              </a:ext>
            </a:extLst>
          </p:cNvPr>
          <p:cNvSpPr>
            <a:spLocks noGrp="1"/>
          </p:cNvSpPr>
          <p:nvPr>
            <p:ph idx="1"/>
          </p:nvPr>
        </p:nvSpPr>
        <p:spPr/>
        <p:txBody>
          <a:bodyPr>
            <a:normAutofit/>
          </a:bodyPr>
          <a:lstStyle/>
          <a:p>
            <a:pPr marL="0" indent="0">
              <a:buNone/>
            </a:pPr>
            <a:r>
              <a:rPr lang="en-US" dirty="0"/>
              <a:t>- Adding a second agent for verification </a:t>
            </a:r>
          </a:p>
          <a:p>
            <a:pPr marL="0" indent="0">
              <a:buNone/>
            </a:pPr>
            <a:r>
              <a:rPr lang="en-US" dirty="0"/>
              <a:t>- Manual editing of diagrams is also available </a:t>
            </a:r>
          </a:p>
        </p:txBody>
      </p:sp>
    </p:spTree>
    <p:extLst>
      <p:ext uri="{BB962C8B-B14F-4D97-AF65-F5344CB8AC3E}">
        <p14:creationId xmlns:p14="http://schemas.microsoft.com/office/powerpoint/2010/main" val="31756715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85C4A-22B9-9E31-0B2D-2FE818C5B0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0773F8-2350-31C0-048B-D39B65C030A3}"/>
              </a:ext>
            </a:extLst>
          </p:cNvPr>
          <p:cNvSpPr>
            <a:spLocks noGrp="1"/>
          </p:cNvSpPr>
          <p:nvPr>
            <p:ph type="title"/>
          </p:nvPr>
        </p:nvSpPr>
        <p:spPr/>
        <p:txBody>
          <a:bodyPr/>
          <a:lstStyle/>
          <a:p>
            <a:r>
              <a:rPr lang="en-US" b="1" dirty="0">
                <a:solidFill>
                  <a:srgbClr val="A02B93"/>
                </a:solidFill>
              </a:rPr>
              <a:t>Generalization Constraints</a:t>
            </a:r>
          </a:p>
        </p:txBody>
      </p:sp>
      <p:sp>
        <p:nvSpPr>
          <p:cNvPr id="3" name="Content Placeholder 2">
            <a:extLst>
              <a:ext uri="{FF2B5EF4-FFF2-40B4-BE49-F238E27FC236}">
                <a16:creationId xmlns:a16="http://schemas.microsoft.com/office/drawing/2014/main" id="{094640D5-24B6-F605-35FC-1DDA02B5FA42}"/>
              </a:ext>
            </a:extLst>
          </p:cNvPr>
          <p:cNvSpPr>
            <a:spLocks noGrp="1"/>
          </p:cNvSpPr>
          <p:nvPr>
            <p:ph idx="1"/>
          </p:nvPr>
        </p:nvSpPr>
        <p:spPr/>
        <p:txBody>
          <a:bodyPr>
            <a:normAutofit/>
          </a:bodyPr>
          <a:lstStyle/>
          <a:p>
            <a:r>
              <a:rPr lang="en-US" b="1" dirty="0">
                <a:solidFill>
                  <a:schemeClr val="accent5">
                    <a:lumMod val="75000"/>
                  </a:schemeClr>
                </a:solidFill>
              </a:rPr>
              <a:t>Contextual Granularity: </a:t>
            </a:r>
            <a:r>
              <a:rPr lang="en-US" dirty="0"/>
              <a:t>Different research articles require different “lenses.” </a:t>
            </a:r>
          </a:p>
          <a:p>
            <a:r>
              <a:rPr lang="en-US" b="1" dirty="0">
                <a:solidFill>
                  <a:schemeClr val="accent5">
                    <a:lumMod val="75000"/>
                  </a:schemeClr>
                </a:solidFill>
              </a:rPr>
              <a:t>Structural Uniformity: </a:t>
            </a:r>
            <a:r>
              <a:rPr lang="en-US" dirty="0"/>
              <a:t>Maintaining a consistent style while adapting to the unique conventions of varying protocols</a:t>
            </a:r>
          </a:p>
        </p:txBody>
      </p:sp>
    </p:spTree>
    <p:extLst>
      <p:ext uri="{BB962C8B-B14F-4D97-AF65-F5344CB8AC3E}">
        <p14:creationId xmlns:p14="http://schemas.microsoft.com/office/powerpoint/2010/main" val="10215848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EE3C5-B567-CF35-664E-E132B1F51D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19B5E8-2229-73DB-5576-477B7106AE41}"/>
              </a:ext>
            </a:extLst>
          </p:cNvPr>
          <p:cNvSpPr>
            <a:spLocks noGrp="1"/>
          </p:cNvSpPr>
          <p:nvPr>
            <p:ph type="title"/>
          </p:nvPr>
        </p:nvSpPr>
        <p:spPr/>
        <p:txBody>
          <a:bodyPr/>
          <a:lstStyle/>
          <a:p>
            <a:r>
              <a:rPr lang="en-US" b="1" dirty="0">
                <a:solidFill>
                  <a:srgbClr val="A02B93"/>
                </a:solidFill>
              </a:rPr>
              <a:t>Window Constraints </a:t>
            </a:r>
          </a:p>
        </p:txBody>
      </p:sp>
      <p:sp>
        <p:nvSpPr>
          <p:cNvPr id="3" name="Content Placeholder 2">
            <a:extLst>
              <a:ext uri="{FF2B5EF4-FFF2-40B4-BE49-F238E27FC236}">
                <a16:creationId xmlns:a16="http://schemas.microsoft.com/office/drawing/2014/main" id="{BBE1D874-C6A0-FCDE-21C9-F62AF6F360BD}"/>
              </a:ext>
            </a:extLst>
          </p:cNvPr>
          <p:cNvSpPr>
            <a:spLocks noGrp="1"/>
          </p:cNvSpPr>
          <p:nvPr>
            <p:ph idx="1"/>
          </p:nvPr>
        </p:nvSpPr>
        <p:spPr/>
        <p:txBody>
          <a:bodyPr>
            <a:normAutofit/>
          </a:bodyPr>
          <a:lstStyle/>
          <a:p>
            <a:r>
              <a:rPr lang="en-US" b="1" dirty="0">
                <a:solidFill>
                  <a:schemeClr val="accent5">
                    <a:lumMod val="75000"/>
                  </a:schemeClr>
                </a:solidFill>
              </a:rPr>
              <a:t>LLM Memory Limits: </a:t>
            </a:r>
            <a:r>
              <a:rPr lang="en-US" dirty="0" err="1"/>
              <a:t>Pcap</a:t>
            </a:r>
            <a:r>
              <a:rPr lang="en-US" dirty="0"/>
              <a:t> Files can contain thousands of packets!</a:t>
            </a:r>
          </a:p>
          <a:p>
            <a:r>
              <a:rPr lang="en-US" b="1" dirty="0">
                <a:solidFill>
                  <a:schemeClr val="accent5">
                    <a:lumMod val="75000"/>
                  </a:schemeClr>
                </a:solidFill>
              </a:rPr>
              <a:t>The Pre-processing Dilemma: </a:t>
            </a:r>
            <a:r>
              <a:rPr lang="en-US" dirty="0"/>
              <a:t>Performing data reductions “breaks the story”</a:t>
            </a:r>
          </a:p>
        </p:txBody>
      </p:sp>
    </p:spTree>
    <p:extLst>
      <p:ext uri="{BB962C8B-B14F-4D97-AF65-F5344CB8AC3E}">
        <p14:creationId xmlns:p14="http://schemas.microsoft.com/office/powerpoint/2010/main" val="14946328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AD2B6-FC07-A199-A94B-5098BA3868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603CA7-4005-0DF9-B945-3E5D5CF938FB}"/>
              </a:ext>
            </a:extLst>
          </p:cNvPr>
          <p:cNvSpPr>
            <a:spLocks noGrp="1"/>
          </p:cNvSpPr>
          <p:nvPr>
            <p:ph type="title"/>
          </p:nvPr>
        </p:nvSpPr>
        <p:spPr/>
        <p:txBody>
          <a:bodyPr/>
          <a:lstStyle/>
          <a:p>
            <a:r>
              <a:rPr lang="en-US" b="1" dirty="0">
                <a:solidFill>
                  <a:srgbClr val="A02B93"/>
                </a:solidFill>
              </a:rPr>
              <a:t>Pipeline</a:t>
            </a:r>
          </a:p>
        </p:txBody>
      </p:sp>
      <p:sp>
        <p:nvSpPr>
          <p:cNvPr id="3" name="Content Placeholder 2">
            <a:extLst>
              <a:ext uri="{FF2B5EF4-FFF2-40B4-BE49-F238E27FC236}">
                <a16:creationId xmlns:a16="http://schemas.microsoft.com/office/drawing/2014/main" id="{6B00CB65-7933-6B90-41F3-265636996B25}"/>
              </a:ext>
            </a:extLst>
          </p:cNvPr>
          <p:cNvSpPr>
            <a:spLocks noGrp="1"/>
          </p:cNvSpPr>
          <p:nvPr>
            <p:ph idx="1"/>
          </p:nvPr>
        </p:nvSpPr>
        <p:spPr>
          <a:xfrm>
            <a:off x="989528" y="1698349"/>
            <a:ext cx="10409991" cy="3933492"/>
          </a:xfrm>
        </p:spPr>
        <p:txBody>
          <a:bodyPr/>
          <a:lstStyle/>
          <a:p>
            <a:pPr marL="0" indent="0">
              <a:buNone/>
            </a:pPr>
            <a:endParaRPr lang="en-US" dirty="0"/>
          </a:p>
          <a:p>
            <a:pPr marL="0" indent="0">
              <a:buNone/>
            </a:pPr>
            <a:endParaRPr lang="en-US" dirty="0"/>
          </a:p>
        </p:txBody>
      </p:sp>
      <p:sp>
        <p:nvSpPr>
          <p:cNvPr id="54" name="TextBox 53">
            <a:extLst>
              <a:ext uri="{FF2B5EF4-FFF2-40B4-BE49-F238E27FC236}">
                <a16:creationId xmlns:a16="http://schemas.microsoft.com/office/drawing/2014/main" id="{25309253-44E7-613B-19E2-A26E856BCEAB}"/>
              </a:ext>
            </a:extLst>
          </p:cNvPr>
          <p:cNvSpPr txBox="1"/>
          <p:nvPr/>
        </p:nvSpPr>
        <p:spPr>
          <a:xfrm>
            <a:off x="2365007" y="1690688"/>
            <a:ext cx="2418748" cy="1569660"/>
          </a:xfrm>
          <a:prstGeom prst="rect">
            <a:avLst/>
          </a:prstGeom>
          <a:noFill/>
        </p:spPr>
        <p:txBody>
          <a:bodyPr wrap="square" rtlCol="0">
            <a:spAutoFit/>
          </a:bodyPr>
          <a:lstStyle/>
          <a:p>
            <a:r>
              <a:rPr lang="he-IL" sz="2400" b="1" dirty="0">
                <a:solidFill>
                  <a:srgbClr val="FF0000"/>
                </a:solidFill>
              </a:rPr>
              <a:t>הסבר על כל שלב בפייפליין</a:t>
            </a:r>
          </a:p>
          <a:p>
            <a:r>
              <a:rPr lang="he-IL" sz="2400" b="1" dirty="0">
                <a:solidFill>
                  <a:srgbClr val="FF0000"/>
                </a:solidFill>
              </a:rPr>
              <a:t>כולל אינפוטים ואאטפוטים</a:t>
            </a:r>
            <a:endParaRPr lang="en-US" sz="2400" b="1" dirty="0">
              <a:solidFill>
                <a:srgbClr val="FF0000"/>
              </a:solidFill>
            </a:endParaRPr>
          </a:p>
        </p:txBody>
      </p:sp>
    </p:spTree>
    <p:extLst>
      <p:ext uri="{BB962C8B-B14F-4D97-AF65-F5344CB8AC3E}">
        <p14:creationId xmlns:p14="http://schemas.microsoft.com/office/powerpoint/2010/main" val="4405646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2DE5F-62C5-9FEB-568E-A76238875896}"/>
            </a:ext>
          </a:extLst>
        </p:cNvPr>
        <p:cNvGrpSpPr/>
        <p:nvPr/>
      </p:nvGrpSpPr>
      <p:grpSpPr>
        <a:xfrm>
          <a:off x="0" y="0"/>
          <a:ext cx="0" cy="0"/>
          <a:chOff x="0" y="0"/>
          <a:chExt cx="0" cy="0"/>
        </a:xfrm>
      </p:grpSpPr>
      <p:cxnSp>
        <p:nvCxnSpPr>
          <p:cNvPr id="12" name="Connector: Elbow 11">
            <a:extLst>
              <a:ext uri="{FF2B5EF4-FFF2-40B4-BE49-F238E27FC236}">
                <a16:creationId xmlns:a16="http://schemas.microsoft.com/office/drawing/2014/main" id="{2668C1E7-C0A3-2378-F188-2268CEFD3FC1}"/>
              </a:ext>
            </a:extLst>
          </p:cNvPr>
          <p:cNvCxnSpPr>
            <a:cxnSpLocks/>
            <a:stCxn id="6" idx="2"/>
            <a:endCxn id="7" idx="3"/>
          </p:cNvCxnSpPr>
          <p:nvPr/>
        </p:nvCxnSpPr>
        <p:spPr>
          <a:xfrm rot="5400000">
            <a:off x="8724839" y="2464216"/>
            <a:ext cx="1362788" cy="2031805"/>
          </a:xfrm>
          <a:prstGeom prst="bentConnector2">
            <a:avLst/>
          </a:prstGeom>
          <a:ln w="762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C42BF45B-A116-BF0B-426F-4F09058D34CE}"/>
              </a:ext>
            </a:extLst>
          </p:cNvPr>
          <p:cNvSpPr>
            <a:spLocks noGrp="1"/>
          </p:cNvSpPr>
          <p:nvPr>
            <p:ph type="title"/>
          </p:nvPr>
        </p:nvSpPr>
        <p:spPr/>
        <p:txBody>
          <a:bodyPr/>
          <a:lstStyle/>
          <a:p>
            <a:r>
              <a:rPr lang="en-US" b="1" dirty="0">
                <a:solidFill>
                  <a:srgbClr val="A02B93"/>
                </a:solidFill>
              </a:rPr>
              <a:t>Pipeline</a:t>
            </a:r>
          </a:p>
        </p:txBody>
      </p:sp>
      <p:sp>
        <p:nvSpPr>
          <p:cNvPr id="3" name="Content Placeholder 2">
            <a:extLst>
              <a:ext uri="{FF2B5EF4-FFF2-40B4-BE49-F238E27FC236}">
                <a16:creationId xmlns:a16="http://schemas.microsoft.com/office/drawing/2014/main" id="{A9C3DE63-2346-2927-03CE-B66ECDA4F214}"/>
              </a:ext>
            </a:extLst>
          </p:cNvPr>
          <p:cNvSpPr>
            <a:spLocks noGrp="1"/>
          </p:cNvSpPr>
          <p:nvPr>
            <p:ph idx="1"/>
          </p:nvPr>
        </p:nvSpPr>
        <p:spPr>
          <a:xfrm>
            <a:off x="989528" y="1698349"/>
            <a:ext cx="10409991" cy="3933492"/>
          </a:xfrm>
        </p:spPr>
        <p:txBody>
          <a:bodyPr/>
          <a:lstStyle/>
          <a:p>
            <a:pPr marL="0" indent="0">
              <a:buNone/>
            </a:pPr>
            <a:endParaRPr lang="en-US" dirty="0"/>
          </a:p>
          <a:p>
            <a:pPr marL="0" indent="0">
              <a:buNone/>
            </a:pPr>
            <a:endParaRPr lang="en-US" dirty="0"/>
          </a:p>
        </p:txBody>
      </p:sp>
      <p:grpSp>
        <p:nvGrpSpPr>
          <p:cNvPr id="11" name="Group 10">
            <a:extLst>
              <a:ext uri="{FF2B5EF4-FFF2-40B4-BE49-F238E27FC236}">
                <a16:creationId xmlns:a16="http://schemas.microsoft.com/office/drawing/2014/main" id="{11A4EA02-C94C-94ED-6BA4-C03AA3C8C26F}"/>
              </a:ext>
            </a:extLst>
          </p:cNvPr>
          <p:cNvGrpSpPr/>
          <p:nvPr/>
        </p:nvGrpSpPr>
        <p:grpSpPr>
          <a:xfrm>
            <a:off x="2314737" y="1304181"/>
            <a:ext cx="9455440" cy="4721827"/>
            <a:chOff x="655320" y="3048794"/>
            <a:chExt cx="10636192" cy="6018617"/>
          </a:xfrm>
        </p:grpSpPr>
        <p:sp>
          <p:nvSpPr>
            <p:cNvPr id="4" name="Rectangle: Rounded Corners 3">
              <a:extLst>
                <a:ext uri="{FF2B5EF4-FFF2-40B4-BE49-F238E27FC236}">
                  <a16:creationId xmlns:a16="http://schemas.microsoft.com/office/drawing/2014/main" id="{8DC0F91F-85BE-230C-E7B1-9D8989B6C0F4}"/>
                </a:ext>
              </a:extLst>
            </p:cNvPr>
            <p:cNvSpPr/>
            <p:nvPr/>
          </p:nvSpPr>
          <p:spPr>
            <a:xfrm>
              <a:off x="655320" y="3048794"/>
              <a:ext cx="3032760" cy="1905000"/>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Preprocessing and parsing</a:t>
              </a:r>
            </a:p>
          </p:txBody>
        </p:sp>
        <p:sp>
          <p:nvSpPr>
            <p:cNvPr id="5" name="Rectangle: Rounded Corners 4">
              <a:extLst>
                <a:ext uri="{FF2B5EF4-FFF2-40B4-BE49-F238E27FC236}">
                  <a16:creationId xmlns:a16="http://schemas.microsoft.com/office/drawing/2014/main" id="{31AA87AF-CFE4-B8C5-1BBC-0D7A8A90AD75}"/>
                </a:ext>
              </a:extLst>
            </p:cNvPr>
            <p:cNvSpPr/>
            <p:nvPr/>
          </p:nvSpPr>
          <p:spPr>
            <a:xfrm>
              <a:off x="4450080" y="3048794"/>
              <a:ext cx="3032760" cy="1905000"/>
            </a:xfrm>
            <a:prstGeom prst="round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LLM Synthesis</a:t>
              </a:r>
            </a:p>
          </p:txBody>
        </p:sp>
        <p:sp>
          <p:nvSpPr>
            <p:cNvPr id="6" name="Rectangle: Rounded Corners 5">
              <a:extLst>
                <a:ext uri="{FF2B5EF4-FFF2-40B4-BE49-F238E27FC236}">
                  <a16:creationId xmlns:a16="http://schemas.microsoft.com/office/drawing/2014/main" id="{8706AEF9-0162-37D4-EF44-DC39C9E316FB}"/>
                </a:ext>
              </a:extLst>
            </p:cNvPr>
            <p:cNvSpPr/>
            <p:nvPr/>
          </p:nvSpPr>
          <p:spPr>
            <a:xfrm>
              <a:off x="8258752" y="3048794"/>
              <a:ext cx="3032760" cy="1905000"/>
            </a:xfrm>
            <a:prstGeom prst="round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Syntactic Check </a:t>
              </a:r>
            </a:p>
          </p:txBody>
        </p:sp>
        <p:cxnSp>
          <p:nvCxnSpPr>
            <p:cNvPr id="8" name="Straight Arrow Connector 7">
              <a:extLst>
                <a:ext uri="{FF2B5EF4-FFF2-40B4-BE49-F238E27FC236}">
                  <a16:creationId xmlns:a16="http://schemas.microsoft.com/office/drawing/2014/main" id="{B18417E3-53F4-9686-0378-A201FB31E3B7}"/>
                </a:ext>
              </a:extLst>
            </p:cNvPr>
            <p:cNvCxnSpPr>
              <a:cxnSpLocks/>
              <a:stCxn id="4" idx="3"/>
              <a:endCxn id="5" idx="1"/>
            </p:cNvCxnSpPr>
            <p:nvPr/>
          </p:nvCxnSpPr>
          <p:spPr>
            <a:xfrm>
              <a:off x="3688080" y="4001294"/>
              <a:ext cx="762000" cy="0"/>
            </a:xfrm>
            <a:prstGeom prst="straightConnector1">
              <a:avLst/>
            </a:prstGeom>
            <a:ln w="762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46C5AA28-82DC-D972-1FDA-A9B4F22D9DA5}"/>
                </a:ext>
              </a:extLst>
            </p:cNvPr>
            <p:cNvCxnSpPr>
              <a:stCxn id="5" idx="3"/>
              <a:endCxn id="6" idx="1"/>
            </p:cNvCxnSpPr>
            <p:nvPr/>
          </p:nvCxnSpPr>
          <p:spPr>
            <a:xfrm>
              <a:off x="7482839" y="4001295"/>
              <a:ext cx="775913" cy="0"/>
            </a:xfrm>
            <a:prstGeom prst="straightConnector1">
              <a:avLst/>
            </a:prstGeom>
            <a:ln w="762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5" name="Rectangle: Rounded Corners 24">
              <a:extLst>
                <a:ext uri="{FF2B5EF4-FFF2-40B4-BE49-F238E27FC236}">
                  <a16:creationId xmlns:a16="http://schemas.microsoft.com/office/drawing/2014/main" id="{C1278547-8196-8A1A-41F6-30E8434A0660}"/>
                </a:ext>
              </a:extLst>
            </p:cNvPr>
            <p:cNvSpPr/>
            <p:nvPr/>
          </p:nvSpPr>
          <p:spPr>
            <a:xfrm>
              <a:off x="8258752" y="7162411"/>
              <a:ext cx="3032760" cy="1905000"/>
            </a:xfrm>
            <a:prstGeom prst="roundRect">
              <a:avLst/>
            </a:prstGeom>
            <a:solidFill>
              <a:srgbClr val="B698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Rendering</a:t>
              </a:r>
            </a:p>
          </p:txBody>
        </p:sp>
        <p:sp>
          <p:nvSpPr>
            <p:cNvPr id="7" name="Rectangle: Rounded Corners 6">
              <a:extLst>
                <a:ext uri="{FF2B5EF4-FFF2-40B4-BE49-F238E27FC236}">
                  <a16:creationId xmlns:a16="http://schemas.microsoft.com/office/drawing/2014/main" id="{17F5A4A0-842A-3B39-02F3-93742A9D5820}"/>
                </a:ext>
              </a:extLst>
            </p:cNvPr>
            <p:cNvSpPr/>
            <p:nvPr/>
          </p:nvSpPr>
          <p:spPr>
            <a:xfrm>
              <a:off x="4456845" y="5738354"/>
              <a:ext cx="3032760" cy="1905000"/>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Verification by second agent</a:t>
              </a:r>
            </a:p>
          </p:txBody>
        </p:sp>
      </p:grpSp>
      <p:cxnSp>
        <p:nvCxnSpPr>
          <p:cNvPr id="14" name="Connector: Elbow 13">
            <a:extLst>
              <a:ext uri="{FF2B5EF4-FFF2-40B4-BE49-F238E27FC236}">
                <a16:creationId xmlns:a16="http://schemas.microsoft.com/office/drawing/2014/main" id="{CB233A3E-A2D8-6E67-EABA-3211360B8C12}"/>
              </a:ext>
            </a:extLst>
          </p:cNvPr>
          <p:cNvCxnSpPr>
            <a:cxnSpLocks/>
            <a:stCxn id="7" idx="1"/>
            <a:endCxn id="4" idx="2"/>
          </p:cNvCxnSpPr>
          <p:nvPr/>
        </p:nvCxnSpPr>
        <p:spPr>
          <a:xfrm rot="10800000">
            <a:off x="3662781" y="2798724"/>
            <a:ext cx="2031465" cy="1362788"/>
          </a:xfrm>
          <a:prstGeom prst="bentConnector2">
            <a:avLst/>
          </a:prstGeom>
          <a:ln w="762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Elbow 20">
            <a:extLst>
              <a:ext uri="{FF2B5EF4-FFF2-40B4-BE49-F238E27FC236}">
                <a16:creationId xmlns:a16="http://schemas.microsoft.com/office/drawing/2014/main" id="{C74CAE0C-83E4-FEC2-84F6-CAC16FC9EFD9}"/>
              </a:ext>
            </a:extLst>
          </p:cNvPr>
          <p:cNvCxnSpPr>
            <a:stCxn id="6" idx="0"/>
            <a:endCxn id="5" idx="0"/>
          </p:cNvCxnSpPr>
          <p:nvPr/>
        </p:nvCxnSpPr>
        <p:spPr>
          <a:xfrm rot="16200000" flipV="1">
            <a:off x="8729205" y="-388750"/>
            <a:ext cx="12700" cy="3385861"/>
          </a:xfrm>
          <a:prstGeom prst="bentConnector3">
            <a:avLst>
              <a:gd name="adj1" fmla="val 1800000"/>
            </a:avLst>
          </a:prstGeom>
          <a:ln w="57150">
            <a:solidFill>
              <a:schemeClr val="tx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6" name="Connector: Elbow 25">
            <a:extLst>
              <a:ext uri="{FF2B5EF4-FFF2-40B4-BE49-F238E27FC236}">
                <a16:creationId xmlns:a16="http://schemas.microsoft.com/office/drawing/2014/main" id="{48A90C67-88F0-CD8C-B408-BA89F6CDE242}"/>
              </a:ext>
            </a:extLst>
          </p:cNvPr>
          <p:cNvCxnSpPr>
            <a:cxnSpLocks/>
            <a:stCxn id="7" idx="2"/>
            <a:endCxn id="25" idx="1"/>
          </p:cNvCxnSpPr>
          <p:nvPr/>
        </p:nvCxnSpPr>
        <p:spPr>
          <a:xfrm rot="16200000" flipH="1">
            <a:off x="7873213" y="4077858"/>
            <a:ext cx="369954" cy="2031804"/>
          </a:xfrm>
          <a:prstGeom prst="bentConnector2">
            <a:avLst/>
          </a:prstGeom>
          <a:ln w="762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9" name="Connector: Elbow 28">
            <a:extLst>
              <a:ext uri="{FF2B5EF4-FFF2-40B4-BE49-F238E27FC236}">
                <a16:creationId xmlns:a16="http://schemas.microsoft.com/office/drawing/2014/main" id="{699E3AFF-01B8-22FF-4648-CD21277E7A6D}"/>
              </a:ext>
            </a:extLst>
          </p:cNvPr>
          <p:cNvCxnSpPr>
            <a:cxnSpLocks/>
            <a:stCxn id="7" idx="0"/>
            <a:endCxn id="5" idx="2"/>
          </p:cNvCxnSpPr>
          <p:nvPr/>
        </p:nvCxnSpPr>
        <p:spPr>
          <a:xfrm rot="16200000" flipV="1">
            <a:off x="6731523" y="3103475"/>
            <a:ext cx="615516" cy="6014"/>
          </a:xfrm>
          <a:prstGeom prst="bentConnector3">
            <a:avLst>
              <a:gd name="adj1" fmla="val 50000"/>
            </a:avLst>
          </a:prstGeom>
          <a:ln w="76200">
            <a:solidFill>
              <a:schemeClr val="tx1"/>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D236D9C2-B826-921E-0C5A-C84BE86C32AC}"/>
              </a:ext>
            </a:extLst>
          </p:cNvPr>
          <p:cNvSpPr txBox="1"/>
          <p:nvPr/>
        </p:nvSpPr>
        <p:spPr>
          <a:xfrm>
            <a:off x="264649" y="4378748"/>
            <a:ext cx="1325209" cy="1200329"/>
          </a:xfrm>
          <a:prstGeom prst="rect">
            <a:avLst/>
          </a:prstGeom>
          <a:noFill/>
        </p:spPr>
        <p:txBody>
          <a:bodyPr wrap="square" rtlCol="0">
            <a:spAutoFit/>
          </a:bodyPr>
          <a:lstStyle/>
          <a:p>
            <a:endParaRPr lang="he-IL" sz="2400" b="1" dirty="0">
              <a:solidFill>
                <a:srgbClr val="FF0000"/>
              </a:solidFill>
            </a:endParaRPr>
          </a:p>
          <a:p>
            <a:r>
              <a:rPr lang="he-IL" sz="2400" b="1" dirty="0">
                <a:solidFill>
                  <a:srgbClr val="FF0000"/>
                </a:solidFill>
              </a:rPr>
              <a:t>לפרט יותר</a:t>
            </a:r>
            <a:endParaRPr lang="en-US" sz="2400" b="1" dirty="0">
              <a:solidFill>
                <a:srgbClr val="FF0000"/>
              </a:solidFill>
            </a:endParaRPr>
          </a:p>
        </p:txBody>
      </p:sp>
      <p:sp>
        <p:nvSpPr>
          <p:cNvPr id="55" name="Rectangle: Rounded Corners 54">
            <a:extLst>
              <a:ext uri="{FF2B5EF4-FFF2-40B4-BE49-F238E27FC236}">
                <a16:creationId xmlns:a16="http://schemas.microsoft.com/office/drawing/2014/main" id="{A191D552-C45F-5737-03F0-DCEFE688E0E6}"/>
              </a:ext>
            </a:extLst>
          </p:cNvPr>
          <p:cNvSpPr/>
          <p:nvPr/>
        </p:nvSpPr>
        <p:spPr>
          <a:xfrm>
            <a:off x="109021" y="1304180"/>
            <a:ext cx="991402" cy="657876"/>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text</a:t>
            </a:r>
          </a:p>
        </p:txBody>
      </p:sp>
      <p:sp>
        <p:nvSpPr>
          <p:cNvPr id="56" name="Rectangle: Rounded Corners 55">
            <a:extLst>
              <a:ext uri="{FF2B5EF4-FFF2-40B4-BE49-F238E27FC236}">
                <a16:creationId xmlns:a16="http://schemas.microsoft.com/office/drawing/2014/main" id="{8BDB6851-7228-FB1B-5816-78E7D140F4B5}"/>
              </a:ext>
            </a:extLst>
          </p:cNvPr>
          <p:cNvSpPr/>
          <p:nvPr/>
        </p:nvSpPr>
        <p:spPr>
          <a:xfrm>
            <a:off x="108332" y="2051735"/>
            <a:ext cx="991402" cy="657876"/>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err="1"/>
              <a:t>Pcap</a:t>
            </a:r>
            <a:endParaRPr lang="en-US" dirty="0"/>
          </a:p>
        </p:txBody>
      </p:sp>
      <p:cxnSp>
        <p:nvCxnSpPr>
          <p:cNvPr id="58" name="Straight Arrow Connector 57">
            <a:extLst>
              <a:ext uri="{FF2B5EF4-FFF2-40B4-BE49-F238E27FC236}">
                <a16:creationId xmlns:a16="http://schemas.microsoft.com/office/drawing/2014/main" id="{1E48050A-0B9B-CED5-A241-EB199595A884}"/>
              </a:ext>
            </a:extLst>
          </p:cNvPr>
          <p:cNvCxnSpPr>
            <a:cxnSpLocks/>
            <a:stCxn id="56" idx="3"/>
          </p:cNvCxnSpPr>
          <p:nvPr/>
        </p:nvCxnSpPr>
        <p:spPr>
          <a:xfrm>
            <a:off x="1099734" y="2380673"/>
            <a:ext cx="120898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1" name="Straight Arrow Connector 60">
            <a:extLst>
              <a:ext uri="{FF2B5EF4-FFF2-40B4-BE49-F238E27FC236}">
                <a16:creationId xmlns:a16="http://schemas.microsoft.com/office/drawing/2014/main" id="{AF725897-0FF6-CA21-EFCA-DC7BEC561F1B}"/>
              </a:ext>
            </a:extLst>
          </p:cNvPr>
          <p:cNvCxnSpPr>
            <a:cxnSpLocks/>
          </p:cNvCxnSpPr>
          <p:nvPr/>
        </p:nvCxnSpPr>
        <p:spPr>
          <a:xfrm>
            <a:off x="1099734" y="1633118"/>
            <a:ext cx="120898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5186889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E0093-FB34-3E66-4085-7BB6C14DE812}"/>
              </a:ext>
            </a:extLst>
          </p:cNvPr>
          <p:cNvSpPr>
            <a:spLocks noGrp="1"/>
          </p:cNvSpPr>
          <p:nvPr>
            <p:ph type="title"/>
          </p:nvPr>
        </p:nvSpPr>
        <p:spPr/>
        <p:txBody>
          <a:bodyPr/>
          <a:lstStyle/>
          <a:p>
            <a:r>
              <a:rPr lang="en-US" b="1" dirty="0">
                <a:solidFill>
                  <a:srgbClr val="A02B93"/>
                </a:solidFill>
              </a:rPr>
              <a:t>Controllable Abstraction</a:t>
            </a:r>
          </a:p>
        </p:txBody>
      </p:sp>
      <p:sp>
        <p:nvSpPr>
          <p:cNvPr id="3" name="Content Placeholder 2">
            <a:extLst>
              <a:ext uri="{FF2B5EF4-FFF2-40B4-BE49-F238E27FC236}">
                <a16:creationId xmlns:a16="http://schemas.microsoft.com/office/drawing/2014/main" id="{6DF6B58F-D73D-919E-468A-79A907794D0F}"/>
              </a:ext>
            </a:extLst>
          </p:cNvPr>
          <p:cNvSpPr>
            <a:spLocks noGrp="1"/>
          </p:cNvSpPr>
          <p:nvPr>
            <p:ph idx="1"/>
          </p:nvPr>
        </p:nvSpPr>
        <p:spPr>
          <a:xfrm>
            <a:off x="838199" y="1825625"/>
            <a:ext cx="11160951" cy="4351338"/>
          </a:xfrm>
        </p:spPr>
        <p:txBody>
          <a:bodyPr/>
          <a:lstStyle/>
          <a:p>
            <a:pPr marL="0" indent="0">
              <a:buNone/>
            </a:pPr>
            <a:r>
              <a:rPr lang="en-US" dirty="0"/>
              <a:t>Adapting abstraction level using a slider/prompt - “zoom in” to nodes </a:t>
            </a:r>
          </a:p>
          <a:p>
            <a:endParaRPr lang="en-US" dirty="0"/>
          </a:p>
          <a:p>
            <a:endParaRPr lang="en-US" dirty="0"/>
          </a:p>
          <a:p>
            <a:endParaRPr lang="en-US" dirty="0"/>
          </a:p>
          <a:p>
            <a:pPr marL="0" indent="0">
              <a:buNone/>
            </a:pPr>
            <a:endParaRPr lang="en-US" dirty="0"/>
          </a:p>
        </p:txBody>
      </p:sp>
      <p:grpSp>
        <p:nvGrpSpPr>
          <p:cNvPr id="18" name="Group 17">
            <a:extLst>
              <a:ext uri="{FF2B5EF4-FFF2-40B4-BE49-F238E27FC236}">
                <a16:creationId xmlns:a16="http://schemas.microsoft.com/office/drawing/2014/main" id="{80AF9EFF-6029-CE92-4BB1-CD580924F22D}"/>
              </a:ext>
            </a:extLst>
          </p:cNvPr>
          <p:cNvGrpSpPr/>
          <p:nvPr/>
        </p:nvGrpSpPr>
        <p:grpSpPr>
          <a:xfrm>
            <a:off x="192849" y="2955587"/>
            <a:ext cx="11806302" cy="2532229"/>
            <a:chOff x="-40482" y="3429000"/>
            <a:chExt cx="11806302" cy="2532229"/>
          </a:xfrm>
        </p:grpSpPr>
        <p:cxnSp>
          <p:nvCxnSpPr>
            <p:cNvPr id="11" name="Straight Arrow Connector 10">
              <a:extLst>
                <a:ext uri="{FF2B5EF4-FFF2-40B4-BE49-F238E27FC236}">
                  <a16:creationId xmlns:a16="http://schemas.microsoft.com/office/drawing/2014/main" id="{10FCF6FD-56C0-455E-0A14-59739ACBD6FE}"/>
                </a:ext>
              </a:extLst>
            </p:cNvPr>
            <p:cNvCxnSpPr>
              <a:cxnSpLocks/>
            </p:cNvCxnSpPr>
            <p:nvPr/>
          </p:nvCxnSpPr>
          <p:spPr>
            <a:xfrm>
              <a:off x="3102122" y="3890665"/>
              <a:ext cx="5212080" cy="0"/>
            </a:xfrm>
            <a:prstGeom prst="straightConnector1">
              <a:avLst/>
            </a:prstGeom>
            <a:ln w="76200">
              <a:gradFill>
                <a:gsLst>
                  <a:gs pos="42000">
                    <a:schemeClr val="accent5">
                      <a:lumMod val="60000"/>
                      <a:lumOff val="40000"/>
                    </a:schemeClr>
                  </a:gs>
                  <a:gs pos="78000">
                    <a:srgbClr val="7030A0"/>
                  </a:gs>
                </a:gsLst>
                <a:lin ang="0" scaled="0"/>
              </a:gradFill>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46F7A55-3B1F-D893-0529-C21385CD0063}"/>
                </a:ext>
              </a:extLst>
            </p:cNvPr>
            <p:cNvSpPr txBox="1"/>
            <p:nvPr/>
          </p:nvSpPr>
          <p:spPr>
            <a:xfrm>
              <a:off x="-40482" y="3429000"/>
              <a:ext cx="3142604" cy="923330"/>
            </a:xfrm>
            <a:prstGeom prst="rect">
              <a:avLst/>
            </a:prstGeom>
            <a:noFill/>
          </p:spPr>
          <p:txBody>
            <a:bodyPr wrap="square">
              <a:spAutoFit/>
            </a:bodyPr>
            <a:lstStyle/>
            <a:p>
              <a:pPr algn="ctr"/>
              <a:r>
                <a:rPr lang="en-US" b="1" dirty="0">
                  <a:solidFill>
                    <a:schemeClr val="accent5">
                      <a:lumMod val="60000"/>
                      <a:lumOff val="40000"/>
                    </a:schemeClr>
                  </a:solidFill>
                </a:rPr>
                <a:t>Low Abstraction </a:t>
              </a:r>
            </a:p>
            <a:p>
              <a:pPr algn="ctr"/>
              <a:r>
                <a:rPr lang="en-US" b="1" dirty="0">
                  <a:solidFill>
                    <a:schemeClr val="accent5">
                      <a:lumMod val="60000"/>
                      <a:lumOff val="40000"/>
                    </a:schemeClr>
                  </a:solidFill>
                </a:rPr>
                <a:t>literal packet description</a:t>
              </a:r>
            </a:p>
            <a:p>
              <a:pPr algn="ctr"/>
              <a:r>
                <a:rPr lang="en-US" b="1" dirty="0">
                  <a:solidFill>
                    <a:schemeClr val="accent5">
                      <a:lumMod val="60000"/>
                      <a:lumOff val="40000"/>
                    </a:schemeClr>
                  </a:solidFill>
                </a:rPr>
                <a:t> no explanation</a:t>
              </a:r>
            </a:p>
          </p:txBody>
        </p:sp>
        <p:sp>
          <p:nvSpPr>
            <p:cNvPr id="16" name="TextBox 15">
              <a:extLst>
                <a:ext uri="{FF2B5EF4-FFF2-40B4-BE49-F238E27FC236}">
                  <a16:creationId xmlns:a16="http://schemas.microsoft.com/office/drawing/2014/main" id="{E963FE99-1B3D-3026-3357-1314B510957A}"/>
                </a:ext>
              </a:extLst>
            </p:cNvPr>
            <p:cNvSpPr txBox="1"/>
            <p:nvPr/>
          </p:nvSpPr>
          <p:spPr>
            <a:xfrm>
              <a:off x="8314202" y="3452495"/>
              <a:ext cx="3451618" cy="923330"/>
            </a:xfrm>
            <a:prstGeom prst="rect">
              <a:avLst/>
            </a:prstGeom>
            <a:noFill/>
          </p:spPr>
          <p:txBody>
            <a:bodyPr wrap="square">
              <a:spAutoFit/>
            </a:bodyPr>
            <a:lstStyle/>
            <a:p>
              <a:pPr algn="ctr"/>
              <a:r>
                <a:rPr lang="en-US" b="1" dirty="0">
                  <a:solidFill>
                    <a:srgbClr val="7030A0"/>
                  </a:solidFill>
                </a:rPr>
                <a:t>High Abstraction </a:t>
              </a:r>
            </a:p>
            <a:p>
              <a:pPr algn="ctr"/>
              <a:r>
                <a:rPr lang="en-US" b="1" dirty="0">
                  <a:solidFill>
                    <a:srgbClr val="7030A0"/>
                  </a:solidFill>
                </a:rPr>
                <a:t>  collapsing groups of packets </a:t>
              </a:r>
            </a:p>
            <a:p>
              <a:pPr algn="ctr"/>
              <a:r>
                <a:rPr lang="en-US" b="1" dirty="0">
                  <a:solidFill>
                    <a:srgbClr val="7030A0"/>
                  </a:solidFill>
                </a:rPr>
                <a:t>to conceptual actions</a:t>
              </a:r>
            </a:p>
          </p:txBody>
        </p:sp>
        <p:sp>
          <p:nvSpPr>
            <p:cNvPr id="22" name="TextBox 21">
              <a:extLst>
                <a:ext uri="{FF2B5EF4-FFF2-40B4-BE49-F238E27FC236}">
                  <a16:creationId xmlns:a16="http://schemas.microsoft.com/office/drawing/2014/main" id="{BB9E7ACE-3FFB-721D-E466-58D54E56C3A0}"/>
                </a:ext>
              </a:extLst>
            </p:cNvPr>
            <p:cNvSpPr txBox="1"/>
            <p:nvPr/>
          </p:nvSpPr>
          <p:spPr>
            <a:xfrm>
              <a:off x="4058582" y="4760900"/>
              <a:ext cx="3142604" cy="1200329"/>
            </a:xfrm>
            <a:prstGeom prst="rect">
              <a:avLst/>
            </a:prstGeom>
            <a:noFill/>
          </p:spPr>
          <p:txBody>
            <a:bodyPr wrap="square">
              <a:spAutoFit/>
            </a:bodyPr>
            <a:lstStyle/>
            <a:p>
              <a:pPr algn="ctr"/>
              <a:r>
                <a:rPr lang="en-US" b="1" dirty="0">
                  <a:solidFill>
                    <a:srgbClr val="C836B7"/>
                  </a:solidFill>
                </a:rPr>
                <a:t>Some Queries (less details)</a:t>
              </a:r>
            </a:p>
            <a:p>
              <a:pPr algn="ctr"/>
              <a:r>
                <a:rPr lang="en-US" b="1" dirty="0">
                  <a:solidFill>
                    <a:srgbClr val="C836B7"/>
                  </a:solidFill>
                </a:rPr>
                <a:t>Including evidence + concepts</a:t>
              </a:r>
            </a:p>
            <a:p>
              <a:pPr algn="ctr"/>
              <a:endParaRPr lang="en-US" b="1" dirty="0">
                <a:solidFill>
                  <a:srgbClr val="C836B7"/>
                </a:solidFill>
              </a:endParaRPr>
            </a:p>
          </p:txBody>
        </p:sp>
      </p:grpSp>
      <p:sp>
        <p:nvSpPr>
          <p:cNvPr id="19" name="TextBox 18">
            <a:extLst>
              <a:ext uri="{FF2B5EF4-FFF2-40B4-BE49-F238E27FC236}">
                <a16:creationId xmlns:a16="http://schemas.microsoft.com/office/drawing/2014/main" id="{606F9573-1C7C-698C-3BB0-D81CC461DC8C}"/>
              </a:ext>
            </a:extLst>
          </p:cNvPr>
          <p:cNvSpPr txBox="1"/>
          <p:nvPr/>
        </p:nvSpPr>
        <p:spPr>
          <a:xfrm>
            <a:off x="8043863" y="3646000"/>
            <a:ext cx="1343025" cy="369332"/>
          </a:xfrm>
          <a:prstGeom prst="rect">
            <a:avLst/>
          </a:prstGeom>
          <a:noFill/>
        </p:spPr>
        <p:txBody>
          <a:bodyPr wrap="square" rtlCol="0">
            <a:spAutoFit/>
          </a:bodyPr>
          <a:lstStyle/>
          <a:p>
            <a:r>
              <a:rPr lang="en-US" b="1" dirty="0">
                <a:solidFill>
                  <a:srgbClr val="7030A0"/>
                </a:solidFill>
              </a:rPr>
              <a:t>100%</a:t>
            </a:r>
          </a:p>
        </p:txBody>
      </p:sp>
      <p:sp>
        <p:nvSpPr>
          <p:cNvPr id="20" name="TextBox 19">
            <a:extLst>
              <a:ext uri="{FF2B5EF4-FFF2-40B4-BE49-F238E27FC236}">
                <a16:creationId xmlns:a16="http://schemas.microsoft.com/office/drawing/2014/main" id="{207E311F-B181-8736-F338-EA67C6166911}"/>
              </a:ext>
            </a:extLst>
          </p:cNvPr>
          <p:cNvSpPr txBox="1"/>
          <p:nvPr/>
        </p:nvSpPr>
        <p:spPr>
          <a:xfrm>
            <a:off x="3167610" y="3646794"/>
            <a:ext cx="1343025" cy="369332"/>
          </a:xfrm>
          <a:prstGeom prst="rect">
            <a:avLst/>
          </a:prstGeom>
          <a:noFill/>
        </p:spPr>
        <p:txBody>
          <a:bodyPr wrap="square" rtlCol="0">
            <a:spAutoFit/>
          </a:bodyPr>
          <a:lstStyle/>
          <a:p>
            <a:r>
              <a:rPr lang="en-US" b="1" dirty="0">
                <a:solidFill>
                  <a:schemeClr val="accent5">
                    <a:lumMod val="60000"/>
                    <a:lumOff val="40000"/>
                  </a:schemeClr>
                </a:solidFill>
              </a:rPr>
              <a:t>0%</a:t>
            </a:r>
          </a:p>
        </p:txBody>
      </p:sp>
      <p:sp>
        <p:nvSpPr>
          <p:cNvPr id="21" name="TextBox 20">
            <a:extLst>
              <a:ext uri="{FF2B5EF4-FFF2-40B4-BE49-F238E27FC236}">
                <a16:creationId xmlns:a16="http://schemas.microsoft.com/office/drawing/2014/main" id="{60395446-1490-72E5-8046-10B772C7DD17}"/>
              </a:ext>
            </a:extLst>
          </p:cNvPr>
          <p:cNvSpPr txBox="1"/>
          <p:nvPr/>
        </p:nvSpPr>
        <p:spPr>
          <a:xfrm>
            <a:off x="5525656" y="3660288"/>
            <a:ext cx="675119" cy="369332"/>
          </a:xfrm>
          <a:prstGeom prst="rect">
            <a:avLst/>
          </a:prstGeom>
          <a:noFill/>
        </p:spPr>
        <p:txBody>
          <a:bodyPr wrap="square" rtlCol="0">
            <a:spAutoFit/>
          </a:bodyPr>
          <a:lstStyle/>
          <a:p>
            <a:r>
              <a:rPr lang="en-US" b="1" dirty="0">
                <a:solidFill>
                  <a:srgbClr val="C836B7"/>
                </a:solidFill>
              </a:rPr>
              <a:t>50%</a:t>
            </a:r>
          </a:p>
        </p:txBody>
      </p:sp>
    </p:spTree>
    <p:extLst>
      <p:ext uri="{BB962C8B-B14F-4D97-AF65-F5344CB8AC3E}">
        <p14:creationId xmlns:p14="http://schemas.microsoft.com/office/powerpoint/2010/main" val="23220543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F6C08-D979-3788-7673-6378DF1F2D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58299B-314F-877A-C825-534D77201A24}"/>
              </a:ext>
            </a:extLst>
          </p:cNvPr>
          <p:cNvSpPr>
            <a:spLocks noGrp="1"/>
          </p:cNvSpPr>
          <p:nvPr>
            <p:ph type="title"/>
          </p:nvPr>
        </p:nvSpPr>
        <p:spPr>
          <a:xfrm>
            <a:off x="838200" y="380365"/>
            <a:ext cx="10515600" cy="1325563"/>
          </a:xfrm>
        </p:spPr>
        <p:txBody>
          <a:bodyPr/>
          <a:lstStyle/>
          <a:p>
            <a:r>
              <a:rPr lang="en-US" b="1" dirty="0">
                <a:solidFill>
                  <a:srgbClr val="A02B93"/>
                </a:solidFill>
              </a:rPr>
              <a:t>Grounding to Evidence</a:t>
            </a:r>
          </a:p>
        </p:txBody>
      </p:sp>
      <p:pic>
        <p:nvPicPr>
          <p:cNvPr id="5" name="Picture 4" descr="A yellow box with black text&#10;&#10;AI-generated content may be incorrect.">
            <a:extLst>
              <a:ext uri="{FF2B5EF4-FFF2-40B4-BE49-F238E27FC236}">
                <a16:creationId xmlns:a16="http://schemas.microsoft.com/office/drawing/2014/main" id="{B673630E-FE13-9811-8951-3397C47473F2}"/>
              </a:ext>
            </a:extLst>
          </p:cNvPr>
          <p:cNvPicPr>
            <a:picLocks noChangeAspect="1"/>
          </p:cNvPicPr>
          <p:nvPr/>
        </p:nvPicPr>
        <p:blipFill>
          <a:blip r:embed="rId3">
            <a:duotone>
              <a:schemeClr val="accent5">
                <a:shade val="45000"/>
                <a:satMod val="135000"/>
              </a:schemeClr>
              <a:prstClr val="white"/>
            </a:duotone>
          </a:blip>
          <a:stretch>
            <a:fillRect/>
          </a:stretch>
        </p:blipFill>
        <p:spPr>
          <a:xfrm>
            <a:off x="0" y="2802854"/>
            <a:ext cx="5084650" cy="976330"/>
          </a:xfrm>
          <a:prstGeom prst="rect">
            <a:avLst/>
          </a:prstGeom>
        </p:spPr>
      </p:pic>
      <p:grpSp>
        <p:nvGrpSpPr>
          <p:cNvPr id="13" name="Group 12">
            <a:extLst>
              <a:ext uri="{FF2B5EF4-FFF2-40B4-BE49-F238E27FC236}">
                <a16:creationId xmlns:a16="http://schemas.microsoft.com/office/drawing/2014/main" id="{B2553A1F-FF05-7476-2B50-9EB816D2E410}"/>
              </a:ext>
            </a:extLst>
          </p:cNvPr>
          <p:cNvGrpSpPr/>
          <p:nvPr/>
        </p:nvGrpSpPr>
        <p:grpSpPr>
          <a:xfrm>
            <a:off x="1564990" y="3291019"/>
            <a:ext cx="9224929" cy="1917267"/>
            <a:chOff x="2274520" y="2973707"/>
            <a:chExt cx="9423622" cy="1917267"/>
          </a:xfrm>
        </p:grpSpPr>
        <p:cxnSp>
          <p:nvCxnSpPr>
            <p:cNvPr id="7" name="Straight Arrow Connector 6">
              <a:extLst>
                <a:ext uri="{FF2B5EF4-FFF2-40B4-BE49-F238E27FC236}">
                  <a16:creationId xmlns:a16="http://schemas.microsoft.com/office/drawing/2014/main" id="{6D8126F8-865C-0C08-C09A-21CC228A7A87}"/>
                </a:ext>
              </a:extLst>
            </p:cNvPr>
            <p:cNvCxnSpPr>
              <a:cxnSpLocks/>
            </p:cNvCxnSpPr>
            <p:nvPr/>
          </p:nvCxnSpPr>
          <p:spPr>
            <a:xfrm>
              <a:off x="5873954" y="2973707"/>
              <a:ext cx="2198330" cy="27260"/>
            </a:xfrm>
            <a:prstGeom prst="straightConnector1">
              <a:avLst/>
            </a:prstGeom>
            <a:ln w="76200">
              <a:solidFill>
                <a:schemeClr val="accent5">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80D87050-8DA5-BAB7-2A34-54621A9DA8C4}"/>
                </a:ext>
              </a:extLst>
            </p:cNvPr>
            <p:cNvSpPr txBox="1"/>
            <p:nvPr/>
          </p:nvSpPr>
          <p:spPr>
            <a:xfrm>
              <a:off x="2274520" y="4059977"/>
              <a:ext cx="9423622" cy="830997"/>
            </a:xfrm>
            <a:prstGeom prst="rect">
              <a:avLst/>
            </a:prstGeom>
            <a:noFill/>
          </p:spPr>
          <p:txBody>
            <a:bodyPr wrap="square" rtlCol="0">
              <a:spAutoFit/>
            </a:bodyPr>
            <a:lstStyle/>
            <a:p>
              <a:pPr algn="ctr"/>
              <a:r>
                <a:rPr lang="en-US" sz="2400" b="1" dirty="0">
                  <a:solidFill>
                    <a:schemeClr val="accent5">
                      <a:lumMod val="75000"/>
                    </a:schemeClr>
                  </a:solidFill>
                </a:rPr>
                <a:t>Add verifying metadata and referral to timestamp in PCAP + redirection to line in PCAP  </a:t>
              </a:r>
            </a:p>
          </p:txBody>
        </p:sp>
      </p:grpSp>
      <p:sp>
        <p:nvSpPr>
          <p:cNvPr id="11" name="Rectangle: Rounded Corners 10">
            <a:extLst>
              <a:ext uri="{FF2B5EF4-FFF2-40B4-BE49-F238E27FC236}">
                <a16:creationId xmlns:a16="http://schemas.microsoft.com/office/drawing/2014/main" id="{7E94D8B2-FF79-2035-B6C5-ED52F67CA792}"/>
              </a:ext>
            </a:extLst>
          </p:cNvPr>
          <p:cNvSpPr/>
          <p:nvPr/>
        </p:nvSpPr>
        <p:spPr>
          <a:xfrm>
            <a:off x="7573228" y="2228851"/>
            <a:ext cx="4365522" cy="1845437"/>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lnSpc>
                <a:spcPct val="150000"/>
              </a:lnSpc>
              <a:spcBef>
                <a:spcPct val="0"/>
              </a:spcBef>
              <a:spcAft>
                <a:spcPct val="0"/>
              </a:spcAft>
            </a:pPr>
            <a:endParaRPr lang="en-US" altLang="en-US" u="sng" dirty="0">
              <a:solidFill>
                <a:schemeClr val="bg1"/>
              </a:solidFill>
              <a:latin typeface="Arial" panose="020B0604020202020204" pitchFamily="34" charset="0"/>
            </a:endParaRPr>
          </a:p>
          <a:p>
            <a:pPr lvl="0" eaLnBrk="0" fontAlgn="base" hangingPunct="0">
              <a:lnSpc>
                <a:spcPct val="150000"/>
              </a:lnSpc>
              <a:spcBef>
                <a:spcPct val="0"/>
              </a:spcBef>
              <a:spcAft>
                <a:spcPct val="0"/>
              </a:spcAft>
            </a:pPr>
            <a:r>
              <a:rPr kumimoji="0" lang="en-US" altLang="en-US" i="0" u="sng" strike="noStrike" cap="none" normalizeH="0" baseline="0" dirty="0">
                <a:ln>
                  <a:noFill/>
                </a:ln>
                <a:solidFill>
                  <a:schemeClr val="tx1"/>
                </a:solidFill>
                <a:effectLst/>
                <a:latin typeface="Arial" panose="020B0604020202020204" pitchFamily="34" charset="0"/>
              </a:rPr>
              <a:t>Event</a:t>
            </a:r>
            <a:r>
              <a:rPr kumimoji="0" lang="en-US" altLang="en-US" i="0" strike="noStrike" cap="none" normalizeH="0" baseline="0" dirty="0">
                <a:ln>
                  <a:noFill/>
                </a:ln>
                <a:solidFill>
                  <a:schemeClr val="tx1"/>
                </a:solidFill>
                <a:effectLst/>
                <a:latin typeface="Arial" panose="020B0604020202020204" pitchFamily="34" charset="0"/>
              </a:rPr>
              <a:t>: </a:t>
            </a:r>
            <a:r>
              <a:rPr kumimoji="0" lang="en-US" altLang="en-US" i="0" u="none" strike="noStrike" cap="none" normalizeH="0" baseline="0" dirty="0">
                <a:ln>
                  <a:noFill/>
                </a:ln>
                <a:solidFill>
                  <a:schemeClr val="tx1"/>
                </a:solidFill>
                <a:effectLst/>
                <a:latin typeface="Arial" panose="020B0604020202020204" pitchFamily="34" charset="0"/>
              </a:rPr>
              <a:t>UDP DNS referral response</a:t>
            </a:r>
          </a:p>
          <a:p>
            <a:pPr lvl="0" eaLnBrk="0" fontAlgn="base" hangingPunct="0">
              <a:lnSpc>
                <a:spcPct val="150000"/>
              </a:lnSpc>
              <a:spcBef>
                <a:spcPct val="0"/>
              </a:spcBef>
              <a:spcAft>
                <a:spcPct val="0"/>
              </a:spcAft>
            </a:pPr>
            <a:r>
              <a:rPr kumimoji="0" lang="en-US" altLang="en-US" i="0" u="sng" strike="noStrike" cap="none" normalizeH="0" baseline="0" dirty="0">
                <a:ln>
                  <a:noFill/>
                </a:ln>
                <a:solidFill>
                  <a:schemeClr val="tx1"/>
                </a:solidFill>
                <a:effectLst/>
                <a:latin typeface="Arial" panose="020B0604020202020204" pitchFamily="34" charset="0"/>
              </a:rPr>
              <a:t>Size</a:t>
            </a:r>
            <a:r>
              <a:rPr kumimoji="0" lang="en-US" altLang="en-US" i="0" u="none" strike="noStrike" cap="none" normalizeH="0" baseline="0" dirty="0">
                <a:ln>
                  <a:noFill/>
                </a:ln>
                <a:solidFill>
                  <a:schemeClr val="tx1"/>
                </a:solidFill>
                <a:effectLst/>
                <a:latin typeface="Arial" panose="020B0604020202020204" pitchFamily="34" charset="0"/>
              </a:rPr>
              <a:t>: 1532 bytes</a:t>
            </a:r>
          </a:p>
          <a:p>
            <a:pPr lvl="0" eaLnBrk="0" fontAlgn="base" hangingPunct="0">
              <a:lnSpc>
                <a:spcPct val="150000"/>
              </a:lnSpc>
              <a:spcBef>
                <a:spcPct val="0"/>
              </a:spcBef>
              <a:spcAft>
                <a:spcPct val="0"/>
              </a:spcAft>
            </a:pPr>
            <a:r>
              <a:rPr kumimoji="0" lang="en-US" altLang="en-US" i="0" u="sng" strike="noStrike" cap="none" normalizeH="0" baseline="0" dirty="0">
                <a:ln>
                  <a:noFill/>
                </a:ln>
                <a:solidFill>
                  <a:schemeClr val="tx1"/>
                </a:solidFill>
                <a:effectLst/>
                <a:latin typeface="Arial" panose="020B0604020202020204" pitchFamily="34" charset="0"/>
              </a:rPr>
              <a:t>Evidence</a:t>
            </a:r>
            <a:r>
              <a:rPr kumimoji="0" lang="en-US" altLang="en-US" i="0" u="none" strike="noStrike" cap="none" normalizeH="0" baseline="0" dirty="0">
                <a:ln>
                  <a:noFill/>
                </a:ln>
                <a:solidFill>
                  <a:schemeClr val="tx1"/>
                </a:solidFill>
                <a:effectLst/>
                <a:latin typeface="Arial" panose="020B0604020202020204" pitchFamily="34" charset="0"/>
              </a:rPr>
              <a:t>: packets #417- #421</a:t>
            </a:r>
          </a:p>
          <a:p>
            <a:pPr lvl="0" eaLnBrk="0" fontAlgn="base" hangingPunct="0">
              <a:lnSpc>
                <a:spcPct val="150000"/>
              </a:lnSpc>
              <a:spcBef>
                <a:spcPct val="0"/>
              </a:spcBef>
              <a:spcAft>
                <a:spcPct val="0"/>
              </a:spcAft>
            </a:pPr>
            <a:r>
              <a:rPr kumimoji="0" lang="en-US" altLang="en-US" i="0" u="sng" strike="noStrike" cap="none" normalizeH="0" baseline="0" dirty="0">
                <a:ln>
                  <a:noFill/>
                </a:ln>
                <a:solidFill>
                  <a:schemeClr val="tx1"/>
                </a:solidFill>
                <a:effectLst/>
                <a:latin typeface="Arial" panose="020B0604020202020204" pitchFamily="34" charset="0"/>
              </a:rPr>
              <a:t>Time</a:t>
            </a:r>
            <a:r>
              <a:rPr kumimoji="0" lang="en-US" altLang="en-US" i="0" u="none" strike="noStrike" cap="none" normalizeH="0" baseline="0" dirty="0">
                <a:ln>
                  <a:noFill/>
                </a:ln>
                <a:solidFill>
                  <a:schemeClr val="tx1"/>
                </a:solidFill>
                <a:effectLst/>
                <a:latin typeface="Arial" panose="020B0604020202020204" pitchFamily="34" charset="0"/>
              </a:rPr>
              <a:t>: 2.18 - 2.24 s</a:t>
            </a:r>
          </a:p>
          <a:p>
            <a:pPr lvl="0" eaLnBrk="0" fontAlgn="base" hangingPunct="0">
              <a:spcBef>
                <a:spcPct val="0"/>
              </a:spcBef>
              <a:spcAft>
                <a:spcPct val="0"/>
              </a:spcAft>
            </a:pPr>
            <a:endParaRPr lang="en-US" altLang="en-US" sz="1600" dirty="0">
              <a:solidFill>
                <a:schemeClr val="tx1"/>
              </a:solidFill>
              <a:latin typeface="Arial" panose="020B0604020202020204" pitchFamily="34" charset="0"/>
            </a:endParaRPr>
          </a:p>
        </p:txBody>
      </p:sp>
    </p:spTree>
    <p:extLst>
      <p:ext uri="{BB962C8B-B14F-4D97-AF65-F5344CB8AC3E}">
        <p14:creationId xmlns:p14="http://schemas.microsoft.com/office/powerpoint/2010/main" val="20353733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3122B-71B4-E5BE-E5E6-4D4A2790BC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B88153-F3D6-1170-C43D-1A6B2E990DEC}"/>
              </a:ext>
            </a:extLst>
          </p:cNvPr>
          <p:cNvSpPr>
            <a:spLocks noGrp="1"/>
          </p:cNvSpPr>
          <p:nvPr>
            <p:ph type="title"/>
          </p:nvPr>
        </p:nvSpPr>
        <p:spPr>
          <a:xfrm>
            <a:off x="838200" y="801529"/>
            <a:ext cx="10515600" cy="1325563"/>
          </a:xfrm>
        </p:spPr>
        <p:txBody>
          <a:bodyPr/>
          <a:lstStyle/>
          <a:p>
            <a:r>
              <a:rPr lang="en-US" b="1" dirty="0">
                <a:solidFill>
                  <a:srgbClr val="A02B93"/>
                </a:solidFill>
              </a:rPr>
              <a:t>Grounding to Evidence –</a:t>
            </a:r>
            <a:br>
              <a:rPr lang="he-IL" b="1" dirty="0">
                <a:solidFill>
                  <a:srgbClr val="A02B93"/>
                </a:solidFill>
              </a:rPr>
            </a:br>
            <a:r>
              <a:rPr lang="en-US" b="1" dirty="0">
                <a:solidFill>
                  <a:srgbClr val="A02B93"/>
                </a:solidFill>
              </a:rPr>
              <a:t>The Path to Reproducibility </a:t>
            </a:r>
          </a:p>
        </p:txBody>
      </p:sp>
      <p:sp>
        <p:nvSpPr>
          <p:cNvPr id="8" name="TextBox 7">
            <a:extLst>
              <a:ext uri="{FF2B5EF4-FFF2-40B4-BE49-F238E27FC236}">
                <a16:creationId xmlns:a16="http://schemas.microsoft.com/office/drawing/2014/main" id="{44D741BE-C96F-B6FC-348D-19C9B376A849}"/>
              </a:ext>
            </a:extLst>
          </p:cNvPr>
          <p:cNvSpPr txBox="1"/>
          <p:nvPr/>
        </p:nvSpPr>
        <p:spPr>
          <a:xfrm>
            <a:off x="573505" y="2425633"/>
            <a:ext cx="9224929" cy="461665"/>
          </a:xfrm>
          <a:prstGeom prst="rect">
            <a:avLst/>
          </a:prstGeom>
          <a:noFill/>
        </p:spPr>
        <p:txBody>
          <a:bodyPr wrap="square" rtlCol="0">
            <a:spAutoFit/>
          </a:bodyPr>
          <a:lstStyle/>
          <a:p>
            <a:pPr algn="r"/>
            <a:r>
              <a:rPr lang="en-US" sz="2400" b="1" dirty="0">
                <a:solidFill>
                  <a:schemeClr val="accent5">
                    <a:lumMod val="75000"/>
                  </a:schemeClr>
                </a:solidFill>
              </a:rPr>
              <a:t>Reproducibility</a:t>
            </a:r>
            <a:r>
              <a:rPr lang="he-IL" sz="2400" b="1" dirty="0">
                <a:solidFill>
                  <a:schemeClr val="accent5">
                    <a:lumMod val="75000"/>
                  </a:schemeClr>
                </a:solidFill>
              </a:rPr>
              <a:t> היא חשובה מאוד </a:t>
            </a:r>
            <a:endParaRPr lang="en-US" sz="2400" b="1" dirty="0">
              <a:solidFill>
                <a:schemeClr val="accent5">
                  <a:lumMod val="75000"/>
                </a:schemeClr>
              </a:solidFill>
            </a:endParaRPr>
          </a:p>
        </p:txBody>
      </p:sp>
      <p:sp>
        <p:nvSpPr>
          <p:cNvPr id="6" name="TextBox 5">
            <a:extLst>
              <a:ext uri="{FF2B5EF4-FFF2-40B4-BE49-F238E27FC236}">
                <a16:creationId xmlns:a16="http://schemas.microsoft.com/office/drawing/2014/main" id="{FA5D6C9D-500B-9648-608D-3C4AA4D6F1E9}"/>
              </a:ext>
            </a:extLst>
          </p:cNvPr>
          <p:cNvSpPr txBox="1"/>
          <p:nvPr/>
        </p:nvSpPr>
        <p:spPr>
          <a:xfrm>
            <a:off x="1257300" y="2887298"/>
            <a:ext cx="9677400" cy="954107"/>
          </a:xfrm>
          <a:prstGeom prst="rect">
            <a:avLst/>
          </a:prstGeom>
          <a:noFill/>
        </p:spPr>
        <p:txBody>
          <a:bodyPr wrap="square" rtlCol="0">
            <a:spAutoFit/>
          </a:bodyPr>
          <a:lstStyle/>
          <a:p>
            <a:pPr algn="ctr"/>
            <a:r>
              <a:rPr lang="en-US" sz="2800" b="1" dirty="0" err="1">
                <a:solidFill>
                  <a:schemeClr val="accent5">
                    <a:lumMod val="75000"/>
                  </a:schemeClr>
                </a:solidFill>
              </a:rPr>
              <a:t>PcaPlot</a:t>
            </a:r>
            <a:r>
              <a:rPr lang="en-US" sz="2800" b="1" dirty="0">
                <a:solidFill>
                  <a:schemeClr val="accent5">
                    <a:lumMod val="75000"/>
                  </a:schemeClr>
                </a:solidFill>
              </a:rPr>
              <a:t> allows to reproduce attacks and protocols from </a:t>
            </a:r>
            <a:r>
              <a:rPr lang="en-US" sz="2800" b="1" dirty="0" err="1">
                <a:solidFill>
                  <a:schemeClr val="accent5">
                    <a:lumMod val="75000"/>
                  </a:schemeClr>
                </a:solidFill>
              </a:rPr>
              <a:t>Pcap</a:t>
            </a:r>
            <a:r>
              <a:rPr lang="en-US" sz="2800" b="1" dirty="0">
                <a:solidFill>
                  <a:schemeClr val="accent5">
                    <a:lumMod val="75000"/>
                  </a:schemeClr>
                </a:solidFill>
              </a:rPr>
              <a:t> files </a:t>
            </a:r>
          </a:p>
        </p:txBody>
      </p:sp>
      <p:pic>
        <p:nvPicPr>
          <p:cNvPr id="17" name="Picture 16">
            <a:extLst>
              <a:ext uri="{FF2B5EF4-FFF2-40B4-BE49-F238E27FC236}">
                <a16:creationId xmlns:a16="http://schemas.microsoft.com/office/drawing/2014/main" id="{3FE20213-FD34-2FB2-12EC-4FE6DBD22674}"/>
              </a:ext>
            </a:extLst>
          </p:cNvPr>
          <p:cNvPicPr>
            <a:picLocks noChangeAspect="1"/>
          </p:cNvPicPr>
          <p:nvPr/>
        </p:nvPicPr>
        <p:blipFill>
          <a:blip r:embed="rId3">
            <a:extLst>
              <a:ext uri="{28A0092B-C50C-407E-A947-70E740481C1C}">
                <a14:useLocalDpi xmlns:a14="http://schemas.microsoft.com/office/drawing/2010/main" val="0"/>
              </a:ext>
            </a:extLst>
          </a:blip>
          <a:srcRect l="1255" t="2078" r="1985" b="1876"/>
          <a:stretch>
            <a:fillRect/>
          </a:stretch>
        </p:blipFill>
        <p:spPr>
          <a:xfrm>
            <a:off x="1483797" y="3943347"/>
            <a:ext cx="2421453" cy="2419351"/>
          </a:xfrm>
          <a:prstGeom prst="rect">
            <a:avLst/>
          </a:prstGeom>
        </p:spPr>
      </p:pic>
      <p:pic>
        <p:nvPicPr>
          <p:cNvPr id="19" name="Picture 18">
            <a:extLst>
              <a:ext uri="{FF2B5EF4-FFF2-40B4-BE49-F238E27FC236}">
                <a16:creationId xmlns:a16="http://schemas.microsoft.com/office/drawing/2014/main" id="{F8BC6AB9-A3A5-6BBC-3191-D98F87660630}"/>
              </a:ext>
            </a:extLst>
          </p:cNvPr>
          <p:cNvPicPr>
            <a:picLocks noChangeAspect="1"/>
          </p:cNvPicPr>
          <p:nvPr/>
        </p:nvPicPr>
        <p:blipFill>
          <a:blip r:embed="rId4">
            <a:extLst>
              <a:ext uri="{28A0092B-C50C-407E-A947-70E740481C1C}">
                <a14:useLocalDpi xmlns:a14="http://schemas.microsoft.com/office/drawing/2010/main" val="0"/>
              </a:ext>
            </a:extLst>
          </a:blip>
          <a:srcRect l="4098" t="5483" r="3029" b="3553"/>
          <a:stretch>
            <a:fillRect/>
          </a:stretch>
        </p:blipFill>
        <p:spPr>
          <a:xfrm>
            <a:off x="4711701" y="3943349"/>
            <a:ext cx="2471110" cy="2466624"/>
          </a:xfrm>
          <a:prstGeom prst="rect">
            <a:avLst/>
          </a:prstGeom>
        </p:spPr>
      </p:pic>
      <p:pic>
        <p:nvPicPr>
          <p:cNvPr id="21" name="Picture 20">
            <a:extLst>
              <a:ext uri="{FF2B5EF4-FFF2-40B4-BE49-F238E27FC236}">
                <a16:creationId xmlns:a16="http://schemas.microsoft.com/office/drawing/2014/main" id="{10720DAE-6FD5-6D44-5794-408FDBE2924D}"/>
              </a:ext>
            </a:extLst>
          </p:cNvPr>
          <p:cNvPicPr>
            <a:picLocks noChangeAspect="1"/>
          </p:cNvPicPr>
          <p:nvPr/>
        </p:nvPicPr>
        <p:blipFill>
          <a:blip r:embed="rId5">
            <a:extLst>
              <a:ext uri="{28A0092B-C50C-407E-A947-70E740481C1C}">
                <a14:useLocalDpi xmlns:a14="http://schemas.microsoft.com/office/drawing/2010/main" val="0"/>
              </a:ext>
            </a:extLst>
          </a:blip>
          <a:srcRect l="3794" t="3967" b="1842"/>
          <a:stretch>
            <a:fillRect/>
          </a:stretch>
        </p:blipFill>
        <p:spPr>
          <a:xfrm>
            <a:off x="8058150" y="3943347"/>
            <a:ext cx="2471110" cy="2419351"/>
          </a:xfrm>
          <a:prstGeom prst="rect">
            <a:avLst/>
          </a:prstGeom>
        </p:spPr>
      </p:pic>
    </p:spTree>
    <p:extLst>
      <p:ext uri="{BB962C8B-B14F-4D97-AF65-F5344CB8AC3E}">
        <p14:creationId xmlns:p14="http://schemas.microsoft.com/office/powerpoint/2010/main" val="21621060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CC10A-5858-8702-791E-AB3570CED9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CB8930-B82F-7807-1CD3-C1FD81570A94}"/>
              </a:ext>
            </a:extLst>
          </p:cNvPr>
          <p:cNvSpPr>
            <a:spLocks noGrp="1"/>
          </p:cNvSpPr>
          <p:nvPr>
            <p:ph type="title"/>
          </p:nvPr>
        </p:nvSpPr>
        <p:spPr>
          <a:xfrm>
            <a:off x="838200" y="801529"/>
            <a:ext cx="10515600" cy="1325563"/>
          </a:xfrm>
        </p:spPr>
        <p:txBody>
          <a:bodyPr/>
          <a:lstStyle/>
          <a:p>
            <a:r>
              <a:rPr lang="en-US" b="1" dirty="0">
                <a:solidFill>
                  <a:srgbClr val="A02B93"/>
                </a:solidFill>
              </a:rPr>
              <a:t>Grounding to Evidence –</a:t>
            </a:r>
            <a:br>
              <a:rPr lang="he-IL" b="1" dirty="0">
                <a:solidFill>
                  <a:srgbClr val="A02B93"/>
                </a:solidFill>
              </a:rPr>
            </a:br>
            <a:r>
              <a:rPr lang="en-US" b="1" dirty="0">
                <a:solidFill>
                  <a:srgbClr val="A02B93"/>
                </a:solidFill>
              </a:rPr>
              <a:t>The Path to Reproducibility </a:t>
            </a:r>
          </a:p>
        </p:txBody>
      </p:sp>
      <p:sp>
        <p:nvSpPr>
          <p:cNvPr id="3" name="Rectangle: Rounded Corners 2">
            <a:extLst>
              <a:ext uri="{FF2B5EF4-FFF2-40B4-BE49-F238E27FC236}">
                <a16:creationId xmlns:a16="http://schemas.microsoft.com/office/drawing/2014/main" id="{4122C094-8C48-0884-C2F3-9373593F37E4}"/>
              </a:ext>
            </a:extLst>
          </p:cNvPr>
          <p:cNvSpPr/>
          <p:nvPr/>
        </p:nvSpPr>
        <p:spPr>
          <a:xfrm>
            <a:off x="838198" y="2377436"/>
            <a:ext cx="2575560" cy="4176395"/>
          </a:xfrm>
          <a:prstGeom prst="roundRect">
            <a:avLst/>
          </a:prstGeom>
          <a:solidFill>
            <a:schemeClr val="bg1"/>
          </a:solidFill>
          <a:ln w="76200">
            <a:gradFill flip="none" rotWithShape="1">
              <a:gsLst>
                <a:gs pos="90000">
                  <a:schemeClr val="accent5">
                    <a:lumMod val="40000"/>
                    <a:lumOff val="60000"/>
                  </a:schemeClr>
                </a:gs>
                <a:gs pos="13000">
                  <a:schemeClr val="accent5">
                    <a:lumMod val="40000"/>
                    <a:lumOff val="60000"/>
                  </a:schemeClr>
                </a:gs>
                <a:gs pos="50000">
                  <a:schemeClr val="accent4">
                    <a:lumMod val="5000"/>
                    <a:lumOff val="95000"/>
                  </a:schemeClr>
                </a:gs>
                <a:gs pos="0">
                  <a:schemeClr val="accent5">
                    <a:lumMod val="75000"/>
                  </a:schemeClr>
                </a:gs>
                <a:gs pos="100000">
                  <a:schemeClr val="accent5">
                    <a:lumMod val="75000"/>
                  </a:schemeClr>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accent5">
                    <a:lumMod val="75000"/>
                  </a:schemeClr>
                </a:solidFill>
              </a:rPr>
              <a:t>Artifacts</a:t>
            </a:r>
          </a:p>
          <a:p>
            <a:pPr algn="ctr"/>
            <a:r>
              <a:rPr lang="en-US" sz="2400" b="1" dirty="0">
                <a:solidFill>
                  <a:schemeClr val="accent5">
                    <a:lumMod val="75000"/>
                  </a:schemeClr>
                </a:solidFill>
              </a:rPr>
              <a:t>Available</a:t>
            </a:r>
          </a:p>
          <a:p>
            <a:pPr algn="ctr"/>
            <a:r>
              <a:rPr lang="en-US" dirty="0">
                <a:solidFill>
                  <a:schemeClr val="tx1"/>
                </a:solidFill>
              </a:rPr>
              <a:t>To earn this badge, the AEC must judge that they </a:t>
            </a:r>
            <a:r>
              <a:rPr lang="en-US" b="1" dirty="0">
                <a:solidFill>
                  <a:schemeClr val="tx1"/>
                </a:solidFill>
              </a:rPr>
              <a:t>can use the submitted artifacts to obtain the main results presented in the paper</a:t>
            </a:r>
            <a:r>
              <a:rPr lang="en-US" dirty="0">
                <a:solidFill>
                  <a:schemeClr val="tx1"/>
                </a:solidFill>
              </a:rPr>
              <a:t>.</a:t>
            </a:r>
            <a:endParaRPr lang="en-US" sz="2400" b="1" dirty="0">
              <a:solidFill>
                <a:schemeClr val="tx1"/>
              </a:solidFill>
            </a:endParaRPr>
          </a:p>
          <a:p>
            <a:pPr algn="ctr"/>
            <a:endParaRPr lang="en-US" sz="2400" b="1" dirty="0">
              <a:solidFill>
                <a:schemeClr val="accent5">
                  <a:lumMod val="75000"/>
                </a:schemeClr>
              </a:solidFill>
            </a:endParaRPr>
          </a:p>
        </p:txBody>
      </p:sp>
      <p:sp>
        <p:nvSpPr>
          <p:cNvPr id="5" name="Rectangle: Rounded Corners 4">
            <a:extLst>
              <a:ext uri="{FF2B5EF4-FFF2-40B4-BE49-F238E27FC236}">
                <a16:creationId xmlns:a16="http://schemas.microsoft.com/office/drawing/2014/main" id="{0DFD1FFA-AA3C-D8F5-42BC-1B824B1034FB}"/>
              </a:ext>
            </a:extLst>
          </p:cNvPr>
          <p:cNvSpPr/>
          <p:nvPr/>
        </p:nvSpPr>
        <p:spPr>
          <a:xfrm>
            <a:off x="4808220" y="2377437"/>
            <a:ext cx="2575560" cy="4176395"/>
          </a:xfrm>
          <a:prstGeom prst="roundRect">
            <a:avLst/>
          </a:prstGeom>
          <a:solidFill>
            <a:schemeClr val="bg1"/>
          </a:solidFill>
          <a:ln w="76200">
            <a:gradFill flip="none" rotWithShape="1">
              <a:gsLst>
                <a:gs pos="90000">
                  <a:schemeClr val="accent5">
                    <a:lumMod val="40000"/>
                    <a:lumOff val="60000"/>
                  </a:schemeClr>
                </a:gs>
                <a:gs pos="13000">
                  <a:schemeClr val="accent5">
                    <a:lumMod val="40000"/>
                    <a:lumOff val="60000"/>
                  </a:schemeClr>
                </a:gs>
                <a:gs pos="50000">
                  <a:schemeClr val="accent4">
                    <a:lumMod val="5000"/>
                    <a:lumOff val="95000"/>
                  </a:schemeClr>
                </a:gs>
                <a:gs pos="0">
                  <a:schemeClr val="accent5">
                    <a:lumMod val="75000"/>
                  </a:schemeClr>
                </a:gs>
                <a:gs pos="100000">
                  <a:schemeClr val="accent5">
                    <a:lumMod val="75000"/>
                  </a:schemeClr>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accent5">
                    <a:lumMod val="75000"/>
                  </a:schemeClr>
                </a:solidFill>
              </a:rPr>
              <a:t>ARTIFACT EVALUATED</a:t>
            </a:r>
          </a:p>
          <a:p>
            <a:pPr algn="ctr"/>
            <a:r>
              <a:rPr lang="en-US" dirty="0">
                <a:solidFill>
                  <a:schemeClr val="tx1"/>
                </a:solidFill>
              </a:rPr>
              <a:t> To earn this badge, the AEC must judge that the artifacts </a:t>
            </a:r>
            <a:r>
              <a:rPr lang="en-US" b="1" dirty="0">
                <a:solidFill>
                  <a:schemeClr val="tx1"/>
                </a:solidFill>
              </a:rPr>
              <a:t>conform to the expectations set by the paper in terms of functionality, usability, and relevance</a:t>
            </a:r>
            <a:r>
              <a:rPr lang="en-US" dirty="0">
                <a:solidFill>
                  <a:schemeClr val="tx1"/>
                </a:solidFill>
              </a:rPr>
              <a:t>. </a:t>
            </a:r>
            <a:endParaRPr lang="en-US" sz="2400" b="1" dirty="0">
              <a:solidFill>
                <a:schemeClr val="tx1"/>
              </a:solidFill>
            </a:endParaRPr>
          </a:p>
        </p:txBody>
      </p:sp>
      <p:sp>
        <p:nvSpPr>
          <p:cNvPr id="7" name="Rectangle: Rounded Corners 6">
            <a:extLst>
              <a:ext uri="{FF2B5EF4-FFF2-40B4-BE49-F238E27FC236}">
                <a16:creationId xmlns:a16="http://schemas.microsoft.com/office/drawing/2014/main" id="{EFA485D8-5257-45FF-E736-57263E76CFA0}"/>
              </a:ext>
            </a:extLst>
          </p:cNvPr>
          <p:cNvSpPr/>
          <p:nvPr/>
        </p:nvSpPr>
        <p:spPr>
          <a:xfrm>
            <a:off x="8778242" y="2377438"/>
            <a:ext cx="2575560" cy="4176395"/>
          </a:xfrm>
          <a:prstGeom prst="roundRect">
            <a:avLst/>
          </a:prstGeom>
          <a:solidFill>
            <a:schemeClr val="bg1"/>
          </a:solidFill>
          <a:ln w="76200">
            <a:gradFill flip="none" rotWithShape="1">
              <a:gsLst>
                <a:gs pos="90000">
                  <a:schemeClr val="accent5">
                    <a:lumMod val="40000"/>
                    <a:lumOff val="60000"/>
                  </a:schemeClr>
                </a:gs>
                <a:gs pos="13000">
                  <a:schemeClr val="accent5">
                    <a:lumMod val="40000"/>
                    <a:lumOff val="60000"/>
                  </a:schemeClr>
                </a:gs>
                <a:gs pos="50000">
                  <a:schemeClr val="accent4">
                    <a:lumMod val="5000"/>
                    <a:lumOff val="95000"/>
                  </a:schemeClr>
                </a:gs>
                <a:gs pos="0">
                  <a:schemeClr val="accent5">
                    <a:lumMod val="75000"/>
                  </a:schemeClr>
                </a:gs>
                <a:gs pos="100000">
                  <a:schemeClr val="accent5">
                    <a:lumMod val="75000"/>
                  </a:schemeClr>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accent5">
                    <a:lumMod val="75000"/>
                  </a:schemeClr>
                </a:solidFill>
              </a:rPr>
              <a:t>RESULTS REPRODUCED</a:t>
            </a:r>
          </a:p>
          <a:p>
            <a:pPr algn="ctr"/>
            <a:r>
              <a:rPr lang="en-US" dirty="0">
                <a:solidFill>
                  <a:schemeClr val="tx1"/>
                </a:solidFill>
              </a:rPr>
              <a:t> To earn this badge, the AEC must judge that they </a:t>
            </a:r>
            <a:r>
              <a:rPr lang="en-US" b="1" dirty="0">
                <a:solidFill>
                  <a:schemeClr val="tx1"/>
                </a:solidFill>
              </a:rPr>
              <a:t>can use the submitted artifacts to obtain the main results presented in the paper</a:t>
            </a:r>
            <a:r>
              <a:rPr lang="en-US" dirty="0">
                <a:solidFill>
                  <a:schemeClr val="tx1"/>
                </a:solidFill>
              </a:rPr>
              <a:t>.</a:t>
            </a:r>
            <a:endParaRPr lang="en-US" sz="2400" b="1" dirty="0">
              <a:solidFill>
                <a:schemeClr val="tx1"/>
              </a:solidFill>
            </a:endParaRPr>
          </a:p>
        </p:txBody>
      </p:sp>
    </p:spTree>
    <p:extLst>
      <p:ext uri="{BB962C8B-B14F-4D97-AF65-F5344CB8AC3E}">
        <p14:creationId xmlns:p14="http://schemas.microsoft.com/office/powerpoint/2010/main" val="1930785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07D3F-501D-1E12-4B71-8E7B7E3A25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E1D63C-9A5D-2DD3-D946-BFD3E6D0A811}"/>
              </a:ext>
            </a:extLst>
          </p:cNvPr>
          <p:cNvSpPr>
            <a:spLocks noGrp="1"/>
          </p:cNvSpPr>
          <p:nvPr>
            <p:ph type="title"/>
          </p:nvPr>
        </p:nvSpPr>
        <p:spPr>
          <a:xfrm>
            <a:off x="838200" y="801529"/>
            <a:ext cx="10515600" cy="1325563"/>
          </a:xfrm>
        </p:spPr>
        <p:txBody>
          <a:bodyPr/>
          <a:lstStyle/>
          <a:p>
            <a:r>
              <a:rPr lang="en-US" b="1" dirty="0">
                <a:solidFill>
                  <a:srgbClr val="A02B93"/>
                </a:solidFill>
              </a:rPr>
              <a:t>Grounding to Evidence –</a:t>
            </a:r>
            <a:br>
              <a:rPr lang="he-IL" b="1" dirty="0">
                <a:solidFill>
                  <a:srgbClr val="A02B93"/>
                </a:solidFill>
              </a:rPr>
            </a:br>
            <a:r>
              <a:rPr lang="en-US" b="1" dirty="0">
                <a:solidFill>
                  <a:srgbClr val="A02B93"/>
                </a:solidFill>
              </a:rPr>
              <a:t>The Path to Reproducibility </a:t>
            </a:r>
          </a:p>
        </p:txBody>
      </p:sp>
      <p:sp>
        <p:nvSpPr>
          <p:cNvPr id="3" name="Rectangle: Rounded Corners 2">
            <a:extLst>
              <a:ext uri="{FF2B5EF4-FFF2-40B4-BE49-F238E27FC236}">
                <a16:creationId xmlns:a16="http://schemas.microsoft.com/office/drawing/2014/main" id="{1CCED814-8E58-2AB9-3CC7-2CB5780764E0}"/>
              </a:ext>
            </a:extLst>
          </p:cNvPr>
          <p:cNvSpPr/>
          <p:nvPr/>
        </p:nvSpPr>
        <p:spPr>
          <a:xfrm>
            <a:off x="838198" y="2377436"/>
            <a:ext cx="2575560" cy="4176395"/>
          </a:xfrm>
          <a:prstGeom prst="roundRect">
            <a:avLst/>
          </a:prstGeom>
          <a:solidFill>
            <a:schemeClr val="bg1"/>
          </a:solidFill>
          <a:ln w="76200">
            <a:gradFill flip="none" rotWithShape="1">
              <a:gsLst>
                <a:gs pos="90000">
                  <a:schemeClr val="accent5">
                    <a:lumMod val="40000"/>
                    <a:lumOff val="60000"/>
                  </a:schemeClr>
                </a:gs>
                <a:gs pos="13000">
                  <a:schemeClr val="accent5">
                    <a:lumMod val="40000"/>
                    <a:lumOff val="60000"/>
                  </a:schemeClr>
                </a:gs>
                <a:gs pos="50000">
                  <a:schemeClr val="accent4">
                    <a:lumMod val="5000"/>
                    <a:lumOff val="95000"/>
                  </a:schemeClr>
                </a:gs>
                <a:gs pos="0">
                  <a:schemeClr val="accent5">
                    <a:lumMod val="75000"/>
                  </a:schemeClr>
                </a:gs>
                <a:gs pos="100000">
                  <a:schemeClr val="accent5">
                    <a:lumMod val="75000"/>
                  </a:schemeClr>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accent5">
                    <a:lumMod val="75000"/>
                  </a:schemeClr>
                </a:solidFill>
              </a:rPr>
              <a:t>Artifacts</a:t>
            </a:r>
          </a:p>
          <a:p>
            <a:pPr algn="ctr"/>
            <a:r>
              <a:rPr lang="en-US" sz="2400" b="1" dirty="0">
                <a:solidFill>
                  <a:schemeClr val="accent5">
                    <a:lumMod val="75000"/>
                  </a:schemeClr>
                </a:solidFill>
              </a:rPr>
              <a:t>Available</a:t>
            </a:r>
          </a:p>
          <a:p>
            <a:pPr algn="ctr"/>
            <a:r>
              <a:rPr lang="en-US" dirty="0">
                <a:solidFill>
                  <a:schemeClr val="tx1"/>
                </a:solidFill>
              </a:rPr>
              <a:t>To earn this badge, the AEC must judge that they </a:t>
            </a:r>
            <a:r>
              <a:rPr lang="en-US" b="1" dirty="0">
                <a:solidFill>
                  <a:schemeClr val="tx1"/>
                </a:solidFill>
              </a:rPr>
              <a:t>can use the submitted artifacts to obtain the main results presented in the paper</a:t>
            </a:r>
            <a:r>
              <a:rPr lang="en-US" dirty="0">
                <a:solidFill>
                  <a:schemeClr val="tx1"/>
                </a:solidFill>
              </a:rPr>
              <a:t>.</a:t>
            </a:r>
            <a:endParaRPr lang="en-US" sz="2400" b="1" dirty="0">
              <a:solidFill>
                <a:schemeClr val="tx1"/>
              </a:solidFill>
            </a:endParaRPr>
          </a:p>
          <a:p>
            <a:pPr algn="ctr"/>
            <a:endParaRPr lang="en-US" sz="2400" b="1" dirty="0">
              <a:solidFill>
                <a:schemeClr val="accent5">
                  <a:lumMod val="75000"/>
                </a:schemeClr>
              </a:solidFill>
            </a:endParaRPr>
          </a:p>
        </p:txBody>
      </p:sp>
      <p:sp>
        <p:nvSpPr>
          <p:cNvPr id="5" name="Rectangle: Rounded Corners 4">
            <a:extLst>
              <a:ext uri="{FF2B5EF4-FFF2-40B4-BE49-F238E27FC236}">
                <a16:creationId xmlns:a16="http://schemas.microsoft.com/office/drawing/2014/main" id="{27157BCE-1978-D27E-010A-AD3732936B19}"/>
              </a:ext>
            </a:extLst>
          </p:cNvPr>
          <p:cNvSpPr/>
          <p:nvPr/>
        </p:nvSpPr>
        <p:spPr>
          <a:xfrm>
            <a:off x="4808220" y="2377437"/>
            <a:ext cx="2575560" cy="4176395"/>
          </a:xfrm>
          <a:prstGeom prst="roundRect">
            <a:avLst/>
          </a:prstGeom>
          <a:solidFill>
            <a:schemeClr val="bg1"/>
          </a:solidFill>
          <a:ln w="76200">
            <a:gradFill flip="none" rotWithShape="1">
              <a:gsLst>
                <a:gs pos="90000">
                  <a:schemeClr val="accent5">
                    <a:lumMod val="40000"/>
                    <a:lumOff val="60000"/>
                  </a:schemeClr>
                </a:gs>
                <a:gs pos="13000">
                  <a:schemeClr val="accent5">
                    <a:lumMod val="40000"/>
                    <a:lumOff val="60000"/>
                  </a:schemeClr>
                </a:gs>
                <a:gs pos="50000">
                  <a:schemeClr val="accent4">
                    <a:lumMod val="5000"/>
                    <a:lumOff val="95000"/>
                  </a:schemeClr>
                </a:gs>
                <a:gs pos="0">
                  <a:schemeClr val="accent5">
                    <a:lumMod val="75000"/>
                  </a:schemeClr>
                </a:gs>
                <a:gs pos="100000">
                  <a:schemeClr val="accent5">
                    <a:lumMod val="75000"/>
                  </a:schemeClr>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accent5">
                    <a:lumMod val="75000"/>
                  </a:schemeClr>
                </a:solidFill>
              </a:rPr>
              <a:t>ARTIFACT EVALUATED</a:t>
            </a:r>
          </a:p>
          <a:p>
            <a:pPr algn="ctr"/>
            <a:r>
              <a:rPr lang="en-US" dirty="0">
                <a:solidFill>
                  <a:schemeClr val="tx1"/>
                </a:solidFill>
              </a:rPr>
              <a:t> To earn this badge, the AEC must judge that the artifacts </a:t>
            </a:r>
            <a:r>
              <a:rPr lang="en-US" b="1" dirty="0">
                <a:solidFill>
                  <a:schemeClr val="tx1"/>
                </a:solidFill>
              </a:rPr>
              <a:t>conform to the expectations set by the paper in terms of functionality, usability, and relevance</a:t>
            </a:r>
            <a:r>
              <a:rPr lang="en-US" dirty="0">
                <a:solidFill>
                  <a:schemeClr val="tx1"/>
                </a:solidFill>
              </a:rPr>
              <a:t>. </a:t>
            </a:r>
            <a:endParaRPr lang="en-US" sz="2400" b="1" dirty="0">
              <a:solidFill>
                <a:schemeClr val="tx1"/>
              </a:solidFill>
            </a:endParaRPr>
          </a:p>
        </p:txBody>
      </p:sp>
      <p:sp>
        <p:nvSpPr>
          <p:cNvPr id="7" name="Rectangle: Rounded Corners 6">
            <a:extLst>
              <a:ext uri="{FF2B5EF4-FFF2-40B4-BE49-F238E27FC236}">
                <a16:creationId xmlns:a16="http://schemas.microsoft.com/office/drawing/2014/main" id="{06E8E710-FA01-F94A-AC51-DCF4CFB6721B}"/>
              </a:ext>
            </a:extLst>
          </p:cNvPr>
          <p:cNvSpPr/>
          <p:nvPr/>
        </p:nvSpPr>
        <p:spPr>
          <a:xfrm>
            <a:off x="8778242" y="2377438"/>
            <a:ext cx="2575560" cy="4176395"/>
          </a:xfrm>
          <a:prstGeom prst="roundRect">
            <a:avLst/>
          </a:prstGeom>
          <a:solidFill>
            <a:schemeClr val="bg1"/>
          </a:solidFill>
          <a:ln w="76200">
            <a:gradFill flip="none" rotWithShape="1">
              <a:gsLst>
                <a:gs pos="90000">
                  <a:schemeClr val="accent5">
                    <a:lumMod val="40000"/>
                    <a:lumOff val="60000"/>
                  </a:schemeClr>
                </a:gs>
                <a:gs pos="13000">
                  <a:schemeClr val="accent5">
                    <a:lumMod val="40000"/>
                    <a:lumOff val="60000"/>
                  </a:schemeClr>
                </a:gs>
                <a:gs pos="50000">
                  <a:schemeClr val="accent4">
                    <a:lumMod val="5000"/>
                    <a:lumOff val="95000"/>
                  </a:schemeClr>
                </a:gs>
                <a:gs pos="0">
                  <a:schemeClr val="accent5">
                    <a:lumMod val="75000"/>
                  </a:schemeClr>
                </a:gs>
                <a:gs pos="100000">
                  <a:schemeClr val="accent5">
                    <a:lumMod val="75000"/>
                  </a:schemeClr>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accent5">
                    <a:lumMod val="75000"/>
                  </a:schemeClr>
                </a:solidFill>
              </a:rPr>
              <a:t>RESULTS REPRODUCED</a:t>
            </a:r>
          </a:p>
          <a:p>
            <a:pPr algn="ctr"/>
            <a:r>
              <a:rPr lang="en-US" dirty="0">
                <a:solidFill>
                  <a:schemeClr val="tx1"/>
                </a:solidFill>
              </a:rPr>
              <a:t> To earn this badge, the AEC must judge that they </a:t>
            </a:r>
            <a:r>
              <a:rPr lang="en-US" b="1" dirty="0">
                <a:solidFill>
                  <a:schemeClr val="tx1"/>
                </a:solidFill>
              </a:rPr>
              <a:t>can use the submitted artifacts to obtain the main results presented in the paper</a:t>
            </a:r>
            <a:r>
              <a:rPr lang="en-US" dirty="0">
                <a:solidFill>
                  <a:schemeClr val="tx1"/>
                </a:solidFill>
              </a:rPr>
              <a:t>.</a:t>
            </a:r>
            <a:endParaRPr lang="en-US" sz="2400" b="1" dirty="0">
              <a:solidFill>
                <a:schemeClr val="tx1"/>
              </a:solidFill>
            </a:endParaRPr>
          </a:p>
        </p:txBody>
      </p:sp>
    </p:spTree>
    <p:extLst>
      <p:ext uri="{BB962C8B-B14F-4D97-AF65-F5344CB8AC3E}">
        <p14:creationId xmlns:p14="http://schemas.microsoft.com/office/powerpoint/2010/main" val="3118445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D94B5-E2F0-2C8A-10C0-4B07A636AC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29A89C-DD80-87FF-E347-5B949CA16D7E}"/>
              </a:ext>
            </a:extLst>
          </p:cNvPr>
          <p:cNvSpPr>
            <a:spLocks noGrp="1"/>
          </p:cNvSpPr>
          <p:nvPr>
            <p:ph type="title"/>
          </p:nvPr>
        </p:nvSpPr>
        <p:spPr>
          <a:xfrm>
            <a:off x="435428" y="-313191"/>
            <a:ext cx="10515600" cy="1325563"/>
          </a:xfrm>
        </p:spPr>
        <p:txBody>
          <a:bodyPr/>
          <a:lstStyle/>
          <a:p>
            <a:r>
              <a:rPr lang="en-US" b="1" dirty="0">
                <a:solidFill>
                  <a:srgbClr val="A02B93"/>
                </a:solidFill>
              </a:rPr>
              <a:t>Validator </a:t>
            </a:r>
          </a:p>
        </p:txBody>
      </p:sp>
      <p:sp>
        <p:nvSpPr>
          <p:cNvPr id="3" name="Rectangle: Rounded Corners 2">
            <a:extLst>
              <a:ext uri="{FF2B5EF4-FFF2-40B4-BE49-F238E27FC236}">
                <a16:creationId xmlns:a16="http://schemas.microsoft.com/office/drawing/2014/main" id="{FDF43DED-6233-2348-3BB8-76BE718880C5}"/>
              </a:ext>
            </a:extLst>
          </p:cNvPr>
          <p:cNvSpPr/>
          <p:nvPr/>
        </p:nvSpPr>
        <p:spPr>
          <a:xfrm>
            <a:off x="993861" y="1698170"/>
            <a:ext cx="2419895" cy="4313867"/>
          </a:xfrm>
          <a:prstGeom prst="roundRect">
            <a:avLst/>
          </a:prstGeom>
          <a:solidFill>
            <a:schemeClr val="bg1"/>
          </a:solidFill>
          <a:ln w="76200">
            <a:gradFill flip="none" rotWithShape="1">
              <a:gsLst>
                <a:gs pos="90000">
                  <a:schemeClr val="accent5">
                    <a:lumMod val="40000"/>
                    <a:lumOff val="60000"/>
                  </a:schemeClr>
                </a:gs>
                <a:gs pos="13000">
                  <a:schemeClr val="accent5">
                    <a:lumMod val="40000"/>
                    <a:lumOff val="60000"/>
                  </a:schemeClr>
                </a:gs>
                <a:gs pos="50000">
                  <a:schemeClr val="accent4">
                    <a:lumMod val="5000"/>
                    <a:lumOff val="95000"/>
                  </a:schemeClr>
                </a:gs>
                <a:gs pos="0">
                  <a:schemeClr val="accent5">
                    <a:lumMod val="75000"/>
                  </a:schemeClr>
                </a:gs>
                <a:gs pos="100000">
                  <a:schemeClr val="accent5">
                    <a:lumMod val="75000"/>
                  </a:schemeClr>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accent5">
                    <a:lumMod val="75000"/>
                  </a:schemeClr>
                </a:solidFill>
              </a:rPr>
              <a:t>Plain LLM Instructions</a:t>
            </a:r>
          </a:p>
          <a:p>
            <a:pPr algn="ctr"/>
            <a:endParaRPr lang="he-IL" dirty="0">
              <a:solidFill>
                <a:schemeClr val="tx1"/>
              </a:solidFill>
            </a:endParaRPr>
          </a:p>
          <a:p>
            <a:pPr algn="ctr"/>
            <a:endParaRPr lang="he-IL" dirty="0">
              <a:solidFill>
                <a:schemeClr val="tx1"/>
              </a:solidFill>
            </a:endParaRPr>
          </a:p>
          <a:p>
            <a:pPr algn="ctr"/>
            <a:r>
              <a:rPr lang="en-US" dirty="0">
                <a:solidFill>
                  <a:srgbClr val="FF0000"/>
                </a:solidFill>
              </a:rPr>
              <a:t>D2/Mermaid </a:t>
            </a:r>
          </a:p>
          <a:p>
            <a:pPr algn="ctr"/>
            <a:r>
              <a:rPr lang="en-US" dirty="0">
                <a:solidFill>
                  <a:srgbClr val="FF0000"/>
                </a:solidFill>
              </a:rPr>
              <a:t>Syntax</a:t>
            </a:r>
            <a:r>
              <a:rPr lang="he-IL" dirty="0">
                <a:solidFill>
                  <a:srgbClr val="FF0000"/>
                </a:solidFill>
              </a:rPr>
              <a:t>  </a:t>
            </a:r>
            <a:r>
              <a:rPr lang="en-US" dirty="0">
                <a:solidFill>
                  <a:srgbClr val="FF0000"/>
                </a:solidFill>
              </a:rPr>
              <a:t>- Done algorithmically too</a:t>
            </a:r>
          </a:p>
          <a:p>
            <a:pPr algn="ctr"/>
            <a:endParaRPr lang="en-US" dirty="0">
              <a:solidFill>
                <a:schemeClr val="tx1"/>
              </a:solidFill>
            </a:endParaRPr>
          </a:p>
          <a:p>
            <a:pPr algn="ctr"/>
            <a:r>
              <a:rPr lang="en-US" dirty="0">
                <a:solidFill>
                  <a:schemeClr val="tx1"/>
                </a:solidFill>
              </a:rPr>
              <a:t>Verify generator AI instructions</a:t>
            </a:r>
          </a:p>
          <a:p>
            <a:pPr algn="ctr"/>
            <a:endParaRPr lang="en-US" dirty="0">
              <a:solidFill>
                <a:schemeClr val="tx1"/>
              </a:solidFill>
            </a:endParaRPr>
          </a:p>
          <a:p>
            <a:pPr algn="ctr"/>
            <a:r>
              <a:rPr lang="en-US" dirty="0">
                <a:solidFill>
                  <a:schemeClr val="tx1"/>
                </a:solidFill>
              </a:rPr>
              <a:t>Format &amp; Readability</a:t>
            </a:r>
          </a:p>
          <a:p>
            <a:pPr algn="ctr"/>
            <a:endParaRPr lang="en-US" sz="2400" dirty="0">
              <a:solidFill>
                <a:schemeClr val="tx1"/>
              </a:solidFill>
            </a:endParaRPr>
          </a:p>
          <a:p>
            <a:pPr algn="ctr"/>
            <a:endParaRPr lang="en-US" sz="2400" b="1" dirty="0">
              <a:solidFill>
                <a:schemeClr val="accent5">
                  <a:lumMod val="75000"/>
                </a:schemeClr>
              </a:solidFill>
            </a:endParaRPr>
          </a:p>
        </p:txBody>
      </p:sp>
      <p:sp>
        <p:nvSpPr>
          <p:cNvPr id="5" name="Rectangle: Rounded Corners 4">
            <a:extLst>
              <a:ext uri="{FF2B5EF4-FFF2-40B4-BE49-F238E27FC236}">
                <a16:creationId xmlns:a16="http://schemas.microsoft.com/office/drawing/2014/main" id="{FC00B2BC-3871-C2FE-BD5B-DE8B8CD43C3A}"/>
              </a:ext>
            </a:extLst>
          </p:cNvPr>
          <p:cNvSpPr/>
          <p:nvPr/>
        </p:nvSpPr>
        <p:spPr>
          <a:xfrm>
            <a:off x="4886052" y="1675087"/>
            <a:ext cx="2419895" cy="4313867"/>
          </a:xfrm>
          <a:prstGeom prst="roundRect">
            <a:avLst/>
          </a:prstGeom>
          <a:solidFill>
            <a:schemeClr val="bg1"/>
          </a:solidFill>
          <a:ln w="76200">
            <a:gradFill flip="none" rotWithShape="1">
              <a:gsLst>
                <a:gs pos="90000">
                  <a:schemeClr val="accent5">
                    <a:lumMod val="40000"/>
                    <a:lumOff val="60000"/>
                  </a:schemeClr>
                </a:gs>
                <a:gs pos="13000">
                  <a:schemeClr val="accent5">
                    <a:lumMod val="40000"/>
                    <a:lumOff val="60000"/>
                  </a:schemeClr>
                </a:gs>
                <a:gs pos="50000">
                  <a:schemeClr val="accent4">
                    <a:lumMod val="5000"/>
                    <a:lumOff val="95000"/>
                  </a:schemeClr>
                </a:gs>
                <a:gs pos="0">
                  <a:schemeClr val="accent5">
                    <a:lumMod val="75000"/>
                  </a:schemeClr>
                </a:gs>
                <a:gs pos="100000">
                  <a:schemeClr val="accent5">
                    <a:lumMod val="75000"/>
                  </a:schemeClr>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accent5">
                    <a:lumMod val="75000"/>
                  </a:schemeClr>
                </a:solidFill>
              </a:rPr>
              <a:t>Node Alignment</a:t>
            </a:r>
          </a:p>
          <a:p>
            <a:pPr algn="ctr"/>
            <a:r>
              <a:rPr lang="en-US" u="sng" dirty="0">
                <a:solidFill>
                  <a:schemeClr val="tx1"/>
                </a:solidFill>
              </a:rPr>
              <a:t>Node Precision:</a:t>
            </a:r>
            <a:r>
              <a:rPr lang="en-US" dirty="0">
                <a:solidFill>
                  <a:schemeClr val="tx1"/>
                </a:solidFill>
              </a:rPr>
              <a:t> Don’t make up actors</a:t>
            </a:r>
          </a:p>
          <a:p>
            <a:pPr algn="ctr"/>
            <a:r>
              <a:rPr lang="en-US" u="sng" dirty="0">
                <a:solidFill>
                  <a:schemeClr val="tx1"/>
                </a:solidFill>
              </a:rPr>
              <a:t>Recall:</a:t>
            </a:r>
            <a:r>
              <a:rPr lang="en-US" dirty="0">
                <a:solidFill>
                  <a:schemeClr val="tx1"/>
                </a:solidFill>
              </a:rPr>
              <a:t> Don’t forget about actors</a:t>
            </a:r>
          </a:p>
          <a:p>
            <a:pPr algn="ctr"/>
            <a:endParaRPr lang="he-IL" dirty="0">
              <a:solidFill>
                <a:schemeClr val="tx1"/>
              </a:solidFill>
            </a:endParaRPr>
          </a:p>
          <a:p>
            <a:pPr algn="ctr"/>
            <a:r>
              <a:rPr lang="en-US" dirty="0">
                <a:solidFill>
                  <a:schemeClr val="tx1"/>
                </a:solidFill>
              </a:rPr>
              <a:t> F1 Score combines the two</a:t>
            </a:r>
            <a:endParaRPr lang="en-US" sz="2400" b="1" dirty="0">
              <a:solidFill>
                <a:schemeClr val="tx1"/>
              </a:solidFill>
            </a:endParaRPr>
          </a:p>
        </p:txBody>
      </p:sp>
      <p:sp>
        <p:nvSpPr>
          <p:cNvPr id="7" name="Rectangle: Rounded Corners 6">
            <a:extLst>
              <a:ext uri="{FF2B5EF4-FFF2-40B4-BE49-F238E27FC236}">
                <a16:creationId xmlns:a16="http://schemas.microsoft.com/office/drawing/2014/main" id="{BC6ADA90-4C5B-A65D-E6DE-B82D9DDE7870}"/>
              </a:ext>
            </a:extLst>
          </p:cNvPr>
          <p:cNvSpPr/>
          <p:nvPr/>
        </p:nvSpPr>
        <p:spPr>
          <a:xfrm>
            <a:off x="8675914" y="1558246"/>
            <a:ext cx="2754086" cy="4588774"/>
          </a:xfrm>
          <a:prstGeom prst="roundRect">
            <a:avLst/>
          </a:prstGeom>
          <a:solidFill>
            <a:schemeClr val="bg1"/>
          </a:solidFill>
          <a:ln w="76200">
            <a:gradFill flip="none" rotWithShape="1">
              <a:gsLst>
                <a:gs pos="90000">
                  <a:schemeClr val="accent5">
                    <a:lumMod val="40000"/>
                    <a:lumOff val="60000"/>
                  </a:schemeClr>
                </a:gs>
                <a:gs pos="13000">
                  <a:schemeClr val="accent5">
                    <a:lumMod val="40000"/>
                    <a:lumOff val="60000"/>
                  </a:schemeClr>
                </a:gs>
                <a:gs pos="50000">
                  <a:schemeClr val="accent4">
                    <a:lumMod val="5000"/>
                    <a:lumOff val="95000"/>
                  </a:schemeClr>
                </a:gs>
                <a:gs pos="0">
                  <a:schemeClr val="accent5">
                    <a:lumMod val="75000"/>
                  </a:schemeClr>
                </a:gs>
                <a:gs pos="100000">
                  <a:schemeClr val="accent5">
                    <a:lumMod val="75000"/>
                  </a:schemeClr>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e-IL" sz="2400" b="1" dirty="0">
              <a:solidFill>
                <a:schemeClr val="accent5">
                  <a:lumMod val="75000"/>
                </a:schemeClr>
              </a:solidFill>
            </a:endParaRPr>
          </a:p>
          <a:p>
            <a:pPr algn="ctr"/>
            <a:endParaRPr lang="he-IL" sz="2400" b="1" dirty="0">
              <a:solidFill>
                <a:schemeClr val="accent5">
                  <a:lumMod val="75000"/>
                </a:schemeClr>
              </a:solidFill>
            </a:endParaRPr>
          </a:p>
          <a:p>
            <a:pPr algn="ctr"/>
            <a:r>
              <a:rPr lang="en-US" sz="2400" b="1" dirty="0">
                <a:solidFill>
                  <a:schemeClr val="accent5">
                    <a:lumMod val="75000"/>
                  </a:schemeClr>
                </a:solidFill>
              </a:rPr>
              <a:t>Path Alignment </a:t>
            </a:r>
          </a:p>
          <a:p>
            <a:pPr algn="ctr"/>
            <a:endParaRPr lang="he-IL" u="sng" dirty="0">
              <a:solidFill>
                <a:schemeClr val="tx1"/>
              </a:solidFill>
            </a:endParaRPr>
          </a:p>
          <a:p>
            <a:pPr algn="ctr"/>
            <a:r>
              <a:rPr lang="en-US" u="sng" dirty="0">
                <a:solidFill>
                  <a:schemeClr val="tx1"/>
                </a:solidFill>
              </a:rPr>
              <a:t>Path Precision</a:t>
            </a:r>
            <a:r>
              <a:rPr lang="en-US" dirty="0">
                <a:solidFill>
                  <a:schemeClr val="tx1"/>
                </a:solidFill>
              </a:rPr>
              <a:t>: are there made up arrows? Are all arrows going to the correct directions?</a:t>
            </a:r>
          </a:p>
          <a:p>
            <a:pPr algn="ctr"/>
            <a:r>
              <a:rPr lang="en-US" u="sng" dirty="0">
                <a:solidFill>
                  <a:schemeClr val="tx1"/>
                </a:solidFill>
              </a:rPr>
              <a:t>Recall</a:t>
            </a:r>
            <a:r>
              <a:rPr lang="en-US" dirty="0">
                <a:solidFill>
                  <a:schemeClr val="tx1"/>
                </a:solidFill>
              </a:rPr>
              <a:t>: Did you skip critical steps in the attack?</a:t>
            </a:r>
            <a:r>
              <a:rPr lang="he-IL" dirty="0">
                <a:solidFill>
                  <a:schemeClr val="tx1"/>
                </a:solidFill>
              </a:rPr>
              <a:t> </a:t>
            </a:r>
            <a:r>
              <a:rPr lang="en-US" dirty="0">
                <a:solidFill>
                  <a:srgbClr val="FF0000"/>
                </a:solidFill>
              </a:rPr>
              <a:t>Here needs to distinguish noise – compare to AI insight analysis</a:t>
            </a:r>
          </a:p>
          <a:p>
            <a:pPr algn="ctr"/>
            <a:endParaRPr lang="he-IL" dirty="0">
              <a:solidFill>
                <a:schemeClr val="tx1"/>
              </a:solidFill>
            </a:endParaRPr>
          </a:p>
          <a:p>
            <a:pPr algn="ctr"/>
            <a:r>
              <a:rPr lang="en-US" dirty="0">
                <a:solidFill>
                  <a:schemeClr val="tx1"/>
                </a:solidFill>
              </a:rPr>
              <a:t> F1 Score combines the two</a:t>
            </a:r>
            <a:endParaRPr lang="en-US" sz="2400" b="1" dirty="0">
              <a:solidFill>
                <a:schemeClr val="tx1"/>
              </a:solidFill>
            </a:endParaRPr>
          </a:p>
          <a:p>
            <a:pPr algn="ctr"/>
            <a:endParaRPr lang="en-US" dirty="0">
              <a:solidFill>
                <a:schemeClr val="tx1"/>
              </a:solidFill>
            </a:endParaRPr>
          </a:p>
          <a:p>
            <a:pPr algn="ctr"/>
            <a:endParaRPr lang="en-US" sz="2400" b="1" dirty="0">
              <a:solidFill>
                <a:schemeClr val="tx1"/>
              </a:solidFill>
            </a:endParaRPr>
          </a:p>
          <a:p>
            <a:pPr algn="ctr"/>
            <a:endParaRPr lang="en-US" dirty="0">
              <a:solidFill>
                <a:schemeClr val="tx1"/>
              </a:solidFill>
            </a:endParaRPr>
          </a:p>
        </p:txBody>
      </p:sp>
      <p:sp>
        <p:nvSpPr>
          <p:cNvPr id="6" name="TextBox 5">
            <a:extLst>
              <a:ext uri="{FF2B5EF4-FFF2-40B4-BE49-F238E27FC236}">
                <a16:creationId xmlns:a16="http://schemas.microsoft.com/office/drawing/2014/main" id="{C1C215A4-93C9-453F-D6CC-1A6F6CD257F8}"/>
              </a:ext>
            </a:extLst>
          </p:cNvPr>
          <p:cNvSpPr txBox="1"/>
          <p:nvPr/>
        </p:nvSpPr>
        <p:spPr>
          <a:xfrm>
            <a:off x="5334000" y="689207"/>
            <a:ext cx="6096000" cy="646331"/>
          </a:xfrm>
          <a:prstGeom prst="rect">
            <a:avLst/>
          </a:prstGeom>
          <a:noFill/>
        </p:spPr>
        <p:txBody>
          <a:bodyPr wrap="square">
            <a:spAutoFit/>
          </a:bodyPr>
          <a:lstStyle/>
          <a:p>
            <a:pPr algn="ctr"/>
            <a:r>
              <a:rPr lang="en-US" sz="1800" b="1" dirty="0" err="1">
                <a:solidFill>
                  <a:schemeClr val="accent5">
                    <a:lumMod val="75000"/>
                  </a:schemeClr>
                </a:solidFill>
              </a:rPr>
              <a:t>DiagramEval</a:t>
            </a:r>
            <a:r>
              <a:rPr lang="en-US" sz="1800" b="1" dirty="0">
                <a:solidFill>
                  <a:schemeClr val="accent5">
                    <a:lumMod val="75000"/>
                  </a:schemeClr>
                </a:solidFill>
              </a:rPr>
              <a:t> Metrics</a:t>
            </a:r>
            <a:endParaRPr lang="he-IL" sz="1800" b="1" dirty="0">
              <a:solidFill>
                <a:schemeClr val="accent5">
                  <a:lumMod val="75000"/>
                </a:schemeClr>
              </a:solidFill>
            </a:endParaRPr>
          </a:p>
          <a:p>
            <a:pPr algn="ctr"/>
            <a:r>
              <a:rPr lang="he-IL" sz="1800" b="1" dirty="0">
                <a:solidFill>
                  <a:schemeClr val="accent5">
                    <a:lumMod val="75000"/>
                  </a:schemeClr>
                </a:solidFill>
              </a:rPr>
              <a:t>)</a:t>
            </a:r>
            <a:r>
              <a:rPr lang="en-US" sz="1800" b="1" dirty="0">
                <a:solidFill>
                  <a:schemeClr val="accent5">
                    <a:lumMod val="75000"/>
                  </a:schemeClr>
                </a:solidFill>
              </a:rPr>
              <a:t>Algorithmic comparison to </a:t>
            </a:r>
            <a:r>
              <a:rPr lang="en-US" sz="1800" b="1" dirty="0" err="1">
                <a:solidFill>
                  <a:schemeClr val="accent5">
                    <a:lumMod val="75000"/>
                  </a:schemeClr>
                </a:solidFill>
              </a:rPr>
              <a:t>Pcap</a:t>
            </a:r>
            <a:r>
              <a:rPr lang="en-US" sz="1800" b="1" dirty="0">
                <a:solidFill>
                  <a:schemeClr val="accent5">
                    <a:lumMod val="75000"/>
                  </a:schemeClr>
                </a:solidFill>
              </a:rPr>
              <a:t>)</a:t>
            </a:r>
          </a:p>
        </p:txBody>
      </p:sp>
      <p:sp>
        <p:nvSpPr>
          <p:cNvPr id="9" name="TextBox 8">
            <a:extLst>
              <a:ext uri="{FF2B5EF4-FFF2-40B4-BE49-F238E27FC236}">
                <a16:creationId xmlns:a16="http://schemas.microsoft.com/office/drawing/2014/main" id="{42FB792D-75BB-1537-306F-BA4BD126F461}"/>
              </a:ext>
            </a:extLst>
          </p:cNvPr>
          <p:cNvSpPr txBox="1"/>
          <p:nvPr/>
        </p:nvSpPr>
        <p:spPr>
          <a:xfrm>
            <a:off x="3243943" y="6328503"/>
            <a:ext cx="6096000" cy="369332"/>
          </a:xfrm>
          <a:prstGeom prst="rect">
            <a:avLst/>
          </a:prstGeom>
          <a:noFill/>
        </p:spPr>
        <p:txBody>
          <a:bodyPr wrap="square">
            <a:spAutoFit/>
          </a:bodyPr>
          <a:lstStyle/>
          <a:p>
            <a:pPr algn="ctr"/>
            <a:r>
              <a:rPr lang="en-US" b="1" dirty="0">
                <a:solidFill>
                  <a:schemeClr val="accent5">
                    <a:lumMod val="75000"/>
                  </a:schemeClr>
                </a:solidFill>
              </a:rPr>
              <a:t>Output a Diagram Score Report</a:t>
            </a:r>
          </a:p>
        </p:txBody>
      </p:sp>
      <p:pic>
        <p:nvPicPr>
          <p:cNvPr id="11" name="Picture 10">
            <a:extLst>
              <a:ext uri="{FF2B5EF4-FFF2-40B4-BE49-F238E27FC236}">
                <a16:creationId xmlns:a16="http://schemas.microsoft.com/office/drawing/2014/main" id="{1E739DB5-D231-9A8B-F74D-250D265CDB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2201" y="544286"/>
            <a:ext cx="4130174" cy="1024134"/>
          </a:xfrm>
          <a:prstGeom prst="rect">
            <a:avLst/>
          </a:prstGeom>
        </p:spPr>
      </p:pic>
    </p:spTree>
    <p:extLst>
      <p:ext uri="{BB962C8B-B14F-4D97-AF65-F5344CB8AC3E}">
        <p14:creationId xmlns:p14="http://schemas.microsoft.com/office/powerpoint/2010/main" val="1154531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DA09E-A6C7-AC6A-D85C-0AE8E38A37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4D0A9E-3C74-0138-6054-60E5BD72F1B6}"/>
              </a:ext>
            </a:extLst>
          </p:cNvPr>
          <p:cNvSpPr>
            <a:spLocks noGrp="1"/>
          </p:cNvSpPr>
          <p:nvPr>
            <p:ph type="title"/>
          </p:nvPr>
        </p:nvSpPr>
        <p:spPr>
          <a:xfrm>
            <a:off x="435428" y="-313191"/>
            <a:ext cx="10515600" cy="1325563"/>
          </a:xfrm>
        </p:spPr>
        <p:txBody>
          <a:bodyPr/>
          <a:lstStyle/>
          <a:p>
            <a:r>
              <a:rPr lang="en-US" b="1" dirty="0">
                <a:solidFill>
                  <a:srgbClr val="A02B93"/>
                </a:solidFill>
              </a:rPr>
              <a:t>Evaluator </a:t>
            </a:r>
          </a:p>
        </p:txBody>
      </p:sp>
      <p:sp>
        <p:nvSpPr>
          <p:cNvPr id="3" name="Rectangle: Rounded Corners 2">
            <a:extLst>
              <a:ext uri="{FF2B5EF4-FFF2-40B4-BE49-F238E27FC236}">
                <a16:creationId xmlns:a16="http://schemas.microsoft.com/office/drawing/2014/main" id="{BD306A08-646A-28B7-3976-94B05464322F}"/>
              </a:ext>
            </a:extLst>
          </p:cNvPr>
          <p:cNvSpPr/>
          <p:nvPr/>
        </p:nvSpPr>
        <p:spPr>
          <a:xfrm>
            <a:off x="993861" y="1698170"/>
            <a:ext cx="2419895" cy="4313867"/>
          </a:xfrm>
          <a:prstGeom prst="roundRect">
            <a:avLst/>
          </a:prstGeom>
          <a:solidFill>
            <a:schemeClr val="bg1"/>
          </a:solidFill>
          <a:ln w="76200">
            <a:gradFill flip="none" rotWithShape="1">
              <a:gsLst>
                <a:gs pos="90000">
                  <a:schemeClr val="accent5">
                    <a:lumMod val="40000"/>
                    <a:lumOff val="60000"/>
                  </a:schemeClr>
                </a:gs>
                <a:gs pos="13000">
                  <a:schemeClr val="accent5">
                    <a:lumMod val="40000"/>
                    <a:lumOff val="60000"/>
                  </a:schemeClr>
                </a:gs>
                <a:gs pos="50000">
                  <a:schemeClr val="accent4">
                    <a:lumMod val="5000"/>
                    <a:lumOff val="95000"/>
                  </a:schemeClr>
                </a:gs>
                <a:gs pos="0">
                  <a:schemeClr val="accent5">
                    <a:lumMod val="75000"/>
                  </a:schemeClr>
                </a:gs>
                <a:gs pos="100000">
                  <a:schemeClr val="accent5">
                    <a:lumMod val="75000"/>
                  </a:schemeClr>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accent5">
                    <a:lumMod val="75000"/>
                  </a:schemeClr>
                </a:solidFill>
              </a:rPr>
              <a:t>Plain LLM Instructions</a:t>
            </a:r>
          </a:p>
          <a:p>
            <a:pPr algn="ctr"/>
            <a:endParaRPr lang="he-IL" dirty="0">
              <a:solidFill>
                <a:schemeClr val="tx1"/>
              </a:solidFill>
            </a:endParaRPr>
          </a:p>
          <a:p>
            <a:pPr algn="ctr"/>
            <a:endParaRPr lang="he-IL" dirty="0">
              <a:solidFill>
                <a:schemeClr val="tx1"/>
              </a:solidFill>
            </a:endParaRPr>
          </a:p>
          <a:p>
            <a:pPr algn="ctr"/>
            <a:r>
              <a:rPr lang="en-US" dirty="0">
                <a:solidFill>
                  <a:srgbClr val="FF0000"/>
                </a:solidFill>
              </a:rPr>
              <a:t>D2/Mermaid </a:t>
            </a:r>
          </a:p>
          <a:p>
            <a:pPr algn="ctr"/>
            <a:r>
              <a:rPr lang="en-US" dirty="0">
                <a:solidFill>
                  <a:srgbClr val="FF0000"/>
                </a:solidFill>
              </a:rPr>
              <a:t>Syntax</a:t>
            </a:r>
            <a:r>
              <a:rPr lang="he-IL" dirty="0">
                <a:solidFill>
                  <a:srgbClr val="FF0000"/>
                </a:solidFill>
              </a:rPr>
              <a:t>  </a:t>
            </a:r>
            <a:r>
              <a:rPr lang="en-US" dirty="0">
                <a:solidFill>
                  <a:srgbClr val="FF0000"/>
                </a:solidFill>
              </a:rPr>
              <a:t>- Done algorithmically too</a:t>
            </a:r>
          </a:p>
          <a:p>
            <a:pPr algn="ctr"/>
            <a:endParaRPr lang="en-US" dirty="0">
              <a:solidFill>
                <a:schemeClr val="tx1"/>
              </a:solidFill>
            </a:endParaRPr>
          </a:p>
          <a:p>
            <a:pPr algn="ctr"/>
            <a:r>
              <a:rPr lang="en-US" dirty="0">
                <a:solidFill>
                  <a:schemeClr val="tx1"/>
                </a:solidFill>
              </a:rPr>
              <a:t>Verify generator AI instructions</a:t>
            </a:r>
          </a:p>
          <a:p>
            <a:pPr algn="ctr"/>
            <a:endParaRPr lang="en-US" dirty="0">
              <a:solidFill>
                <a:schemeClr val="tx1"/>
              </a:solidFill>
            </a:endParaRPr>
          </a:p>
          <a:p>
            <a:pPr algn="ctr"/>
            <a:r>
              <a:rPr lang="en-US" dirty="0">
                <a:solidFill>
                  <a:schemeClr val="tx1"/>
                </a:solidFill>
              </a:rPr>
              <a:t>Format &amp; Readability</a:t>
            </a:r>
          </a:p>
          <a:p>
            <a:pPr algn="ctr"/>
            <a:endParaRPr lang="en-US" sz="2400" dirty="0">
              <a:solidFill>
                <a:schemeClr val="tx1"/>
              </a:solidFill>
            </a:endParaRPr>
          </a:p>
          <a:p>
            <a:pPr algn="ctr"/>
            <a:endParaRPr lang="en-US" sz="2400" b="1" dirty="0">
              <a:solidFill>
                <a:schemeClr val="accent5">
                  <a:lumMod val="75000"/>
                </a:schemeClr>
              </a:solidFill>
            </a:endParaRPr>
          </a:p>
        </p:txBody>
      </p:sp>
      <p:sp>
        <p:nvSpPr>
          <p:cNvPr id="6" name="TextBox 5">
            <a:extLst>
              <a:ext uri="{FF2B5EF4-FFF2-40B4-BE49-F238E27FC236}">
                <a16:creationId xmlns:a16="http://schemas.microsoft.com/office/drawing/2014/main" id="{4716EDAC-1024-948D-6DF5-7E414A00E8BE}"/>
              </a:ext>
            </a:extLst>
          </p:cNvPr>
          <p:cNvSpPr txBox="1"/>
          <p:nvPr/>
        </p:nvSpPr>
        <p:spPr>
          <a:xfrm>
            <a:off x="3842657" y="779502"/>
            <a:ext cx="6096000" cy="1477328"/>
          </a:xfrm>
          <a:prstGeom prst="rect">
            <a:avLst/>
          </a:prstGeom>
          <a:noFill/>
        </p:spPr>
        <p:txBody>
          <a:bodyPr wrap="square">
            <a:spAutoFit/>
          </a:bodyPr>
          <a:lstStyle/>
          <a:p>
            <a:pPr algn="ctr"/>
            <a:r>
              <a:rPr lang="en-US" sz="1800" b="1" dirty="0">
                <a:solidFill>
                  <a:schemeClr val="accent5">
                    <a:lumMod val="75000"/>
                  </a:schemeClr>
                </a:solidFill>
              </a:rPr>
              <a:t>Compare </a:t>
            </a:r>
            <a:r>
              <a:rPr lang="en-US" sz="1800" b="1" dirty="0" err="1">
                <a:solidFill>
                  <a:schemeClr val="accent5">
                    <a:lumMod val="75000"/>
                  </a:schemeClr>
                </a:solidFill>
              </a:rPr>
              <a:t>Pcap</a:t>
            </a:r>
            <a:r>
              <a:rPr lang="en-US" sz="1800" b="1" dirty="0">
                <a:solidFill>
                  <a:schemeClr val="accent5">
                    <a:lumMod val="75000"/>
                  </a:schemeClr>
                </a:solidFill>
              </a:rPr>
              <a:t> and AI diagram to manually made diagram</a:t>
            </a:r>
            <a:endParaRPr lang="he-IL" sz="1800" b="1" dirty="0">
              <a:solidFill>
                <a:schemeClr val="accent5">
                  <a:lumMod val="75000"/>
                </a:schemeClr>
              </a:solidFill>
            </a:endParaRPr>
          </a:p>
          <a:p>
            <a:pPr algn="ctr"/>
            <a:endParaRPr lang="he-IL" b="1" dirty="0">
              <a:solidFill>
                <a:schemeClr val="accent5">
                  <a:lumMod val="75000"/>
                </a:schemeClr>
              </a:solidFill>
            </a:endParaRPr>
          </a:p>
          <a:p>
            <a:pPr algn="ctr"/>
            <a:endParaRPr lang="he-IL" sz="1800" b="1" dirty="0">
              <a:solidFill>
                <a:schemeClr val="accent5">
                  <a:lumMod val="75000"/>
                </a:schemeClr>
              </a:solidFill>
            </a:endParaRPr>
          </a:p>
          <a:p>
            <a:pPr algn="ctr"/>
            <a:r>
              <a:rPr lang="he-IL" b="1">
                <a:solidFill>
                  <a:schemeClr val="accent5">
                    <a:lumMod val="75000"/>
                  </a:schemeClr>
                </a:solidFill>
              </a:rPr>
              <a:t>לתת מדדים כלשהם בין דיאגרמות אולי דלתא כלשהי</a:t>
            </a:r>
          </a:p>
          <a:p>
            <a:pPr algn="ctr"/>
            <a:r>
              <a:rPr lang="en-US" sz="1800" b="1">
                <a:solidFill>
                  <a:schemeClr val="accent5">
                    <a:lumMod val="75000"/>
                  </a:schemeClr>
                </a:solidFill>
              </a:rPr>
              <a:t> </a:t>
            </a:r>
            <a:endParaRPr lang="en-US" sz="1800" b="1" dirty="0">
              <a:solidFill>
                <a:schemeClr val="accent5">
                  <a:lumMod val="75000"/>
                </a:schemeClr>
              </a:solidFill>
            </a:endParaRPr>
          </a:p>
        </p:txBody>
      </p:sp>
      <p:sp>
        <p:nvSpPr>
          <p:cNvPr id="9" name="TextBox 8">
            <a:extLst>
              <a:ext uri="{FF2B5EF4-FFF2-40B4-BE49-F238E27FC236}">
                <a16:creationId xmlns:a16="http://schemas.microsoft.com/office/drawing/2014/main" id="{00AA8DE7-2592-8822-9DC1-E34A067BA3C8}"/>
              </a:ext>
            </a:extLst>
          </p:cNvPr>
          <p:cNvSpPr txBox="1"/>
          <p:nvPr/>
        </p:nvSpPr>
        <p:spPr>
          <a:xfrm>
            <a:off x="3243943" y="6328503"/>
            <a:ext cx="6096000" cy="369332"/>
          </a:xfrm>
          <a:prstGeom prst="rect">
            <a:avLst/>
          </a:prstGeom>
          <a:noFill/>
        </p:spPr>
        <p:txBody>
          <a:bodyPr wrap="square">
            <a:spAutoFit/>
          </a:bodyPr>
          <a:lstStyle/>
          <a:p>
            <a:pPr algn="ctr"/>
            <a:r>
              <a:rPr lang="en-US" b="1" dirty="0">
                <a:solidFill>
                  <a:schemeClr val="accent5">
                    <a:lumMod val="75000"/>
                  </a:schemeClr>
                </a:solidFill>
              </a:rPr>
              <a:t>Output a Diagram Score Report</a:t>
            </a:r>
          </a:p>
        </p:txBody>
      </p:sp>
    </p:spTree>
    <p:extLst>
      <p:ext uri="{BB962C8B-B14F-4D97-AF65-F5344CB8AC3E}">
        <p14:creationId xmlns:p14="http://schemas.microsoft.com/office/powerpoint/2010/main" val="372381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9FF23-8D50-0A26-86C0-D58A063063C3}"/>
              </a:ext>
            </a:extLst>
          </p:cNvPr>
          <p:cNvSpPr>
            <a:spLocks noGrp="1"/>
          </p:cNvSpPr>
          <p:nvPr>
            <p:ph type="title"/>
          </p:nvPr>
        </p:nvSpPr>
        <p:spPr/>
        <p:txBody>
          <a:bodyPr/>
          <a:lstStyle/>
          <a:p>
            <a:r>
              <a:rPr lang="en-US" dirty="0"/>
              <a:t>POC</a:t>
            </a:r>
          </a:p>
        </p:txBody>
      </p:sp>
      <p:sp>
        <p:nvSpPr>
          <p:cNvPr id="3" name="Content Placeholder 2">
            <a:extLst>
              <a:ext uri="{FF2B5EF4-FFF2-40B4-BE49-F238E27FC236}">
                <a16:creationId xmlns:a16="http://schemas.microsoft.com/office/drawing/2014/main" id="{B9C56D50-52E8-66A8-3AD0-85C7045194D6}"/>
              </a:ext>
            </a:extLst>
          </p:cNvPr>
          <p:cNvSpPr>
            <a:spLocks noGrp="1"/>
          </p:cNvSpPr>
          <p:nvPr>
            <p:ph idx="1"/>
          </p:nvPr>
        </p:nvSpPr>
        <p:spPr/>
        <p:txBody>
          <a:bodyPr/>
          <a:lstStyle/>
          <a:p>
            <a:r>
              <a:rPr lang="he-IL" dirty="0"/>
              <a:t>שתי דוגמאות משני מאמרים (אחד של ענת אחד לא)</a:t>
            </a:r>
          </a:p>
          <a:p>
            <a:r>
              <a:rPr lang="he-IL" dirty="0"/>
              <a:t>מהפיקאפ הוא מייצר תמונה ותיאור, והיא קרובה למציאות - גם ניקוד של </a:t>
            </a:r>
            <a:r>
              <a:rPr lang="en-US" dirty="0"/>
              <a:t>evaluator </a:t>
            </a:r>
            <a:r>
              <a:rPr lang="he-IL" dirty="0"/>
              <a:t>וגם בעין</a:t>
            </a:r>
          </a:p>
          <a:p>
            <a:r>
              <a:rPr lang="he-IL" dirty="0"/>
              <a:t> אין פולס נגטיב ואין פולס פוזיטיב- דוגמה אחת </a:t>
            </a:r>
          </a:p>
          <a:p>
            <a:r>
              <a:rPr lang="he-IL" dirty="0"/>
              <a:t>בדיקה ידנית ועם אבלייטור – 10 דוגמאות שונות</a:t>
            </a:r>
            <a:endParaRPr lang="en-US" dirty="0"/>
          </a:p>
        </p:txBody>
      </p:sp>
    </p:spTree>
    <p:extLst>
      <p:ext uri="{BB962C8B-B14F-4D97-AF65-F5344CB8AC3E}">
        <p14:creationId xmlns:p14="http://schemas.microsoft.com/office/powerpoint/2010/main" val="10053326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49EAE-5522-90A3-E759-352B1B49BD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E89A6E-FE9F-E3E6-1B5C-4070CF6F1AFB}"/>
              </a:ext>
            </a:extLst>
          </p:cNvPr>
          <p:cNvSpPr>
            <a:spLocks noGrp="1"/>
          </p:cNvSpPr>
          <p:nvPr>
            <p:ph type="title"/>
          </p:nvPr>
        </p:nvSpPr>
        <p:spPr>
          <a:xfrm>
            <a:off x="43543" y="76488"/>
            <a:ext cx="10515600" cy="1325563"/>
          </a:xfrm>
        </p:spPr>
        <p:txBody>
          <a:bodyPr/>
          <a:lstStyle/>
          <a:p>
            <a:r>
              <a:rPr lang="en-US" b="1" dirty="0">
                <a:solidFill>
                  <a:srgbClr val="A02B93"/>
                </a:solidFill>
              </a:rPr>
              <a:t>Score Test </a:t>
            </a:r>
          </a:p>
        </p:txBody>
      </p:sp>
      <p:sp>
        <p:nvSpPr>
          <p:cNvPr id="8" name="TextBox 7">
            <a:extLst>
              <a:ext uri="{FF2B5EF4-FFF2-40B4-BE49-F238E27FC236}">
                <a16:creationId xmlns:a16="http://schemas.microsoft.com/office/drawing/2014/main" id="{6B9E9E51-1F80-5AAA-C81A-D81D0858B72C}"/>
              </a:ext>
            </a:extLst>
          </p:cNvPr>
          <p:cNvSpPr txBox="1"/>
          <p:nvPr/>
        </p:nvSpPr>
        <p:spPr>
          <a:xfrm>
            <a:off x="1099458" y="1877157"/>
            <a:ext cx="6096000" cy="1415772"/>
          </a:xfrm>
          <a:prstGeom prst="rect">
            <a:avLst/>
          </a:prstGeom>
          <a:noFill/>
        </p:spPr>
        <p:txBody>
          <a:bodyPr wrap="square">
            <a:spAutoFit/>
          </a:bodyPr>
          <a:lstStyle/>
          <a:p>
            <a:pPr algn="ctr"/>
            <a:r>
              <a:rPr lang="en-US" sz="2400" b="1" dirty="0">
                <a:solidFill>
                  <a:schemeClr val="accent5">
                    <a:lumMod val="75000"/>
                  </a:schemeClr>
                </a:solidFill>
              </a:rPr>
              <a:t>Critical Info Receives higher scores</a:t>
            </a:r>
          </a:p>
          <a:p>
            <a:pPr algn="ctr"/>
            <a:r>
              <a:rPr lang="en-US" u="sng" dirty="0">
                <a:solidFill>
                  <a:schemeClr val="tx1"/>
                </a:solidFill>
              </a:rPr>
              <a:t>Keywords like: </a:t>
            </a:r>
            <a:r>
              <a:rPr lang="en-US" dirty="0"/>
              <a:t>Malicious</a:t>
            </a:r>
            <a:r>
              <a:rPr lang="en-US" sz="2400" dirty="0"/>
              <a:t>, </a:t>
            </a:r>
            <a:r>
              <a:rPr lang="en-US" dirty="0"/>
              <a:t>Drop</a:t>
            </a:r>
            <a:r>
              <a:rPr lang="en-US" sz="2400" dirty="0"/>
              <a:t>, </a:t>
            </a:r>
            <a:r>
              <a:rPr lang="en-US" dirty="0"/>
              <a:t>Reset (RST)</a:t>
            </a:r>
            <a:r>
              <a:rPr lang="en-US" sz="2400" dirty="0"/>
              <a:t>, </a:t>
            </a:r>
            <a:r>
              <a:rPr lang="en-US" dirty="0"/>
              <a:t>Unauthorized</a:t>
            </a:r>
            <a:r>
              <a:rPr lang="en-US" sz="2400" dirty="0"/>
              <a:t>, </a:t>
            </a:r>
            <a:r>
              <a:rPr lang="en-US" dirty="0"/>
              <a:t>Exploit – get higher weight</a:t>
            </a:r>
            <a:endParaRPr lang="en-US" sz="2400" b="1" u="sng" dirty="0"/>
          </a:p>
          <a:p>
            <a:r>
              <a:rPr lang="en-US" sz="2000" u="sng" dirty="0"/>
              <a:t>Comparing to AI insight</a:t>
            </a:r>
            <a:endParaRPr lang="en-US" sz="2000" dirty="0"/>
          </a:p>
        </p:txBody>
      </p:sp>
      <p:pic>
        <p:nvPicPr>
          <p:cNvPr id="12" name="Picture 11">
            <a:extLst>
              <a:ext uri="{FF2B5EF4-FFF2-40B4-BE49-F238E27FC236}">
                <a16:creationId xmlns:a16="http://schemas.microsoft.com/office/drawing/2014/main" id="{A096EB00-C8FF-D901-18B7-AA2DE362D9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2191" y="3565072"/>
            <a:ext cx="8447752" cy="740228"/>
          </a:xfrm>
          <a:prstGeom prst="rect">
            <a:avLst/>
          </a:prstGeom>
        </p:spPr>
      </p:pic>
    </p:spTree>
    <p:extLst>
      <p:ext uri="{BB962C8B-B14F-4D97-AF65-F5344CB8AC3E}">
        <p14:creationId xmlns:p14="http://schemas.microsoft.com/office/powerpoint/2010/main" val="29654984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196CD-8C34-8B93-E2B8-E248A47878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B2A7BF-0E71-7520-8503-983D71AFB432}"/>
              </a:ext>
            </a:extLst>
          </p:cNvPr>
          <p:cNvSpPr>
            <a:spLocks noGrp="1"/>
          </p:cNvSpPr>
          <p:nvPr>
            <p:ph type="title"/>
          </p:nvPr>
        </p:nvSpPr>
        <p:spPr/>
        <p:txBody>
          <a:bodyPr/>
          <a:lstStyle/>
          <a:p>
            <a:r>
              <a:rPr lang="en-US" b="1" dirty="0">
                <a:solidFill>
                  <a:srgbClr val="A02B93"/>
                </a:solidFill>
              </a:rPr>
              <a:t>Results</a:t>
            </a:r>
          </a:p>
        </p:txBody>
      </p:sp>
    </p:spTree>
    <p:extLst>
      <p:ext uri="{BB962C8B-B14F-4D97-AF65-F5344CB8AC3E}">
        <p14:creationId xmlns:p14="http://schemas.microsoft.com/office/powerpoint/2010/main" val="11235980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BA219-B2DD-D5AA-853B-9534E0398D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8E3E82-CAE1-C305-B12C-43D93EC9E620}"/>
              </a:ext>
            </a:extLst>
          </p:cNvPr>
          <p:cNvSpPr>
            <a:spLocks noGrp="1"/>
          </p:cNvSpPr>
          <p:nvPr>
            <p:ph type="title"/>
          </p:nvPr>
        </p:nvSpPr>
        <p:spPr/>
        <p:txBody>
          <a:bodyPr/>
          <a:lstStyle/>
          <a:p>
            <a:r>
              <a:rPr lang="en-US" b="1" dirty="0">
                <a:solidFill>
                  <a:srgbClr val="A02B93"/>
                </a:solidFill>
              </a:rPr>
              <a:t>Animations</a:t>
            </a:r>
          </a:p>
        </p:txBody>
      </p:sp>
    </p:spTree>
    <p:extLst>
      <p:ext uri="{BB962C8B-B14F-4D97-AF65-F5344CB8AC3E}">
        <p14:creationId xmlns:p14="http://schemas.microsoft.com/office/powerpoint/2010/main" val="24602702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3D9CC-422F-27B3-DC85-3FF5C23D5978}"/>
              </a:ext>
            </a:extLst>
          </p:cNvPr>
          <p:cNvSpPr>
            <a:spLocks noGrp="1"/>
          </p:cNvSpPr>
          <p:nvPr>
            <p:ph type="title"/>
          </p:nvPr>
        </p:nvSpPr>
        <p:spPr/>
        <p:txBody>
          <a:bodyPr/>
          <a:lstStyle/>
          <a:p>
            <a:r>
              <a:rPr lang="en-US" b="1" dirty="0">
                <a:solidFill>
                  <a:srgbClr val="A02B93"/>
                </a:solidFill>
              </a:rPr>
              <a:t>Current Project Advantages and Abilities</a:t>
            </a:r>
          </a:p>
        </p:txBody>
      </p:sp>
      <p:sp>
        <p:nvSpPr>
          <p:cNvPr id="3" name="Content Placeholder 2">
            <a:extLst>
              <a:ext uri="{FF2B5EF4-FFF2-40B4-BE49-F238E27FC236}">
                <a16:creationId xmlns:a16="http://schemas.microsoft.com/office/drawing/2014/main" id="{DBE6882B-EB51-FB6D-D01F-276103BBFA90}"/>
              </a:ext>
            </a:extLst>
          </p:cNvPr>
          <p:cNvSpPr>
            <a:spLocks noGrp="1"/>
          </p:cNvSpPr>
          <p:nvPr>
            <p:ph idx="1"/>
          </p:nvPr>
        </p:nvSpPr>
        <p:spPr/>
        <p:txBody>
          <a:bodyPr/>
          <a:lstStyle/>
          <a:p>
            <a:r>
              <a:rPr lang="en-US" dirty="0"/>
              <a:t>Auto-Generation of draft diagrams for new papers and slides</a:t>
            </a:r>
          </a:p>
          <a:p>
            <a:r>
              <a:rPr lang="en-US" dirty="0"/>
              <a:t>Supports multiple file types and multiple PCAP analysis options</a:t>
            </a:r>
          </a:p>
          <a:p>
            <a:r>
              <a:rPr lang="en-US" dirty="0">
                <a:solidFill>
                  <a:schemeClr val="dk1"/>
                </a:solidFill>
              </a:rPr>
              <a:t>Export + chat interface enables manual polishing and iteration</a:t>
            </a:r>
          </a:p>
          <a:p>
            <a:r>
              <a:rPr lang="en-US" dirty="0">
                <a:solidFill>
                  <a:schemeClr val="dk1"/>
                </a:solidFill>
              </a:rPr>
              <a:t>Interactive storyboard + feedback loop </a:t>
            </a:r>
          </a:p>
          <a:p>
            <a:r>
              <a:rPr lang="en-US" dirty="0" err="1"/>
              <a:t>Usenix</a:t>
            </a:r>
            <a:r>
              <a:rPr lang="en-US" dirty="0"/>
              <a:t> </a:t>
            </a:r>
          </a:p>
          <a:p>
            <a:endParaRPr lang="he-IL" dirty="0"/>
          </a:p>
          <a:p>
            <a:endParaRPr lang="he-IL" dirty="0"/>
          </a:p>
          <a:p>
            <a:endParaRPr lang="en-US" dirty="0"/>
          </a:p>
        </p:txBody>
      </p:sp>
    </p:spTree>
    <p:extLst>
      <p:ext uri="{BB962C8B-B14F-4D97-AF65-F5344CB8AC3E}">
        <p14:creationId xmlns:p14="http://schemas.microsoft.com/office/powerpoint/2010/main" val="9055482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F5FB8-45FB-722C-8B3E-8D301CAA4B0F}"/>
              </a:ext>
            </a:extLst>
          </p:cNvPr>
          <p:cNvSpPr>
            <a:spLocks noGrp="1"/>
          </p:cNvSpPr>
          <p:nvPr>
            <p:ph type="title"/>
          </p:nvPr>
        </p:nvSpPr>
        <p:spPr/>
        <p:txBody>
          <a:bodyPr/>
          <a:lstStyle/>
          <a:p>
            <a:r>
              <a:rPr lang="en-US" b="1" dirty="0">
                <a:solidFill>
                  <a:srgbClr val="A02B93"/>
                </a:solidFill>
              </a:rPr>
              <a:t>Future Suggestions</a:t>
            </a:r>
          </a:p>
        </p:txBody>
      </p:sp>
      <p:sp>
        <p:nvSpPr>
          <p:cNvPr id="3" name="Content Placeholder 2">
            <a:extLst>
              <a:ext uri="{FF2B5EF4-FFF2-40B4-BE49-F238E27FC236}">
                <a16:creationId xmlns:a16="http://schemas.microsoft.com/office/drawing/2014/main" id="{BF85AA68-E69D-CD5E-5396-4EF6966F8150}"/>
              </a:ext>
            </a:extLst>
          </p:cNvPr>
          <p:cNvSpPr>
            <a:spLocks noGrp="1"/>
          </p:cNvSpPr>
          <p:nvPr>
            <p:ph idx="1"/>
          </p:nvPr>
        </p:nvSpPr>
        <p:spPr/>
        <p:txBody>
          <a:bodyPr>
            <a:normAutofit/>
          </a:bodyPr>
          <a:lstStyle/>
          <a:p>
            <a:r>
              <a:rPr lang="en-US" dirty="0">
                <a:solidFill>
                  <a:schemeClr val="accent5">
                    <a:lumMod val="75000"/>
                  </a:schemeClr>
                </a:solidFill>
              </a:rPr>
              <a:t>Extending the system to </a:t>
            </a:r>
            <a:endParaRPr lang="en-US" dirty="0"/>
          </a:p>
          <a:p>
            <a:pPr marL="0" indent="0">
              <a:buNone/>
            </a:pPr>
            <a:endParaRPr lang="en-US" dirty="0"/>
          </a:p>
          <a:p>
            <a:endParaRPr lang="en-US" dirty="0"/>
          </a:p>
        </p:txBody>
      </p:sp>
    </p:spTree>
    <p:extLst>
      <p:ext uri="{BB962C8B-B14F-4D97-AF65-F5344CB8AC3E}">
        <p14:creationId xmlns:p14="http://schemas.microsoft.com/office/powerpoint/2010/main" val="37480101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32CE17-4BD2-A226-A926-31FE5D4A63F7}"/>
              </a:ext>
            </a:extLst>
          </p:cNvPr>
          <p:cNvSpPr>
            <a:spLocks noGrp="1"/>
          </p:cNvSpPr>
          <p:nvPr>
            <p:ph idx="1"/>
          </p:nvPr>
        </p:nvSpPr>
        <p:spPr>
          <a:xfrm>
            <a:off x="3614737" y="3003946"/>
            <a:ext cx="4962525" cy="850108"/>
          </a:xfrm>
        </p:spPr>
        <p:txBody>
          <a:bodyPr>
            <a:normAutofit fontScale="92500" lnSpcReduction="10000"/>
          </a:bodyPr>
          <a:lstStyle/>
          <a:p>
            <a:pPr marL="0" indent="0" algn="ctr">
              <a:buNone/>
            </a:pPr>
            <a:r>
              <a:rPr lang="en-US" sz="6000" b="1" dirty="0">
                <a:solidFill>
                  <a:srgbClr val="A02B93"/>
                </a:solidFill>
              </a:rPr>
              <a:t>Thank You</a:t>
            </a:r>
          </a:p>
        </p:txBody>
      </p:sp>
    </p:spTree>
    <p:extLst>
      <p:ext uri="{BB962C8B-B14F-4D97-AF65-F5344CB8AC3E}">
        <p14:creationId xmlns:p14="http://schemas.microsoft.com/office/powerpoint/2010/main" val="471450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48845</TotalTime>
  <Words>1833</Words>
  <Application>Microsoft Office PowerPoint</Application>
  <PresentationFormat>Widescreen</PresentationFormat>
  <Paragraphs>326</Paragraphs>
  <Slides>30</Slides>
  <Notes>23</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Aptos</vt:lpstr>
      <vt:lpstr>Aptos Display</vt:lpstr>
      <vt:lpstr>Arial</vt:lpstr>
      <vt:lpstr>Cambria Math</vt:lpstr>
      <vt:lpstr>Office Theme</vt:lpstr>
      <vt:lpstr>PAnDA/ PcaPlot </vt:lpstr>
      <vt:lpstr>The Necessity</vt:lpstr>
      <vt:lpstr>Manual Effort has a Cost</vt:lpstr>
      <vt:lpstr>The Goals</vt:lpstr>
      <vt:lpstr>Existing Methods</vt:lpstr>
      <vt:lpstr>Technology Comparison </vt:lpstr>
      <vt:lpstr>The Requirements</vt:lpstr>
      <vt:lpstr>The Requirements</vt:lpstr>
      <vt:lpstr>Challenges</vt:lpstr>
      <vt:lpstr>How to Evaluate?</vt:lpstr>
      <vt:lpstr>Handling Noise: Packet Preprocessing</vt:lpstr>
      <vt:lpstr>Handling Hallucinations: The second agent</vt:lpstr>
      <vt:lpstr>Generalization Constraints</vt:lpstr>
      <vt:lpstr>Window Constraints </vt:lpstr>
      <vt:lpstr>Pipeline</vt:lpstr>
      <vt:lpstr>Pipeline</vt:lpstr>
      <vt:lpstr>Controllable Abstraction</vt:lpstr>
      <vt:lpstr>Grounding to Evidence</vt:lpstr>
      <vt:lpstr>Grounding to Evidence – The Path to Reproducibility </vt:lpstr>
      <vt:lpstr>Grounding to Evidence – The Path to Reproducibility </vt:lpstr>
      <vt:lpstr>Grounding to Evidence – The Path to Reproducibility </vt:lpstr>
      <vt:lpstr>Validator </vt:lpstr>
      <vt:lpstr>Evaluator </vt:lpstr>
      <vt:lpstr>POC</vt:lpstr>
      <vt:lpstr>Score Test </vt:lpstr>
      <vt:lpstr>Results</vt:lpstr>
      <vt:lpstr>Animations</vt:lpstr>
      <vt:lpstr>Current Project Advantages and Abilities</vt:lpstr>
      <vt:lpstr>Future Suggestions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chen gabbay</dc:creator>
  <cp:lastModifiedBy>Shachar Gabbay</cp:lastModifiedBy>
  <cp:revision>37</cp:revision>
  <dcterms:created xsi:type="dcterms:W3CDTF">2025-12-23T14:25:11Z</dcterms:created>
  <dcterms:modified xsi:type="dcterms:W3CDTF">2026-05-18T12:48:32Z</dcterms:modified>
</cp:coreProperties>
</file>