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80" r:id="rId3"/>
    <p:sldId id="276" r:id="rId4"/>
    <p:sldId id="297" r:id="rId5"/>
    <p:sldId id="298" r:id="rId6"/>
    <p:sldId id="289" r:id="rId7"/>
    <p:sldId id="275" r:id="rId8"/>
    <p:sldId id="291" r:id="rId9"/>
    <p:sldId id="299" r:id="rId10"/>
    <p:sldId id="292" r:id="rId11"/>
    <p:sldId id="285" r:id="rId12"/>
    <p:sldId id="281" r:id="rId13"/>
    <p:sldId id="287" r:id="rId14"/>
    <p:sldId id="290" r:id="rId15"/>
    <p:sldId id="257" r:id="rId16"/>
    <p:sldId id="279" r:id="rId17"/>
    <p:sldId id="296" r:id="rId18"/>
    <p:sldId id="283" r:id="rId19"/>
    <p:sldId id="294" r:id="rId20"/>
    <p:sldId id="282" r:id="rId21"/>
    <p:sldId id="295" r:id="rId22"/>
    <p:sldId id="284" r:id="rId23"/>
    <p:sldId id="300" r:id="rId24"/>
    <p:sldId id="301" r:id="rId25"/>
    <p:sldId id="302" r:id="rId26"/>
    <p:sldId id="293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CC"/>
    <a:srgbClr val="C836B7"/>
    <a:srgbClr val="A02B93"/>
    <a:srgbClr val="DDD98B"/>
    <a:srgbClr val="FFF6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878" autoAdjust="0"/>
    <p:restoredTop sz="66144" autoAdjust="0"/>
  </p:normalViewPr>
  <p:slideViewPr>
    <p:cSldViewPr snapToGrid="0">
      <p:cViewPr varScale="1">
        <p:scale>
          <a:sx n="52" d="100"/>
          <a:sy n="52" d="100"/>
        </p:scale>
        <p:origin x="1142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508601-E061-4AE8-949A-AA35F03A77CB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C6FD1B-59C9-4EEA-9735-540FF221A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159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6FD1B-59C9-4EEA-9735-540FF221A12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9510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Nodes = attacker states, capabilities, or goals</a:t>
            </a:r>
          </a:p>
          <a:p>
            <a:r>
              <a:rPr lang="en-US" dirty="0"/>
              <a:t>Edges = exploit steps or transitions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6FD1B-59C9-4EEA-9735-540FF221A12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9456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אתה נותן לו:</a:t>
            </a:r>
          </a:p>
          <a:p>
            <a:r>
              <a:rPr lang="he-IL" dirty="0"/>
              <a:t>תצורת רשת</a:t>
            </a:r>
          </a:p>
          <a:p>
            <a:r>
              <a:rPr lang="he-IL" dirty="0"/>
              <a:t>חולשות ידועות (</a:t>
            </a:r>
            <a:r>
              <a:rPr lang="en-US" dirty="0"/>
              <a:t>CVEs)</a:t>
            </a:r>
          </a:p>
          <a:p>
            <a:r>
              <a:rPr lang="he-IL" dirty="0"/>
              <a:t>הרשאות, שירותים, חוקים</a:t>
            </a:r>
          </a:p>
          <a:p>
            <a:r>
              <a:rPr lang="he-IL" dirty="0"/>
              <a:t>והוא בונה:</a:t>
            </a:r>
          </a:p>
          <a:p>
            <a:r>
              <a:rPr lang="en-US" dirty="0"/>
              <a:t>Attack Graph </a:t>
            </a:r>
            <a:r>
              <a:rPr lang="he-IL" dirty="0"/>
              <a:t>שמראה</a:t>
            </a:r>
            <a:br>
              <a:rPr lang="he-IL" dirty="0"/>
            </a:br>
            <a:endParaRPr lang="he-IL" dirty="0"/>
          </a:p>
          <a:p>
            <a:endParaRPr lang="he-IL" dirty="0"/>
          </a:p>
          <a:p>
            <a:endParaRPr lang="he-IL" dirty="0"/>
          </a:p>
          <a:p>
            <a:r>
              <a:rPr lang="he-IL" i="0" dirty="0"/>
              <a:t>שמראה איך התוקף יכול להתקדם במערכת</a:t>
            </a:r>
          </a:p>
          <a:p>
            <a:r>
              <a:rPr lang="he-IL" dirty="0"/>
              <a:t>כלי אקדמיים</a:t>
            </a:r>
          </a:p>
          <a:p>
            <a:endParaRPr lang="he-IL" dirty="0"/>
          </a:p>
          <a:p>
            <a:r>
              <a:rPr lang="he-IL" dirty="0"/>
              <a:t>המנוע הלוגי של </a:t>
            </a:r>
            <a:r>
              <a:rPr lang="en-US" dirty="0"/>
              <a:t>MulVAL </a:t>
            </a:r>
            <a:r>
              <a:rPr lang="he-IL" dirty="0"/>
              <a:t>מנתח את הפגיעויות ברשת ומוצא את כל הדרכים שבהן תוקף יכול להתקדם.</a:t>
            </a:r>
          </a:p>
          <a:p>
            <a:r>
              <a:rPr lang="he-IL" dirty="0"/>
              <a:t>מוכיח מתקפות</a:t>
            </a:r>
          </a:p>
          <a:p>
            <a:endParaRPr lang="he-IL" dirty="0"/>
          </a:p>
          <a:p>
            <a:r>
              <a:rPr lang="he-IL" dirty="0"/>
              <a:t>בעזרת כלי חיצוני בשם </a:t>
            </a:r>
            <a:r>
              <a:rPr lang="en-US" b="1" dirty="0" err="1"/>
              <a:t>GraphViz</a:t>
            </a:r>
            <a:r>
              <a:rPr lang="en-US" dirty="0"/>
              <a:t>, </a:t>
            </a:r>
            <a:r>
              <a:rPr lang="he-IL" dirty="0"/>
              <a:t>ה-</a:t>
            </a:r>
            <a:r>
              <a:rPr lang="en-US" dirty="0"/>
              <a:t>MulVAL </a:t>
            </a:r>
            <a:r>
              <a:rPr lang="he-IL" dirty="0"/>
              <a:t>הופך את קובץ ה-</a:t>
            </a:r>
            <a:r>
              <a:rPr lang="en-US" dirty="0"/>
              <a:t>DOT </a:t>
            </a:r>
            <a:r>
              <a:rPr lang="he-IL" dirty="0"/>
              <a:t>לתמונה (</a:t>
            </a:r>
            <a:r>
              <a:rPr lang="en-US" dirty="0"/>
              <a:t>PDF </a:t>
            </a:r>
            <a:r>
              <a:rPr lang="he-IL" dirty="0"/>
              <a:t>או </a:t>
            </a:r>
            <a:r>
              <a:rPr lang="en-US" dirty="0"/>
              <a:t>PNG) </a:t>
            </a:r>
            <a:r>
              <a:rPr lang="he-IL" dirty="0"/>
              <a:t>של גרף מורכב עם עיגולים ומרובעים המייצגים צעדי תקיפה ותנאים מוקדמים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6FD1B-59C9-4EEA-9735-540FF221A12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0091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AE2AD-6C23-93A8-539E-8E871B714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1F57CE-6550-BBAB-F231-89693BD47F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F4F7F9-B584-C730-4308-F3AF7DB055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uses "Attack Step" logic to generate a probabilistic attack graph</a:t>
            </a:r>
          </a:p>
          <a:p>
            <a:r>
              <a:rPr lang="he-IL" b="1" dirty="0"/>
              <a:t>הלוגיקה:</a:t>
            </a:r>
            <a:r>
              <a:rPr lang="he-IL" dirty="0"/>
              <a:t> מבוססת על עצים המחוברים בשערים לוגיים (כמו </a:t>
            </a:r>
            <a:r>
              <a:rPr lang="en-US" dirty="0"/>
              <a:t>AND/OR) </a:t>
            </a:r>
            <a:r>
              <a:rPr lang="he-IL" dirty="0"/>
              <a:t>וחישובי הסתברות.</a:t>
            </a:r>
          </a:p>
          <a:p>
            <a:r>
              <a:rPr lang="he-IL" b="1" dirty="0"/>
              <a:t>התוצאה:</a:t>
            </a:r>
            <a:r>
              <a:rPr lang="he-IL" dirty="0"/>
              <a:t> עצי תקיפה המראים את הדרכים השונות שבהן ניתן לפרוץ למערכת המודל.</a:t>
            </a:r>
          </a:p>
          <a:p>
            <a:endParaRPr lang="en-US" dirty="0"/>
          </a:p>
          <a:p>
            <a:r>
              <a:rPr lang="en-US" dirty="0"/>
              <a:t>Risk </a:t>
            </a:r>
            <a:r>
              <a:rPr lang="en-US" dirty="0" err="1"/>
              <a:t>Assesment</a:t>
            </a:r>
            <a:endParaRPr lang="he-IL" dirty="0"/>
          </a:p>
          <a:p>
            <a:endParaRPr lang="he-IL" dirty="0"/>
          </a:p>
          <a:p>
            <a:r>
              <a:rPr lang="he-IL" dirty="0"/>
              <a:t>גרף המראה לא רק את המסלול, אלא גם את </a:t>
            </a:r>
            <a:r>
              <a:rPr lang="he-IL" b="1" dirty="0"/>
              <a:t>ההסתברות</a:t>
            </a:r>
            <a:r>
              <a:rPr lang="he-IL" dirty="0"/>
              <a:t> שהתוקף יצליח בכל שלב.</a:t>
            </a:r>
          </a:p>
          <a:p>
            <a:endParaRPr lang="he-IL" dirty="0"/>
          </a:p>
          <a:p>
            <a:r>
              <a:rPr lang="he-IL" dirty="0"/>
              <a:t>הם טובים ל</a:t>
            </a:r>
            <a:r>
              <a:rPr lang="he-IL" b="1" dirty="0"/>
              <a:t>ניתוח סיכונים</a:t>
            </a:r>
            <a:r>
              <a:rPr lang="he-IL" dirty="0"/>
              <a:t> (מה עלול לקרות).  פחות ל</a:t>
            </a:r>
            <a:r>
              <a:rPr lang="he-IL" b="1" dirty="0"/>
              <a:t>הסבר אקדמי</a:t>
            </a:r>
            <a:r>
              <a:rPr lang="he-IL" dirty="0"/>
              <a:t> (מה קרה ואיך הפרוטוקול עבד).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A21420-031C-5E1A-9FD5-66F3BB642C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6FD1B-59C9-4EEA-9735-540FF221A12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9681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מדמה מתקפות סייבר בתוך אירגון כדי לבדוק אם ההגנות באמת עובדות</a:t>
            </a:r>
          </a:p>
          <a:p>
            <a:r>
              <a:rPr lang="he-IL" dirty="0"/>
              <a:t>מריץ מתקפות מדומות</a:t>
            </a:r>
          </a:p>
          <a:p>
            <a:r>
              <a:rPr lang="he-IL" dirty="0"/>
              <a:t>מראה דיאגרמות של איך התוקף יכול לנוע ברשת</a:t>
            </a:r>
          </a:p>
          <a:p>
            <a:r>
              <a:rPr lang="he-IL" dirty="0"/>
              <a:t>לא כלי מחקרי</a:t>
            </a:r>
          </a:p>
          <a:p>
            <a:r>
              <a:rPr lang="he-IL" dirty="0"/>
              <a:t>לא מסתכל על חבילות אמיתיות</a:t>
            </a:r>
          </a:p>
          <a:p>
            <a:r>
              <a:rPr lang="he-IL" dirty="0"/>
              <a:t>לא יודע להגיד:</a:t>
            </a:r>
          </a:p>
          <a:p>
            <a:pPr lvl="1"/>
            <a:r>
              <a:rPr lang="he-IL" dirty="0"/>
              <a:t>איזה </a:t>
            </a:r>
            <a:r>
              <a:rPr lang="en-US" dirty="0"/>
              <a:t>packet </a:t>
            </a:r>
            <a:r>
              <a:rPr lang="he-IL" dirty="0"/>
              <a:t>גרם לאיזה שלב</a:t>
            </a:r>
          </a:p>
          <a:p>
            <a:pPr lvl="1"/>
            <a:r>
              <a:rPr lang="he-IL" dirty="0"/>
              <a:t>מתי בדיוק זה קרה</a:t>
            </a:r>
          </a:p>
          <a:p>
            <a:pPr lvl="1"/>
            <a:r>
              <a:rPr lang="he-IL" dirty="0"/>
              <a:t>איך הפרוטוקול התנהג</a:t>
            </a:r>
          </a:p>
          <a:p>
            <a:r>
              <a:rPr lang="he-IL" dirty="0"/>
              <a:t>כלומר: הוא אסטרטגי, לא פורנזי.</a:t>
            </a:r>
          </a:p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6FD1B-59C9-4EEA-9735-540FF221A12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2221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Sep 2025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“We present </a:t>
            </a:r>
            <a:r>
              <a:rPr lang="en-US" dirty="0" err="1"/>
              <a:t>RFSeek</a:t>
            </a:r>
            <a:r>
              <a:rPr lang="en-US" dirty="0"/>
              <a:t>, an interactive tool that automatically extracts visual summaries of protocol logic from RFCs. “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6FD1B-59C9-4EEA-9735-540FF221A12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4557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שליטה ברמת ההפשטה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6FD1B-59C9-4EEA-9735-540FF221A12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9107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פחות מידע אבסטרקטי ויותר הכוונה מדויקת לפרמטרים בטקסט/</a:t>
            </a:r>
            <a:r>
              <a:rPr lang="en-US" dirty="0"/>
              <a:t>PCAP</a:t>
            </a:r>
          </a:p>
          <a:p>
            <a:r>
              <a:rPr lang="en-US" dirty="0"/>
              <a:t>traceability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6FD1B-59C9-4EEA-9735-540FF221A12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4417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0% – Analyst / Debugging</a:t>
            </a:r>
            <a:endParaRPr lang="en-US" dirty="0"/>
          </a:p>
          <a:p>
            <a:r>
              <a:rPr lang="en-US" dirty="0"/>
              <a:t>Packet-level, timestamps, flags</a:t>
            </a:r>
          </a:p>
          <a:p>
            <a:r>
              <a:rPr lang="en-US" b="1" dirty="0"/>
              <a:t>50% – Researcher</a:t>
            </a:r>
            <a:endParaRPr lang="en-US" dirty="0"/>
          </a:p>
          <a:p>
            <a:r>
              <a:rPr lang="en-US" dirty="0"/>
              <a:t>Evidence + protocol concepts</a:t>
            </a:r>
          </a:p>
          <a:p>
            <a:r>
              <a:rPr lang="en-US" b="1" dirty="0"/>
              <a:t>100% – Student / Reviewer</a:t>
            </a:r>
            <a:endParaRPr lang="en-US" dirty="0"/>
          </a:p>
          <a:p>
            <a:r>
              <a:rPr lang="en-US" dirty="0"/>
              <a:t>Conceptual attack stages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6FD1B-59C9-4EEA-9735-540FF221A12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7858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DiagramEval: Evaluating LLM-Generated Diagrams via Graphs</a:t>
            </a:r>
          </a:p>
          <a:p>
            <a:endParaRPr lang="en-US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Syntax Correctness:</a:t>
            </a:r>
            <a:r>
              <a:rPr lang="en-US" dirty="0"/>
              <a:t> Use a "Mermaid Linter" or the Mermaid CLI to automatically check if the generated code is valid. A failed render is a 0% score for that run.</a:t>
            </a:r>
          </a:p>
          <a:p>
            <a:endParaRPr lang="en-US" b="1" dirty="0"/>
          </a:p>
          <a:p>
            <a:r>
              <a:rPr lang="en-US" b="1" dirty="0"/>
              <a:t>Precision/Recall:</a:t>
            </a:r>
            <a:r>
              <a:rPr lang="en-US" dirty="0"/>
              <a:t> Are all the essential packets from the </a:t>
            </a:r>
            <a:r>
              <a:rPr lang="en-US" dirty="0" err="1"/>
              <a:t>Pcap</a:t>
            </a:r>
            <a:r>
              <a:rPr lang="en-US" dirty="0"/>
              <a:t> represented in the diagram?</a:t>
            </a:r>
          </a:p>
          <a:p>
            <a:r>
              <a:rPr lang="en-US" b="1" dirty="0"/>
              <a:t>F1-Score:</a:t>
            </a:r>
            <a:r>
              <a:rPr lang="en-US" dirty="0"/>
              <a:t> Does the sequence of "who talked to whom" match the actual protocol flow?</a:t>
            </a:r>
          </a:p>
          <a:p>
            <a:r>
              <a:rPr lang="en-US" b="1" dirty="0"/>
              <a:t>Syntax Correctness:</a:t>
            </a:r>
            <a:r>
              <a:rPr lang="en-US" dirty="0"/>
              <a:t> Use a "Mermaid Linter" or the Mermaid CLI to automatically check if the generated code is valid. A failed render is a 0% score for that run.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Precision = 8/10</a:t>
            </a:r>
            <a:br>
              <a:rPr lang="en-US" dirty="0"/>
            </a:br>
            <a:r>
              <a:rPr lang="en-US" dirty="0"/>
              <a:t>Of the events the diagram </a:t>
            </a:r>
            <a:r>
              <a:rPr lang="en-US" i="1" dirty="0"/>
              <a:t>shows</a:t>
            </a:r>
            <a:r>
              <a:rPr lang="en-US" dirty="0"/>
              <a:t>, how many are correct?</a:t>
            </a:r>
          </a:p>
          <a:p>
            <a:r>
              <a:rPr lang="en-US" b="1" i="0" dirty="0"/>
              <a:t>Recall = 8/12</a:t>
            </a:r>
            <a:br>
              <a:rPr lang="en-US" i="0" dirty="0"/>
            </a:br>
            <a:r>
              <a:rPr lang="en-US" i="0" dirty="0"/>
              <a:t>Of the events that actually happened, how many did the diagram capture?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6FD1B-59C9-4EEA-9735-540FF221A12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8953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162DD-67AD-B3D9-986C-3DF885C53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4668E2-4E1B-8FCB-2127-105BE04EDD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16D205-1EB7-76B2-CEA0-1B0D810DB7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dirty="0"/>
              <a:t>עיבוד מקבילי של קובץ ה-</a:t>
            </a:r>
            <a:r>
              <a:rPr lang="en-US" dirty="0"/>
              <a:t>PCAP (Parsing) </a:t>
            </a:r>
            <a:r>
              <a:rPr lang="he-IL" dirty="0"/>
              <a:t>במקביל לניתוח הטקסטואלי של המאמר האקדמי, מה שמקצר את זמן ההמתנה הכולל של המשתמש.</a:t>
            </a:r>
            <a:endParaRPr lang="en-US" dirty="0"/>
          </a:p>
          <a:p>
            <a:pPr algn="r" rtl="1"/>
            <a:endParaRPr lang="en-US" dirty="0"/>
          </a:p>
          <a:p>
            <a:pPr algn="r" rtl="1"/>
            <a:endParaRPr lang="en-US" dirty="0"/>
          </a:p>
          <a:p>
            <a:pPr algn="r" rtl="1"/>
            <a:r>
              <a:rPr lang="he-IL" dirty="0"/>
              <a:t>במקום לשלוח את כל ה-</a:t>
            </a:r>
            <a:r>
              <a:rPr lang="en-US" dirty="0"/>
              <a:t>PCAP </a:t>
            </a:r>
            <a:r>
              <a:rPr lang="he-IL" dirty="0"/>
              <a:t>ל-</a:t>
            </a:r>
            <a:r>
              <a:rPr lang="en-US" dirty="0"/>
              <a:t>LLM, </a:t>
            </a:r>
            <a:r>
              <a:rPr lang="he-IL" dirty="0"/>
              <a:t>המערכת מסננת "רעשי רקע" (כמו </a:t>
            </a:r>
            <a:r>
              <a:rPr lang="en-US" dirty="0"/>
              <a:t>Keep-</a:t>
            </a:r>
            <a:r>
              <a:rPr lang="en-US" dirty="0" err="1"/>
              <a:t>alives</a:t>
            </a:r>
            <a:r>
              <a:rPr lang="en-US" dirty="0"/>
              <a:t> </a:t>
            </a:r>
            <a:r>
              <a:rPr lang="he-IL" dirty="0"/>
              <a:t>או תעבורת </a:t>
            </a:r>
            <a:r>
              <a:rPr lang="en-US" dirty="0"/>
              <a:t>TCP </a:t>
            </a:r>
            <a:r>
              <a:rPr lang="he-IL" dirty="0"/>
              <a:t>שגרתית) ומשאירה רק את החבילות הרלוונטיות למתקפה. זה חוסך זמן עיבוד יקר.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82A8C4-0372-ED22-26CA-CF5E849BBC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6FD1B-59C9-4EEA-9735-540FF221A12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7891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00567-9FDE-653C-3764-C9478B5A7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BE101E-699E-B86D-F2DA-480C5A2F29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8B6F7C-8C3F-A0CA-6BF1-7E40D998C2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DiagramEval: Evaluating LLM-Generated Diagrams via Graphs</a:t>
            </a:r>
          </a:p>
          <a:p>
            <a:endParaRPr lang="en-US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Syntax Correctness:</a:t>
            </a:r>
            <a:r>
              <a:rPr lang="en-US" dirty="0"/>
              <a:t> Use a "Mermaid Linter" or the Mermaid CLI to automatically check if the generated code is valid. A failed render is a 0% score for that run.</a:t>
            </a:r>
          </a:p>
          <a:p>
            <a:endParaRPr lang="en-US" b="1" dirty="0"/>
          </a:p>
          <a:p>
            <a:r>
              <a:rPr lang="en-US" b="1" dirty="0"/>
              <a:t>Precision/Recall:</a:t>
            </a:r>
            <a:r>
              <a:rPr lang="en-US" dirty="0"/>
              <a:t> Are all the essential packets from the </a:t>
            </a:r>
            <a:r>
              <a:rPr lang="en-US" dirty="0" err="1"/>
              <a:t>Pcap</a:t>
            </a:r>
            <a:r>
              <a:rPr lang="en-US" dirty="0"/>
              <a:t> represented in the diagram?</a:t>
            </a:r>
          </a:p>
          <a:p>
            <a:r>
              <a:rPr lang="en-US" b="1" dirty="0"/>
              <a:t>F1-Score:</a:t>
            </a:r>
            <a:r>
              <a:rPr lang="en-US" dirty="0"/>
              <a:t> Does the sequence of "who talked to whom" match the actual protocol flow?</a:t>
            </a:r>
          </a:p>
          <a:p>
            <a:r>
              <a:rPr lang="en-US" b="1" dirty="0"/>
              <a:t>Syntax Correctness:</a:t>
            </a:r>
            <a:r>
              <a:rPr lang="en-US" dirty="0"/>
              <a:t> Use a "Mermaid Linter" or the Mermaid CLI to automatically check if the generated code is valid. A failed render is a 0% score for that run.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Precision = 8/10</a:t>
            </a:r>
            <a:br>
              <a:rPr lang="en-US" dirty="0"/>
            </a:br>
            <a:r>
              <a:rPr lang="en-US" dirty="0"/>
              <a:t>Of the events the diagram </a:t>
            </a:r>
            <a:r>
              <a:rPr lang="en-US" i="1" dirty="0"/>
              <a:t>shows</a:t>
            </a:r>
            <a:r>
              <a:rPr lang="en-US" dirty="0"/>
              <a:t>, how many are correct?</a:t>
            </a:r>
          </a:p>
          <a:p>
            <a:r>
              <a:rPr lang="en-US" b="1" i="0" dirty="0"/>
              <a:t>Recall = 8/12</a:t>
            </a:r>
            <a:br>
              <a:rPr lang="en-US" i="0" dirty="0"/>
            </a:br>
            <a:r>
              <a:rPr lang="en-US" i="0" dirty="0"/>
              <a:t>Of the events that actually happened, how many did the diagram capture?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CAE89A-8221-BBC3-E2AA-1F67AB3907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6FD1B-59C9-4EEA-9735-540FF221A12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4010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BFDAD-2A30-A040-7570-7AE3EBC0EF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4DAF00-F892-F9E1-D010-80AE132302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001FB-7B0D-9E6D-C267-BFA5B6AFC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DDE44-2A96-4951-86B4-5BB434E9B9D5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7FC2D2-CA26-C316-3669-BC695AF24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CF6FE2-291F-210F-52F9-97D23C9BC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8B40D-D125-4F8D-9DC7-ECCAC2500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099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7A1FE-CE01-6DB0-8520-3FACF75DB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108B2-08E5-AE15-E7B7-604A640855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FFA55A-6826-795F-C58E-C6699879C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DDE44-2A96-4951-86B4-5BB434E9B9D5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3E1DD0-008B-0D10-D29F-9D1922D40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86A05D-4F98-D419-7BCE-49E7E9BC7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8B40D-D125-4F8D-9DC7-ECCAC2500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026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35C4C-DAB2-A6DE-9176-93A0202DD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5C0D5D-7D11-9A53-E25E-2F52F1203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9DF01-1312-9A51-03E6-13A0EB894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DDE44-2A96-4951-86B4-5BB434E9B9D5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57CBE-33AE-E9C3-F4E5-62B100D8B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EFAC1-2BE9-BEFF-7405-571A3B948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8B40D-D125-4F8D-9DC7-ECCAC2500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991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0300B-0317-8899-31E9-901C18BFE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FA3D0-387C-2797-906E-5606CE0FC9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49EABF-5B98-84C3-FFEC-0D1F9B8DA7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541136-B160-175B-5A0A-A1C2DEEE2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DDE44-2A96-4951-86B4-5BB434E9B9D5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1E0C07-4EBB-B3A1-EB15-92077D833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22B4ED-B2C9-BB8B-E5B0-5F9F63442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8B40D-D125-4F8D-9DC7-ECCAC2500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591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8FE69-95A9-3465-48C5-E1A47A461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3D3174-D968-C148-0C5A-8534AE8AF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D22B0A-D1FF-0C1C-D4C5-8E8343B8AE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8F7D12-E7E4-CB04-C748-7290FD85C4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F161B2-CE9E-13D9-3635-D4E2D10F6D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121956-CA0B-3932-D667-2E0DAF50E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DDE44-2A96-4951-86B4-5BB434E9B9D5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42778A-52AC-E9D5-CE32-45B759224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9BD79C-4D5B-85F5-42FA-FFFD7B50F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8B40D-D125-4F8D-9DC7-ECCAC2500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03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649B2-CB45-167D-18B1-3B4AFD8DC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402735-E2A2-79FF-AF5C-EDE56C1F5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DDE44-2A96-4951-86B4-5BB434E9B9D5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290B29-7EF4-B275-55DA-8889E079B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E06AD4-0FE3-3524-F4C6-AEE3F623A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8B40D-D125-4F8D-9DC7-ECCAC2500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064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969E0B-0CF0-4749-DA06-728584422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DDE44-2A96-4951-86B4-5BB434E9B9D5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68C05F-A07A-5212-F59D-2CBF6302E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E9EE09-7EFB-16CF-6A17-709E77E1A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8B40D-D125-4F8D-9DC7-ECCAC2500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228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B2BDF-4192-F788-7013-E1DA3DDAC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BB8C1-530E-F47B-20FC-23A123C380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40B3F7-0EEE-B878-D23A-3CE29FCBB4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6121EF-BAFC-EF47-0C79-C366D024B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DDE44-2A96-4951-86B4-5BB434E9B9D5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68E259-78CA-53C5-C476-B58CAF9B8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37F62-197F-7F4C-4109-9844544C4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8B40D-D125-4F8D-9DC7-ECCAC2500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181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82168-9F33-28A6-A92A-EA1152A28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334587-7E87-5A1D-F752-7B32E824BE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4861CC-F90F-DA56-1AE5-C6703D1D54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16DB2B-75FC-30ED-2A80-73D7503B8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DDE44-2A96-4951-86B4-5BB434E9B9D5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B8FFF1-6AEE-BFB1-67E5-A07187F44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6A315B-4B64-1160-D75C-E35BAD869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8B40D-D125-4F8D-9DC7-ECCAC2500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118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AF202-0628-E1C4-4606-D460C3544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159AA2-2BF8-6126-8B39-920E7FBF0D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2DF16-063F-5CE3-A45A-BE2BD7A57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DDE44-2A96-4951-86B4-5BB434E9B9D5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003BA-8AA7-9D5C-9310-8EBC2A14D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7B517F-7E9A-BA63-BE32-FB06FFCA4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8B40D-D125-4F8D-9DC7-ECCAC2500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876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238301-3667-45FE-054D-3EA3C40E77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A45AD9-F067-AFB6-7121-9D06BB24B5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056632-9D74-16DD-338C-2F727C95A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DDE44-2A96-4951-86B4-5BB434E9B9D5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08829-F61F-6B05-6273-EFFBEB5F7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0743D8-CAEE-93F8-D733-6033FBC00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8B40D-D125-4F8D-9DC7-ECCAC2500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0896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51088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AAAA72-2AE8-FC4B-734D-EEF28AE0F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93FF32-6615-1515-F397-5E2B388963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AB4C0-2D01-A1A1-008B-0F9C45D51A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ADDE44-2A96-4951-86B4-5BB434E9B9D5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AD4F95-77B5-3EF5-9452-428E2EB202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6E7131-E6FA-01DD-D240-2EE6AAFFC7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68B40D-D125-4F8D-9DC7-ECCAC2500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06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eventhelix.com/visualether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rinivas11789/PcapXray" TargetMode="External"/><Relationship Id="rId2" Type="http://schemas.openxmlformats.org/officeDocument/2006/relationships/hyperlink" Target="https://www.solarwinds.com/network-topology-mapper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isksense/mulva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l-lang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afebreach.com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app.eraser.io/workspace/lMLBjSejG7sm8ch4NGQN?origin=share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www.selector.ai/packet-copilot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509.10216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html/2510.25761v1#:~:text=By%20considering%20both%20research%20paper,generation%20quality%20of%20paper%20diagrams.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2366D-7DDB-C44C-693E-2D6C10794D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875" y="811212"/>
            <a:ext cx="11906250" cy="2387600"/>
          </a:xfrm>
        </p:spPr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Generating Attacks Auto-Diagrams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0E3388-032D-EFE3-8E90-24D9D7B500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Project Extension by Shachar Gabbay</a:t>
            </a:r>
          </a:p>
          <a:p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Meeting 1</a:t>
            </a:r>
          </a:p>
          <a:p>
            <a:endParaRPr lang="en-US" dirty="0"/>
          </a:p>
          <a:p>
            <a:r>
              <a:rPr lang="en-US" sz="1800" b="1" dirty="0">
                <a:solidFill>
                  <a:schemeClr val="accent5">
                    <a:lumMod val="50000"/>
                  </a:schemeClr>
                </a:solidFill>
              </a:rPr>
              <a:t>Based on the work of: Chen Dar, Karin </a:t>
            </a:r>
            <a:r>
              <a:rPr lang="en-US" sz="1800" b="1" dirty="0" err="1">
                <a:solidFill>
                  <a:schemeClr val="accent5">
                    <a:lumMod val="50000"/>
                  </a:schemeClr>
                </a:solidFill>
              </a:rPr>
              <a:t>Yechilzuke</a:t>
            </a:r>
            <a:r>
              <a:rPr lang="en-US" sz="1800" b="1" dirty="0">
                <a:solidFill>
                  <a:schemeClr val="accent5">
                    <a:lumMod val="50000"/>
                  </a:schemeClr>
                </a:solidFill>
              </a:rPr>
              <a:t>, and Ahmad Khalila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594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D373F-1BF2-6A0A-1308-E143B9FC2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A02B93"/>
                </a:solidFill>
              </a:rPr>
              <a:t>Literature Review 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F3C704A-6A15-76C8-B75E-DD707D0C261E}"/>
              </a:ext>
            </a:extLst>
          </p:cNvPr>
          <p:cNvGrpSpPr/>
          <p:nvPr/>
        </p:nvGrpSpPr>
        <p:grpSpPr>
          <a:xfrm>
            <a:off x="4417448" y="2424105"/>
            <a:ext cx="3542038" cy="2374109"/>
            <a:chOff x="415600" y="2624137"/>
            <a:chExt cx="3542038" cy="2374109"/>
          </a:xfrm>
        </p:grpSpPr>
        <p:pic>
          <p:nvPicPr>
            <p:cNvPr id="5" name="Picture 4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53FEC169-4A40-0848-51A6-8B2A5068EC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419261" y="2624137"/>
              <a:ext cx="1534716" cy="1534716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4D886D3-CB83-CDA3-372B-92B1088C91FC}"/>
                </a:ext>
              </a:extLst>
            </p:cNvPr>
            <p:cNvSpPr txBox="1"/>
            <p:nvPr/>
          </p:nvSpPr>
          <p:spPr>
            <a:xfrm>
              <a:off x="415600" y="4628914"/>
              <a:ext cx="354203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</a:rPr>
                <a:t>Attack Trees and Attack Graphs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94FA2AE-FD09-EF8D-358A-D46BBA6E7FB2}"/>
              </a:ext>
            </a:extLst>
          </p:cNvPr>
          <p:cNvGrpSpPr/>
          <p:nvPr/>
        </p:nvGrpSpPr>
        <p:grpSpPr>
          <a:xfrm>
            <a:off x="290935" y="2349095"/>
            <a:ext cx="3542038" cy="2449119"/>
            <a:chOff x="4633317" y="2549127"/>
            <a:chExt cx="3542038" cy="244911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4AA4AD4-3ED2-033D-FA27-0C1407F88703}"/>
                </a:ext>
              </a:extLst>
            </p:cNvPr>
            <p:cNvSpPr txBox="1"/>
            <p:nvPr/>
          </p:nvSpPr>
          <p:spPr>
            <a:xfrm>
              <a:off x="4633317" y="4628914"/>
              <a:ext cx="354203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</a:rPr>
                <a:t>Visualization of Network Traffic</a:t>
              </a:r>
            </a:p>
          </p:txBody>
        </p:sp>
        <p:pic>
          <p:nvPicPr>
            <p:cNvPr id="17" name="Picture 16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9B0BBC2D-8259-DD62-6253-9739BB950F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5599473" y="2549127"/>
              <a:ext cx="1609726" cy="1609726"/>
            </a:xfrm>
            <a:prstGeom prst="rect">
              <a:avLst/>
            </a:prstGeom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3EE874-E24D-62DA-CA4A-60C902640557}"/>
              </a:ext>
            </a:extLst>
          </p:cNvPr>
          <p:cNvGrpSpPr/>
          <p:nvPr/>
        </p:nvGrpSpPr>
        <p:grpSpPr>
          <a:xfrm>
            <a:off x="8543961" y="2366524"/>
            <a:ext cx="3226665" cy="2431690"/>
            <a:chOff x="8851035" y="2566556"/>
            <a:chExt cx="3226665" cy="2431690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E6BF649-5421-13B5-D265-92E375B6EB17}"/>
                </a:ext>
              </a:extLst>
            </p:cNvPr>
            <p:cNvSpPr txBox="1"/>
            <p:nvPr/>
          </p:nvSpPr>
          <p:spPr>
            <a:xfrm>
              <a:off x="8851035" y="4628914"/>
              <a:ext cx="322666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</a:rPr>
                <a:t>LLM + Diagram Generation</a:t>
              </a:r>
            </a:p>
          </p:txBody>
        </p:sp>
        <p:pic>
          <p:nvPicPr>
            <p:cNvPr id="21" name="Picture 20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F9B1B271-AFAB-6890-4439-E02100A0D8C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510117" y="2566556"/>
              <a:ext cx="1649878" cy="16498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81076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BBC8A-0F9C-8A2D-3B9B-47F98C8F8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Network Visualization - Packet to Diagram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29A99-5BEF-8400-6CC6-7D59987B69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Wireshark Flow Graph</a:t>
            </a:r>
          </a:p>
          <a:p>
            <a:r>
              <a:rPr lang="en-US" dirty="0"/>
              <a:t>VisualEther </a:t>
            </a:r>
          </a:p>
          <a:p>
            <a:r>
              <a:rPr lang="en-US" dirty="0" err="1"/>
              <a:t>PCAPXray</a:t>
            </a:r>
            <a:r>
              <a:rPr lang="en-US" dirty="0"/>
              <a:t>/</a:t>
            </a:r>
            <a:r>
              <a:rPr lang="en-US" dirty="0" err="1"/>
              <a:t>PCAPMap</a:t>
            </a:r>
            <a:endParaRPr lang="en-US" dirty="0"/>
          </a:p>
          <a:p>
            <a:r>
              <a:rPr lang="en-US" dirty="0"/>
              <a:t>SolarWinds</a:t>
            </a:r>
          </a:p>
        </p:txBody>
      </p:sp>
    </p:spTree>
    <p:extLst>
      <p:ext uri="{BB962C8B-B14F-4D97-AF65-F5344CB8AC3E}">
        <p14:creationId xmlns:p14="http://schemas.microsoft.com/office/powerpoint/2010/main" val="3300947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64601-1EAE-C0A1-66D4-D288C3BE6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E1D10-638D-5C98-F16D-03350BED6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Network Visualization - Packet to Diagram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C7C45-2A0A-CCF4-8A86-8E8895CC86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Wireshark Flow Graph</a:t>
            </a:r>
          </a:p>
          <a:p>
            <a:pPr marL="0" indent="0">
              <a:buNone/>
            </a:pPr>
            <a:r>
              <a:rPr lang="en-US" dirty="0"/>
              <a:t>Not diagrams but:</a:t>
            </a:r>
          </a:p>
          <a:p>
            <a:r>
              <a:rPr lang="en-US" dirty="0"/>
              <a:t>Mostly for troubleshooting </a:t>
            </a:r>
          </a:p>
          <a:p>
            <a:r>
              <a:rPr lang="en-US" dirty="0"/>
              <a:t>Shows connections between hosts and packet details</a:t>
            </a:r>
          </a:p>
          <a:p>
            <a:r>
              <a:rPr lang="en-US" dirty="0">
                <a:solidFill>
                  <a:srgbClr val="9900CC"/>
                </a:solidFill>
              </a:rPr>
              <a:t>Filters all connections by different options</a:t>
            </a:r>
          </a:p>
        </p:txBody>
      </p:sp>
      <p:pic>
        <p:nvPicPr>
          <p:cNvPr id="1026" name="Picture 2" descr="ws flow graph">
            <a:extLst>
              <a:ext uri="{FF2B5EF4-FFF2-40B4-BE49-F238E27FC236}">
                <a16:creationId xmlns:a16="http://schemas.microsoft.com/office/drawing/2014/main" id="{4D94A224-31F8-90F9-53B1-58E4089218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9463" y="4315939"/>
            <a:ext cx="4524373" cy="2450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4280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77AC3-3BD3-5666-B5C6-A76DD968B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9F76C-6F2F-307B-5247-DC4249CCE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Network Visualization - Packet to Diagram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A9616-A94D-A917-129F-D42927A00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hlinkClick r:id="rId2"/>
              </a:rPr>
              <a:t>VisualEther</a:t>
            </a:r>
            <a:r>
              <a:rPr lang="en-US" dirty="0"/>
              <a:t> - Protocol Analyzer </a:t>
            </a:r>
          </a:p>
          <a:p>
            <a:r>
              <a:rPr lang="en-US" dirty="0"/>
              <a:t>Converts PCAP files to UML diagrams</a:t>
            </a:r>
          </a:p>
          <a:p>
            <a:r>
              <a:rPr lang="en-US" dirty="0"/>
              <a:t>Literal mapping of packets </a:t>
            </a:r>
          </a:p>
          <a:p>
            <a:r>
              <a:rPr lang="en-US" dirty="0"/>
              <a:t>Used for low level debugging </a:t>
            </a:r>
            <a:endParaRPr lang="he-IL" dirty="0"/>
          </a:p>
          <a:p>
            <a:r>
              <a:rPr lang="en-US" dirty="0"/>
              <a:t>Does not explain intent or protocol-level meaning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074" name="Picture 2" descr="EventHelix logo">
            <a:extLst>
              <a:ext uri="{FF2B5EF4-FFF2-40B4-BE49-F238E27FC236}">
                <a16:creationId xmlns:a16="http://schemas.microsoft.com/office/drawing/2014/main" id="{65E7D748-C473-5918-98B3-6829B02CE8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4538" y="1914525"/>
            <a:ext cx="1238250" cy="123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3660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D006BB2-4464-1C19-356A-539083F5E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06F74-0AE8-516D-CCFE-E1FE62DB3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Network Visualization - Packet to Diagram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9D95B-FBC8-9C6C-402C-B4622ABD9C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hlinkClick r:id="rId2"/>
              </a:rPr>
              <a:t>SOLARWINDS</a:t>
            </a:r>
            <a:r>
              <a:rPr lang="en-US" dirty="0"/>
              <a:t>  </a:t>
            </a:r>
            <a:r>
              <a:rPr lang="en-US" dirty="0" err="1">
                <a:hlinkClick r:id="rId3"/>
              </a:rPr>
              <a:t>PcapXray</a:t>
            </a:r>
            <a:endParaRPr lang="en-US" dirty="0"/>
          </a:p>
          <a:p>
            <a:r>
              <a:rPr lang="en-US" dirty="0"/>
              <a:t>Gives full network of PCAP</a:t>
            </a:r>
          </a:p>
          <a:p>
            <a:r>
              <a:rPr lang="en-US" dirty="0"/>
              <a:t>Network mapping software built to automatically plot network topology</a:t>
            </a:r>
          </a:p>
          <a:p>
            <a:r>
              <a:rPr lang="en-US" dirty="0"/>
              <a:t>Visual Summaries of network behavior 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A close-up of a network&#10;&#10;AI-generated content may be incorrect.">
            <a:extLst>
              <a:ext uri="{FF2B5EF4-FFF2-40B4-BE49-F238E27FC236}">
                <a16:creationId xmlns:a16="http://schemas.microsoft.com/office/drawing/2014/main" id="{C20A0D27-AB85-8FF6-366D-E2DF872A16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2945" y="4006855"/>
            <a:ext cx="4361822" cy="2543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798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4F2D7-29E3-0ADC-F80E-4118D2FF9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Attack Trees and Attack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64CFC-E8CC-1DC0-C453-002CBC3C4F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Based on logical rules and specific configurations </a:t>
            </a:r>
          </a:p>
          <a:p>
            <a:r>
              <a:rPr lang="en-US" dirty="0"/>
              <a:t>MulVAL</a:t>
            </a:r>
          </a:p>
          <a:p>
            <a:r>
              <a:rPr lang="en-US" dirty="0"/>
              <a:t>MAL</a:t>
            </a:r>
            <a:endParaRPr lang="he-IL" dirty="0"/>
          </a:p>
          <a:p>
            <a:r>
              <a:rPr lang="en-US" dirty="0"/>
              <a:t>SafeBreach</a:t>
            </a:r>
            <a:endParaRPr lang="he-IL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AA1B7D-B967-76DF-9721-A8831317F0C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693082" y="2984845"/>
            <a:ext cx="3660717" cy="31568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0212B6A-F626-D29F-3C6A-19BA229B513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531722" y="3094470"/>
            <a:ext cx="3409294" cy="3217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3368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3D846-44AD-CF1C-7809-14E1C703C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FC9E7-20B5-B0AA-1494-A7B1377D5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Attack Trees and Attack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67869-5FB3-5AEF-2D47-27D73D9793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hlinkClick r:id="rId3"/>
              </a:rPr>
              <a:t>MulVAL</a:t>
            </a:r>
            <a:r>
              <a:rPr lang="en-US" dirty="0"/>
              <a:t> - Multi host, multi-stage Vulnerability Analysis tool</a:t>
            </a:r>
          </a:p>
          <a:p>
            <a:r>
              <a:rPr lang="en-US" dirty="0"/>
              <a:t>Takes security scans and network configs</a:t>
            </a:r>
          </a:p>
          <a:p>
            <a:r>
              <a:rPr lang="en-US" dirty="0"/>
              <a:t>Based on predefined logic rules </a:t>
            </a:r>
          </a:p>
          <a:p>
            <a:r>
              <a:rPr lang="en-US" dirty="0"/>
              <a:t>Attack graphs generator - industry standard </a:t>
            </a:r>
          </a:p>
          <a:p>
            <a:r>
              <a:rPr lang="en-US" dirty="0"/>
              <a:t>Shows attackers possible steps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58662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A3BC6-CF53-D4DD-3064-9645DD14C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28A16-F0F1-C8A8-CF09-EC56A9BD1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Attack Trees and Attack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80F94-266A-23E7-E821-11E3E3533A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hlinkClick r:id="rId3"/>
              </a:rPr>
              <a:t>MAL</a:t>
            </a:r>
            <a:r>
              <a:rPr lang="en-US" dirty="0"/>
              <a:t> – Meta Attack Language </a:t>
            </a:r>
          </a:p>
          <a:p>
            <a:r>
              <a:rPr lang="en-US" dirty="0"/>
              <a:t>Framework for building languages for attack simulations</a:t>
            </a:r>
            <a:endParaRPr lang="he-IL" dirty="0"/>
          </a:p>
          <a:p>
            <a:r>
              <a:rPr lang="en-US" dirty="0"/>
              <a:t>Creates Attack trees describing methods to attack networks</a:t>
            </a:r>
          </a:p>
          <a:p>
            <a:r>
              <a:rPr lang="en-US" dirty="0"/>
              <a:t>Top node is the goal of the attack</a:t>
            </a:r>
          </a:p>
          <a:p>
            <a:r>
              <a:rPr lang="en-US" dirty="0"/>
              <a:t>Branches are different ways to get there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3643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3137E-DD18-6AA3-8509-DA93D4605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C0310-2C6F-C99A-C368-0F2F718F7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Attack Trees and Attack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7A807-4928-17B0-2D90-BA1FDC1596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hlinkClick r:id="rId3"/>
              </a:rPr>
              <a:t>SafeBreach</a:t>
            </a:r>
            <a:r>
              <a:rPr lang="en-US" dirty="0"/>
              <a:t> – Breach and Attack Simulation  </a:t>
            </a:r>
          </a:p>
          <a:p>
            <a:r>
              <a:rPr lang="en-US" dirty="0"/>
              <a:t>Market leading platform for security validation</a:t>
            </a:r>
            <a:endParaRPr lang="he-IL" dirty="0"/>
          </a:p>
          <a:p>
            <a:r>
              <a:rPr lang="en-US" dirty="0"/>
              <a:t>Uses a library of attack methods</a:t>
            </a:r>
          </a:p>
          <a:p>
            <a:r>
              <a:rPr lang="en-US" dirty="0"/>
              <a:t>Diagrams showing how an attacker can move in the network to reach assets.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Focuses on simulated attack paths, not observed traffic</a:t>
            </a:r>
          </a:p>
          <a:p>
            <a:pPr marL="0" indent="0">
              <a:buNone/>
            </a:pPr>
            <a:endParaRPr lang="en-US" dirty="0"/>
          </a:p>
          <a:p>
            <a:endParaRPr lang="he-IL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7934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C0278-5669-629E-D2D5-911CE47A3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01186-621F-86A4-FEC4-4684FB208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LLM + Diagram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EAAFD-054E-5F95-394D-85B1723DF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Eraser.io </a:t>
            </a:r>
          </a:p>
          <a:p>
            <a:r>
              <a:rPr lang="en-US" dirty="0"/>
              <a:t>Selector.ai (waiting for demo)</a:t>
            </a:r>
          </a:p>
          <a:p>
            <a:r>
              <a:rPr lang="en-US" dirty="0" err="1"/>
              <a:t>MiroAI</a:t>
            </a:r>
            <a:r>
              <a:rPr lang="en-US" dirty="0"/>
              <a:t> (waiting for demo) </a:t>
            </a:r>
          </a:p>
          <a:p>
            <a:r>
              <a:rPr lang="en-US" dirty="0"/>
              <a:t>GitHub CoPilot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95F657-53CE-E8F3-B950-1C262A757CA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936480" y="552767"/>
            <a:ext cx="1767840" cy="17678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657F7B-F36C-5C79-D3D7-03A948899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4009" y="2455546"/>
            <a:ext cx="1437322" cy="14373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01D8BB-9BB8-4B48-CD1D-5E3A2A7667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7638" y="1130920"/>
            <a:ext cx="2471222" cy="1544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2463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6A257-5977-20B1-F4E2-FFE3A2A9E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LLM + Diagram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7E5E9-877C-E706-04C0-C46386CB93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hlinkClick r:id="rId2"/>
              </a:rPr>
              <a:t>Eraser.io </a:t>
            </a:r>
            <a:r>
              <a:rPr lang="en-US" dirty="0"/>
              <a:t>– AI for Technical design and documentation</a:t>
            </a:r>
          </a:p>
          <a:p>
            <a:r>
              <a:rPr lang="en-US" sz="2400" dirty="0"/>
              <a:t>Industry leader for AI diagram creation</a:t>
            </a:r>
          </a:p>
          <a:p>
            <a:r>
              <a:rPr lang="en-US" sz="2400" dirty="0"/>
              <a:t>Editing through feedback loop</a:t>
            </a:r>
          </a:p>
          <a:p>
            <a:r>
              <a:rPr lang="en-US" sz="2400" dirty="0"/>
              <a:t>not supporting .PCAP</a:t>
            </a:r>
          </a:p>
          <a:p>
            <a:r>
              <a:rPr lang="en-US" sz="2400" dirty="0"/>
              <a:t>Not specified for networks but for general diagrams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Google Shape;83;p17">
            <a:extLst>
              <a:ext uri="{FF2B5EF4-FFF2-40B4-BE49-F238E27FC236}">
                <a16:creationId xmlns:a16="http://schemas.microsoft.com/office/drawing/2014/main" id="{5A7F75E4-6A70-29B7-8A0A-20DCA470ED0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2634" y="4355161"/>
            <a:ext cx="3303224" cy="213771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A logo with a triangle and blue text&#10;&#10;AI-generated content may be incorrect.">
            <a:extLst>
              <a:ext uri="{FF2B5EF4-FFF2-40B4-BE49-F238E27FC236}">
                <a16:creationId xmlns:a16="http://schemas.microsoft.com/office/drawing/2014/main" id="{F5B774C0-BE5F-4344-CC73-0FE62B3D81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1798" y="1206414"/>
            <a:ext cx="1886213" cy="619211"/>
          </a:xfrm>
          <a:prstGeom prst="rect">
            <a:avLst/>
          </a:prstGeom>
        </p:spPr>
      </p:pic>
      <p:pic>
        <p:nvPicPr>
          <p:cNvPr id="9" name="Picture 8" descr="A diagram of a computer&#10;&#10;AI-generated content may be incorrect.">
            <a:extLst>
              <a:ext uri="{FF2B5EF4-FFF2-40B4-BE49-F238E27FC236}">
                <a16:creationId xmlns:a16="http://schemas.microsoft.com/office/drawing/2014/main" id="{0637FCA3-C9A6-AFC9-C3DD-AA33F94CFE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5909" y="4519900"/>
            <a:ext cx="5884296" cy="2263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24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0A7F7-D9CE-E29A-CD5C-982EA4B67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92C71-AF1A-B12D-246D-C252D8994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LLM + Diagram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EA045-C75F-27A1-BE47-EE16C09DA0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hlinkClick r:id="rId2"/>
              </a:rPr>
              <a:t>Selector.ai</a:t>
            </a:r>
            <a:r>
              <a:rPr lang="en-US" dirty="0"/>
              <a:t> (packet copilot)– AI built for networks and allows “chatting” with PCAP</a:t>
            </a:r>
            <a:endParaRPr lang="en-US" sz="2400" dirty="0"/>
          </a:p>
          <a:p>
            <a:r>
              <a:rPr lang="en-US" sz="2400" dirty="0"/>
              <a:t>More suited for network troubleshooting than research. </a:t>
            </a:r>
          </a:p>
          <a:p>
            <a:r>
              <a:rPr lang="en-US" sz="2400" dirty="0"/>
              <a:t>Not supporting papers</a:t>
            </a:r>
          </a:p>
          <a:p>
            <a:r>
              <a:rPr lang="en-US" sz="2400" dirty="0"/>
              <a:t>Not specified for networks but for general diagrams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7AD34BA4-37D6-DE29-46A2-6FE7D21ABF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8051" y="1139735"/>
            <a:ext cx="2333951" cy="628738"/>
          </a:xfrm>
          <a:prstGeom prst="rect">
            <a:avLst/>
          </a:prstGeom>
        </p:spPr>
      </p:pic>
      <p:pic>
        <p:nvPicPr>
          <p:cNvPr id="7" name="Picture 6" descr="A blue screen with white text&#10;&#10;AI-generated content may be incorrect.">
            <a:extLst>
              <a:ext uri="{FF2B5EF4-FFF2-40B4-BE49-F238E27FC236}">
                <a16:creationId xmlns:a16="http://schemas.microsoft.com/office/drawing/2014/main" id="{C7074439-F9EA-2D88-6552-28BF5B9791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4731" y="4578083"/>
            <a:ext cx="7783011" cy="191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5682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5BC12-CF43-28ED-2285-F048707BA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5743E-4E64-5B0B-38C3-64BF7A4C6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>
                <a:solidFill>
                  <a:srgbClr val="A02B93"/>
                </a:solidFill>
              </a:rPr>
              <a:t>RFSeek</a:t>
            </a:r>
            <a:r>
              <a:rPr lang="en-US" b="1" dirty="0">
                <a:solidFill>
                  <a:srgbClr val="A02B93"/>
                </a:solidFill>
              </a:rPr>
              <a:t> and Ye shall Find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75C87-0D4D-D3DE-582C-0D6F46858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>
                <a:hlinkClick r:id="rId3"/>
              </a:rPr>
              <a:t>RFSeek</a:t>
            </a:r>
            <a:r>
              <a:rPr lang="en-US" dirty="0">
                <a:hlinkClick r:id="rId3"/>
              </a:rPr>
              <a:t> and Ye shall Find</a:t>
            </a:r>
            <a:endParaRPr lang="en-US" dirty="0"/>
          </a:p>
          <a:p>
            <a:r>
              <a:rPr lang="en-US" dirty="0"/>
              <a:t>Automated Visual summaries of protocol logic</a:t>
            </a:r>
          </a:p>
          <a:p>
            <a:r>
              <a:rPr lang="en-US" dirty="0"/>
              <a:t>Visualizes protocol state machines from specs</a:t>
            </a:r>
          </a:p>
          <a:p>
            <a:r>
              <a:rPr lang="en-US" dirty="0"/>
              <a:t>Not specific to attack flow description</a:t>
            </a:r>
          </a:p>
          <a:p>
            <a:endParaRPr lang="en-US" dirty="0"/>
          </a:p>
        </p:txBody>
      </p:sp>
      <p:pic>
        <p:nvPicPr>
          <p:cNvPr id="5" name="Picture 4" descr="A document with text and images&#10;&#10;AI-generated content may be incorrect.">
            <a:extLst>
              <a:ext uri="{FF2B5EF4-FFF2-40B4-BE49-F238E27FC236}">
                <a16:creationId xmlns:a16="http://schemas.microsoft.com/office/drawing/2014/main" id="{2FF4E7E9-7A7D-5166-9DB9-29D8EEF4A2A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243"/>
          <a:stretch>
            <a:fillRect/>
          </a:stretch>
        </p:blipFill>
        <p:spPr>
          <a:xfrm>
            <a:off x="8808719" y="575744"/>
            <a:ext cx="2659343" cy="324069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 descr="A diagram of a network&#10;&#10;AI-generated content may be incorrect.">
            <a:extLst>
              <a:ext uri="{FF2B5EF4-FFF2-40B4-BE49-F238E27FC236}">
                <a16:creationId xmlns:a16="http://schemas.microsoft.com/office/drawing/2014/main" id="{B389EB3B-D9B5-20E5-0AB6-C8713DF7B47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3455"/>
          <a:stretch>
            <a:fillRect/>
          </a:stretch>
        </p:blipFill>
        <p:spPr>
          <a:xfrm>
            <a:off x="8160908" y="4331951"/>
            <a:ext cx="3192892" cy="2160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711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3D9CC-422F-27B3-DC85-3FF5C23D5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Current Project Advantages and Abilities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6882B-EB51-FB6D-D01F-276103BBFA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Auto-Generation of draft diagrams for new papers and slides</a:t>
            </a:r>
          </a:p>
          <a:p>
            <a:r>
              <a:rPr lang="en-US" dirty="0"/>
              <a:t>Supports multiple file types and multiple PCAP analysis options</a:t>
            </a:r>
          </a:p>
          <a:p>
            <a:r>
              <a:rPr lang="en-US" dirty="0">
                <a:solidFill>
                  <a:schemeClr val="dk1"/>
                </a:solidFill>
              </a:rPr>
              <a:t>Export + chat interface enables manual polishing and iteration</a:t>
            </a:r>
          </a:p>
          <a:p>
            <a:r>
              <a:rPr lang="en-US" dirty="0">
                <a:solidFill>
                  <a:schemeClr val="dk1"/>
                </a:solidFill>
              </a:rPr>
              <a:t>Interactive storyboard + feedback loop </a:t>
            </a:r>
          </a:p>
          <a:p>
            <a:endParaRPr lang="en-US" dirty="0"/>
          </a:p>
          <a:p>
            <a:endParaRPr lang="he-IL" dirty="0"/>
          </a:p>
          <a:p>
            <a:endParaRPr lang="he-IL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55482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5FB8-45FB-722C-8B3E-8D301CAA4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Motivation for Extension and Suggestions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5AA68-E69D-CD5E-5396-4EF6966F81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Content density reduction </a:t>
            </a:r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Post-processing and polishing for publication </a:t>
            </a:r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Improved and configurable animations </a:t>
            </a:r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Extension to protocols beyond DNS</a:t>
            </a:r>
          </a:p>
          <a:p>
            <a:r>
              <a:rPr lang="en-US" dirty="0"/>
              <a:t>Data specification</a:t>
            </a:r>
          </a:p>
          <a:p>
            <a:r>
              <a:rPr lang="en-US" dirty="0"/>
              <a:t>Controllable abstraction (researcher, student, reviewer…)</a:t>
            </a:r>
          </a:p>
          <a:p>
            <a:r>
              <a:rPr lang="en-US" dirty="0"/>
              <a:t>Grounding diagrams to packet-step level </a:t>
            </a:r>
          </a:p>
          <a:p>
            <a:r>
              <a:rPr lang="en-US" dirty="0"/>
              <a:t>Performance optimization and caching </a:t>
            </a:r>
            <a:endParaRPr lang="he-IL" dirty="0"/>
          </a:p>
          <a:p>
            <a:r>
              <a:rPr lang="en-US" dirty="0"/>
              <a:t>Concrete evaluation of results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0101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8F08E-C766-EADA-5511-F3D5A73B1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Data Specifications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9B7867-10FF-D121-E8FF-5A85A3AE7AF2}"/>
              </a:ext>
            </a:extLst>
          </p:cNvPr>
          <p:cNvSpPr txBox="1"/>
          <p:nvPr/>
        </p:nvSpPr>
        <p:spPr>
          <a:xfrm>
            <a:off x="3436620" y="2305982"/>
            <a:ext cx="899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RAG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20C5CC-16BB-DFFA-777E-F2E1CBAF60EC}"/>
              </a:ext>
            </a:extLst>
          </p:cNvPr>
          <p:cNvSpPr txBox="1"/>
          <p:nvPr/>
        </p:nvSpPr>
        <p:spPr>
          <a:xfrm>
            <a:off x="8092440" y="2240121"/>
            <a:ext cx="21031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Fine-Tuning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4557DF-702A-A046-47B8-3BD2750025CF}"/>
              </a:ext>
            </a:extLst>
          </p:cNvPr>
          <p:cNvSpPr txBox="1"/>
          <p:nvPr/>
        </p:nvSpPr>
        <p:spPr>
          <a:xfrm>
            <a:off x="6096000" y="2956520"/>
            <a:ext cx="6096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u="sng" dirty="0"/>
              <a:t>Existing Datasets</a:t>
            </a:r>
            <a:r>
              <a:rPr lang="en-US" sz="2000" dirty="0"/>
              <a:t>:</a:t>
            </a:r>
            <a:endParaRPr lang="en-US" sz="2000" u="sng" dirty="0"/>
          </a:p>
          <a:p>
            <a:pPr algn="ctr"/>
            <a:r>
              <a:rPr lang="en-US" sz="2000" dirty="0" err="1"/>
              <a:t>CyberLLMInstruct</a:t>
            </a:r>
            <a:endParaRPr lang="en-US" sz="2000" dirty="0"/>
          </a:p>
          <a:p>
            <a:pPr algn="ctr"/>
            <a:r>
              <a:rPr lang="en-US" sz="2000" dirty="0"/>
              <a:t>NetFlow Statistics </a:t>
            </a:r>
          </a:p>
          <a:p>
            <a:pPr algn="ctr"/>
            <a:r>
              <a:rPr lang="en-US" sz="2000" dirty="0"/>
              <a:t>PCAP-to-Text</a:t>
            </a:r>
          </a:p>
          <a:p>
            <a:pPr algn="ctr"/>
            <a:r>
              <a:rPr lang="en-US" sz="2000" dirty="0"/>
              <a:t>Manually created diagrams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A54CF5-1D29-ACC3-EF1D-FCB23434AD8E}"/>
              </a:ext>
            </a:extLst>
          </p:cNvPr>
          <p:cNvSpPr txBox="1"/>
          <p:nvPr/>
        </p:nvSpPr>
        <p:spPr>
          <a:xfrm>
            <a:off x="2438400" y="1608117"/>
            <a:ext cx="7315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Learning better network related diagrams styles using: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244125-C4FE-6F48-71A8-23E60B84700E}"/>
              </a:ext>
            </a:extLst>
          </p:cNvPr>
          <p:cNvSpPr txBox="1"/>
          <p:nvPr/>
        </p:nvSpPr>
        <p:spPr>
          <a:xfrm>
            <a:off x="838200" y="3029862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Specific Protocols and network rules</a:t>
            </a:r>
          </a:p>
          <a:p>
            <a:pPr algn="ctr"/>
            <a:r>
              <a:rPr lang="en-US" sz="2000" dirty="0"/>
              <a:t>Vocabulary of network attacks</a:t>
            </a:r>
          </a:p>
          <a:p>
            <a:pPr algn="ctr"/>
            <a:r>
              <a:rPr lang="en-US" sz="2000" dirty="0"/>
              <a:t>Specific shape that better fits specific systems</a:t>
            </a:r>
          </a:p>
        </p:txBody>
      </p:sp>
    </p:spTree>
    <p:extLst>
      <p:ext uri="{BB962C8B-B14F-4D97-AF65-F5344CB8AC3E}">
        <p14:creationId xmlns:p14="http://schemas.microsoft.com/office/powerpoint/2010/main" val="337675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FEE58-785B-B85E-21D9-2DA61451D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Grounding to Evidence</a:t>
            </a:r>
          </a:p>
        </p:txBody>
      </p:sp>
      <p:pic>
        <p:nvPicPr>
          <p:cNvPr id="5" name="Picture 4" descr="A yellow box with black text&#10;&#10;AI-generated content may be incorrect.">
            <a:extLst>
              <a:ext uri="{FF2B5EF4-FFF2-40B4-BE49-F238E27FC236}">
                <a16:creationId xmlns:a16="http://schemas.microsoft.com/office/drawing/2014/main" id="{8EA4AFF8-52AD-62D0-EE7A-4C43CA1C7E0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2802854"/>
            <a:ext cx="5084650" cy="97633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582DF028-2F0B-9EF0-DCD3-38CFFC49C383}"/>
              </a:ext>
            </a:extLst>
          </p:cNvPr>
          <p:cNvGrpSpPr/>
          <p:nvPr/>
        </p:nvGrpSpPr>
        <p:grpSpPr>
          <a:xfrm>
            <a:off x="1564991" y="3291019"/>
            <a:ext cx="8576244" cy="1455602"/>
            <a:chOff x="2274521" y="2973707"/>
            <a:chExt cx="8760965" cy="1455602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732F41F7-F377-069E-83D8-553773079606}"/>
                </a:ext>
              </a:extLst>
            </p:cNvPr>
            <p:cNvCxnSpPr>
              <a:cxnSpLocks/>
            </p:cNvCxnSpPr>
            <p:nvPr/>
          </p:nvCxnSpPr>
          <p:spPr>
            <a:xfrm>
              <a:off x="5873954" y="2973707"/>
              <a:ext cx="2198330" cy="2726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32EF20A-271C-7051-C787-BB72AD7C5484}"/>
                </a:ext>
              </a:extLst>
            </p:cNvPr>
            <p:cNvSpPr txBox="1"/>
            <p:nvPr/>
          </p:nvSpPr>
          <p:spPr>
            <a:xfrm>
              <a:off x="2274521" y="4059977"/>
              <a:ext cx="87609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Add verifying metadata and referral to timestamp in PCAP + redirection to line in PCAP  </a:t>
              </a:r>
            </a:p>
          </p:txBody>
        </p:sp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57A66DD-7D27-E4CD-A27F-EF11BD5F8EDC}"/>
              </a:ext>
            </a:extLst>
          </p:cNvPr>
          <p:cNvSpPr/>
          <p:nvPr/>
        </p:nvSpPr>
        <p:spPr>
          <a:xfrm>
            <a:off x="7573228" y="2228851"/>
            <a:ext cx="4365522" cy="184543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u="sng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Event</a:t>
            </a:r>
            <a:r>
              <a:rPr kumimoji="0" lang="en-US" altLang="en-US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UDP DNS referral response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Size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1532 bytes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Evidence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packets #417- #421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2.18 - 2.24 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10178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E0093-FB34-3E66-4085-7BB6C14DE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Controllable Abstraction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6B58F-D73D-919E-468A-79A907794D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60951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Adapting abstraction level using a slider/prompt - “zoom in” to nodes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0AF9EFF-6029-CE92-4BB1-CD580924F22D}"/>
              </a:ext>
            </a:extLst>
          </p:cNvPr>
          <p:cNvGrpSpPr/>
          <p:nvPr/>
        </p:nvGrpSpPr>
        <p:grpSpPr>
          <a:xfrm>
            <a:off x="192849" y="2955587"/>
            <a:ext cx="11806302" cy="2532229"/>
            <a:chOff x="-40482" y="3429000"/>
            <a:chExt cx="11806302" cy="2532229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10FCF6FD-56C0-455E-0A14-59739ACBD6FE}"/>
                </a:ext>
              </a:extLst>
            </p:cNvPr>
            <p:cNvCxnSpPr>
              <a:cxnSpLocks/>
            </p:cNvCxnSpPr>
            <p:nvPr/>
          </p:nvCxnSpPr>
          <p:spPr>
            <a:xfrm>
              <a:off x="3102122" y="3890665"/>
              <a:ext cx="5212080" cy="0"/>
            </a:xfrm>
            <a:prstGeom prst="straightConnector1">
              <a:avLst/>
            </a:prstGeom>
            <a:ln w="76200">
              <a:gradFill>
                <a:gsLst>
                  <a:gs pos="42000">
                    <a:schemeClr val="accent5">
                      <a:lumMod val="60000"/>
                      <a:lumOff val="40000"/>
                    </a:schemeClr>
                  </a:gs>
                  <a:gs pos="78000">
                    <a:srgbClr val="7030A0"/>
                  </a:gs>
                </a:gsLst>
                <a:lin ang="0" scaled="0"/>
              </a:gra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46F7A55-3B1F-D893-0529-C21385CD0063}"/>
                </a:ext>
              </a:extLst>
            </p:cNvPr>
            <p:cNvSpPr txBox="1"/>
            <p:nvPr/>
          </p:nvSpPr>
          <p:spPr>
            <a:xfrm>
              <a:off x="-40482" y="3429000"/>
              <a:ext cx="3142604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Low Abstraction </a:t>
              </a:r>
            </a:p>
            <a:p>
              <a:pPr algn="ctr"/>
              <a:r>
                <a:rPr lang="en-US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literal packet description</a:t>
              </a:r>
            </a:p>
            <a:p>
              <a:pPr algn="ctr"/>
              <a:r>
                <a:rPr lang="en-US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 no explanation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963FE99-1B3D-3026-3357-1314B510957A}"/>
                </a:ext>
              </a:extLst>
            </p:cNvPr>
            <p:cNvSpPr txBox="1"/>
            <p:nvPr/>
          </p:nvSpPr>
          <p:spPr>
            <a:xfrm>
              <a:off x="8314202" y="3452495"/>
              <a:ext cx="3451618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solidFill>
                    <a:srgbClr val="7030A0"/>
                  </a:solidFill>
                </a:rPr>
                <a:t>High Abstraction </a:t>
              </a:r>
            </a:p>
            <a:p>
              <a:pPr algn="ctr"/>
              <a:r>
                <a:rPr lang="en-US" b="1" dirty="0">
                  <a:solidFill>
                    <a:srgbClr val="7030A0"/>
                  </a:solidFill>
                </a:rPr>
                <a:t>  collapsing groups of packets </a:t>
              </a:r>
            </a:p>
            <a:p>
              <a:pPr algn="ctr"/>
              <a:r>
                <a:rPr lang="en-US" b="1" dirty="0">
                  <a:solidFill>
                    <a:srgbClr val="7030A0"/>
                  </a:solidFill>
                </a:rPr>
                <a:t>to conceptual actions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B9E7ACE-3FFB-721D-E466-58D54E56C3A0}"/>
                </a:ext>
              </a:extLst>
            </p:cNvPr>
            <p:cNvSpPr txBox="1"/>
            <p:nvPr/>
          </p:nvSpPr>
          <p:spPr>
            <a:xfrm>
              <a:off x="4058582" y="4760900"/>
              <a:ext cx="3142604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solidFill>
                    <a:srgbClr val="C836B7"/>
                  </a:solidFill>
                </a:rPr>
                <a:t>Some Queries (less details)</a:t>
              </a:r>
            </a:p>
            <a:p>
              <a:pPr algn="ctr"/>
              <a:r>
                <a:rPr lang="en-US" b="1" dirty="0">
                  <a:solidFill>
                    <a:srgbClr val="C836B7"/>
                  </a:solidFill>
                </a:rPr>
                <a:t>Including evidence + concepts</a:t>
              </a:r>
            </a:p>
            <a:p>
              <a:pPr algn="ctr"/>
              <a:endParaRPr lang="en-US" b="1" dirty="0">
                <a:solidFill>
                  <a:srgbClr val="C836B7"/>
                </a:solidFill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606F9573-1C7C-698C-3BB0-D81CC461DC8C}"/>
              </a:ext>
            </a:extLst>
          </p:cNvPr>
          <p:cNvSpPr txBox="1"/>
          <p:nvPr/>
        </p:nvSpPr>
        <p:spPr>
          <a:xfrm>
            <a:off x="8043863" y="3646000"/>
            <a:ext cx="1343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100%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07E311F-B181-8736-F338-EA67C6166911}"/>
              </a:ext>
            </a:extLst>
          </p:cNvPr>
          <p:cNvSpPr txBox="1"/>
          <p:nvPr/>
        </p:nvSpPr>
        <p:spPr>
          <a:xfrm>
            <a:off x="3167610" y="3646794"/>
            <a:ext cx="1343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0%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395446-1490-72E5-8046-10B772C7DD17}"/>
              </a:ext>
            </a:extLst>
          </p:cNvPr>
          <p:cNvSpPr txBox="1"/>
          <p:nvPr/>
        </p:nvSpPr>
        <p:spPr>
          <a:xfrm>
            <a:off x="5525656" y="3660288"/>
            <a:ext cx="675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836B7"/>
                </a:solidFill>
              </a:rPr>
              <a:t>50%</a:t>
            </a:r>
          </a:p>
        </p:txBody>
      </p:sp>
    </p:spTree>
    <p:extLst>
      <p:ext uri="{BB962C8B-B14F-4D97-AF65-F5344CB8AC3E}">
        <p14:creationId xmlns:p14="http://schemas.microsoft.com/office/powerpoint/2010/main" val="23220543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BF1AE-E4A2-532F-0B43-93A765D16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Results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5ACFE-CD7E-C8C1-254F-69FE1A21B7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204" y="1931739"/>
            <a:ext cx="3503859" cy="201821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chemeClr val="accent5">
                    <a:lumMod val="50000"/>
                  </a:schemeClr>
                </a:solidFill>
              </a:rPr>
              <a:t>Quantitative Evaluation</a:t>
            </a:r>
          </a:p>
          <a:p>
            <a:pPr marL="0" indent="0" algn="ctr">
              <a:buNone/>
            </a:pPr>
            <a:r>
              <a:rPr lang="en-US" sz="1600" u="sng" dirty="0"/>
              <a:t>Syntax Correction</a:t>
            </a:r>
            <a:r>
              <a:rPr lang="en-US" sz="1600" dirty="0"/>
              <a:t>: Mermaid CLI</a:t>
            </a:r>
            <a:endParaRPr lang="en-US" sz="1600" b="1" dirty="0"/>
          </a:p>
          <a:p>
            <a:pPr marL="0" indent="0" algn="ctr">
              <a:buNone/>
            </a:pPr>
            <a:r>
              <a:rPr lang="en-US" sz="1600" u="sng" dirty="0"/>
              <a:t>Structural Fidelity</a:t>
            </a:r>
            <a:r>
              <a:rPr lang="en-US" sz="1600" dirty="0"/>
              <a:t>: GED, </a:t>
            </a:r>
            <a:r>
              <a:rPr lang="en-US" sz="1600" dirty="0">
                <a:hlinkClick r:id="rId3"/>
              </a:rPr>
              <a:t>DiagramEval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u="sng" dirty="0"/>
              <a:t>Metrics</a:t>
            </a:r>
            <a:r>
              <a:rPr lang="en-US" sz="1600" dirty="0"/>
              <a:t>: Precision/Recall, F1-score</a:t>
            </a:r>
          </a:p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126A984-62BD-6A81-DDD3-B13A75A68D71}"/>
              </a:ext>
            </a:extLst>
          </p:cNvPr>
          <p:cNvSpPr txBox="1">
            <a:spLocks/>
          </p:cNvSpPr>
          <p:nvPr/>
        </p:nvSpPr>
        <p:spPr>
          <a:xfrm>
            <a:off x="8416413" y="1904112"/>
            <a:ext cx="2937387" cy="17172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chemeClr val="accent5">
                    <a:lumMod val="50000"/>
                  </a:schemeClr>
                </a:solidFill>
              </a:rPr>
              <a:t>Qualitative</a:t>
            </a:r>
            <a:r>
              <a:rPr lang="en-US" sz="1800" b="1" dirty="0"/>
              <a:t> 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dirty="0"/>
              <a:t>Satisfying Density Ratio (Packets/Node)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dirty="0"/>
              <a:t>Clarity 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6E22DCC-C5FA-710E-C0E4-0CD52352E89C}"/>
              </a:ext>
            </a:extLst>
          </p:cNvPr>
          <p:cNvSpPr txBox="1">
            <a:spLocks/>
          </p:cNvSpPr>
          <p:nvPr/>
        </p:nvSpPr>
        <p:spPr>
          <a:xfrm>
            <a:off x="4627306" y="1927865"/>
            <a:ext cx="2937387" cy="24001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chemeClr val="accent5">
                    <a:lumMod val="50000"/>
                  </a:schemeClr>
                </a:solidFill>
              </a:rPr>
              <a:t>Researcher Review  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dirty="0"/>
              <a:t>Creating manual metrics and a poll for researchers to rank diagrams quality 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dirty="0"/>
              <a:t>Verifiability of diagrams 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5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E4296D2-5677-0824-5683-076DCA4DDC76}"/>
              </a:ext>
            </a:extLst>
          </p:cNvPr>
          <p:cNvGrpSpPr/>
          <p:nvPr/>
        </p:nvGrpSpPr>
        <p:grpSpPr>
          <a:xfrm>
            <a:off x="3046810" y="3784773"/>
            <a:ext cx="6322647" cy="2175933"/>
            <a:chOff x="3046810" y="3784773"/>
            <a:chExt cx="6322647" cy="2175933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5A46B66-DAB0-C3FB-355E-E7558F4E4E2B}"/>
                </a:ext>
              </a:extLst>
            </p:cNvPr>
            <p:cNvSpPr txBox="1"/>
            <p:nvPr/>
          </p:nvSpPr>
          <p:spPr>
            <a:xfrm>
              <a:off x="3046810" y="4293395"/>
              <a:ext cx="1853550" cy="1021556"/>
            </a:xfrm>
            <a:prstGeom prst="roundRect">
              <a:avLst/>
            </a:prstGeom>
            <a:noFill/>
            <a:ln w="57150">
              <a:solidFill>
                <a:schemeClr val="accent5">
                  <a:lumMod val="5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/>
                <a:t>Ground Truth</a:t>
              </a:r>
            </a:p>
            <a:p>
              <a:pPr algn="ctr"/>
              <a:r>
                <a:rPr lang="en-US" dirty="0"/>
                <a:t>12 protocol events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5EB1AFB2-35C2-DE54-8B7E-833F9EF27920}"/>
                </a:ext>
              </a:extLst>
            </p:cNvPr>
            <p:cNvCxnSpPr/>
            <p:nvPr/>
          </p:nvCxnSpPr>
          <p:spPr>
            <a:xfrm>
              <a:off x="5158538" y="4879421"/>
              <a:ext cx="2187615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1D755EC-1389-F508-C667-B7935F6C9C21}"/>
                </a:ext>
              </a:extLst>
            </p:cNvPr>
            <p:cNvSpPr txBox="1"/>
            <p:nvPr/>
          </p:nvSpPr>
          <p:spPr>
            <a:xfrm>
              <a:off x="5148736" y="4311525"/>
              <a:ext cx="218761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Diagram shows 10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B1104C2-8E95-9D40-1A2F-AE01B78BE641}"/>
                </a:ext>
              </a:extLst>
            </p:cNvPr>
            <p:cNvSpPr txBox="1"/>
            <p:nvPr/>
          </p:nvSpPr>
          <p:spPr>
            <a:xfrm>
              <a:off x="5399038" y="4966522"/>
              <a:ext cx="168701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8 are correct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F716AD31-A674-F266-1F96-A77E96EE2302}"/>
                    </a:ext>
                  </a:extLst>
                </p:cNvPr>
                <p:cNvSpPr txBox="1"/>
                <p:nvPr/>
              </p:nvSpPr>
              <p:spPr>
                <a:xfrm>
                  <a:off x="7732147" y="4668428"/>
                  <a:ext cx="1623022" cy="535537"/>
                </a:xfrm>
                <a:prstGeom prst="roundRect">
                  <a:avLst/>
                </a:prstGeom>
                <a:noFill/>
                <a:ln w="57150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dirty="0"/>
                    <a:t>Recall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F716AD31-A674-F266-1F96-A77E96EE23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32147" y="4668428"/>
                  <a:ext cx="1623022" cy="535537"/>
                </a:xfrm>
                <a:prstGeom prst="round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57150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9B58790-073C-7001-87A2-FC5C6BD0EFE3}"/>
                </a:ext>
              </a:extLst>
            </p:cNvPr>
            <p:cNvSpPr txBox="1"/>
            <p:nvPr/>
          </p:nvSpPr>
          <p:spPr>
            <a:xfrm>
              <a:off x="7746435" y="5552083"/>
              <a:ext cx="1623022" cy="408623"/>
            </a:xfrm>
            <a:prstGeom prst="roundRect">
              <a:avLst/>
            </a:prstGeom>
            <a:solidFill>
              <a:schemeClr val="bg1"/>
            </a:solidFill>
            <a:ln w="57150">
              <a:solidFill>
                <a:srgbClr val="A02B93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F1 ≈ 0.73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3D63EFA0-58C3-1053-81CA-5A1025285332}"/>
                    </a:ext>
                  </a:extLst>
                </p:cNvPr>
                <p:cNvSpPr txBox="1"/>
                <p:nvPr/>
              </p:nvSpPr>
              <p:spPr>
                <a:xfrm>
                  <a:off x="7732147" y="3784773"/>
                  <a:ext cx="1623022" cy="537452"/>
                </a:xfrm>
                <a:prstGeom prst="roundRect">
                  <a:avLst/>
                </a:prstGeom>
                <a:noFill/>
                <a:ln w="57150">
                  <a:solidFill>
                    <a:schemeClr val="accent5">
                      <a:lumMod val="20000"/>
                      <a:lumOff val="80000"/>
                    </a:schemeClr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>
                    <a:buNone/>
                  </a:pPr>
                  <a:r>
                    <a:rPr lang="en-US" dirty="0"/>
                    <a:t>Precision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3D63EFA0-58C3-1053-81CA-5A10252853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32147" y="3784773"/>
                  <a:ext cx="1623022" cy="537452"/>
                </a:xfrm>
                <a:prstGeom prst="round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57150">
                  <a:solidFill>
                    <a:schemeClr val="accent5">
                      <a:lumMod val="20000"/>
                      <a:lumOff val="8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305756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25F37-3A27-6CCC-7843-98655C736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38074-3C92-F26B-6660-64C6EEB34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Performance Optimization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CF9DDD-4975-549E-364C-A8C1CDD22D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Caching methods – to be searched in the future</a:t>
            </a:r>
          </a:p>
          <a:p>
            <a:r>
              <a:rPr lang="en-US" dirty="0"/>
              <a:t>Parallel Processing </a:t>
            </a:r>
          </a:p>
          <a:p>
            <a:r>
              <a:rPr lang="en-US" dirty="0"/>
              <a:t>Efficiency of mermaid code </a:t>
            </a:r>
          </a:p>
          <a:p>
            <a:r>
              <a:rPr lang="en-US" dirty="0"/>
              <a:t>Filtering only relevant packages</a:t>
            </a:r>
          </a:p>
        </p:txBody>
      </p:sp>
    </p:spTree>
    <p:extLst>
      <p:ext uri="{BB962C8B-B14F-4D97-AF65-F5344CB8AC3E}">
        <p14:creationId xmlns:p14="http://schemas.microsoft.com/office/powerpoint/2010/main" val="17667263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1736E-81CF-2D69-F069-600779067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Technology Comparison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5EDC931-C478-3E7C-BBA0-CE06FDDD0B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0300605"/>
              </p:ext>
            </p:extLst>
          </p:nvPr>
        </p:nvGraphicFramePr>
        <p:xfrm>
          <a:off x="421481" y="1690688"/>
          <a:ext cx="11349037" cy="46840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006843">
                  <a:extLst>
                    <a:ext uri="{9D8B030D-6E8A-4147-A177-3AD203B41FA5}">
                      <a16:colId xmlns:a16="http://schemas.microsoft.com/office/drawing/2014/main" val="859849300"/>
                    </a:ext>
                  </a:extLst>
                </a:gridCol>
                <a:gridCol w="3366859">
                  <a:extLst>
                    <a:ext uri="{9D8B030D-6E8A-4147-A177-3AD203B41FA5}">
                      <a16:colId xmlns:a16="http://schemas.microsoft.com/office/drawing/2014/main" val="2451191080"/>
                    </a:ext>
                  </a:extLst>
                </a:gridCol>
                <a:gridCol w="3101169">
                  <a:extLst>
                    <a:ext uri="{9D8B030D-6E8A-4147-A177-3AD203B41FA5}">
                      <a16:colId xmlns:a16="http://schemas.microsoft.com/office/drawing/2014/main" val="1325007840"/>
                    </a:ext>
                  </a:extLst>
                </a:gridCol>
                <a:gridCol w="2874166">
                  <a:extLst>
                    <a:ext uri="{9D8B030D-6E8A-4147-A177-3AD203B41FA5}">
                      <a16:colId xmlns:a16="http://schemas.microsoft.com/office/drawing/2014/main" val="3437199956"/>
                    </a:ext>
                  </a:extLst>
                </a:gridCol>
              </a:tblGrid>
              <a:tr h="35439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Features</a:t>
                      </a:r>
                      <a:endParaRPr lang="en-US" sz="1600" dirty="0">
                        <a:solidFill>
                          <a:srgbClr val="A02B9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Traditional 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AI Generators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Extended Auto – Diagram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0797501"/>
                  </a:ext>
                </a:extLst>
              </a:tr>
              <a:tr h="64007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Input Source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Configs, PCAPs, manual 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PDF/Images/Prompts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600" dirty="0"/>
                        <a:t>PDF/PCAP/Prompts (hybrid)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5123179"/>
                  </a:ext>
                </a:extLst>
              </a:tr>
              <a:tr h="91439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Logic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Configs, manual decisions and Protocols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Unspecified LLM knowledge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LLM general knowledge + Fine tuning 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1402341"/>
                  </a:ext>
                </a:extLst>
              </a:tr>
              <a:tr h="126515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Security awareness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Depends on inserted protocols and configs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Not specifically networks aware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Specified data related to security and networks </a:t>
                      </a:r>
                    </a:p>
                    <a:p>
                      <a:pPr algn="ctr"/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7409292"/>
                  </a:ext>
                </a:extLst>
              </a:tr>
              <a:tr h="86988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Abstraction</a:t>
                      </a:r>
                    </a:p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Sometimes too technical, manual abstraction control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Visually polished graphs with static shapes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Controllable abstraction</a:t>
                      </a:r>
                      <a:r>
                        <a:rPr lang="en-US" sz="1600" dirty="0"/>
                        <a:t>, Conceptual related blocks </a:t>
                      </a:r>
                    </a:p>
                    <a:p>
                      <a:pPr algn="ctr"/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6716771"/>
                  </a:ext>
                </a:extLst>
              </a:tr>
              <a:tr h="64007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Evaluation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Quantitative/Qualitative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79273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38287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6980D-25E5-0FE5-BD0B-39C735D74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15FAD-CD78-127F-264C-62115D0F1D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2277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57B76-F414-31F5-B23D-FCC554A7E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79FD2-A3A9-9684-A966-4EB4C21F8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Meeting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766A3-E3DF-6B90-AAA0-F0ABA4D1F8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204" y="1931739"/>
            <a:ext cx="3503859" cy="201821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chemeClr val="accent5">
                    <a:lumMod val="50000"/>
                  </a:schemeClr>
                </a:solidFill>
              </a:rPr>
              <a:t>Fixing Loops</a:t>
            </a:r>
          </a:p>
          <a:p>
            <a:pPr marL="0" indent="0" algn="ctr">
              <a:buNone/>
            </a:pPr>
            <a:r>
              <a:rPr lang="en-US" sz="1900" dirty="0">
                <a:solidFill>
                  <a:schemeClr val="accent5">
                    <a:lumMod val="50000"/>
                  </a:schemeClr>
                </a:solidFill>
              </a:rPr>
              <a:t>Loops can only start at step I and end </a:t>
            </a:r>
            <a:r>
              <a:rPr lang="en-US" sz="1900">
                <a:solidFill>
                  <a:schemeClr val="accent5">
                    <a:lumMod val="50000"/>
                  </a:schemeClr>
                </a:solidFill>
              </a:rPr>
              <a:t>at step j </a:t>
            </a:r>
            <a:endParaRPr lang="en-US" sz="1900" dirty="0">
              <a:solidFill>
                <a:schemeClr val="accent5">
                  <a:lumMod val="50000"/>
                </a:schemeClr>
              </a:solidFill>
            </a:endParaRPr>
          </a:p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136CF5D-4F28-9400-BE00-FE47BE3C9D4C}"/>
              </a:ext>
            </a:extLst>
          </p:cNvPr>
          <p:cNvSpPr txBox="1">
            <a:spLocks/>
          </p:cNvSpPr>
          <p:nvPr/>
        </p:nvSpPr>
        <p:spPr>
          <a:xfrm>
            <a:off x="8416413" y="1904112"/>
            <a:ext cx="2937387" cy="17172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chemeClr val="accent5">
                    <a:lumMod val="50000"/>
                  </a:schemeClr>
                </a:solidFill>
              </a:rPr>
              <a:t>Qualitative</a:t>
            </a:r>
            <a:r>
              <a:rPr lang="en-US" sz="1800" b="1" dirty="0"/>
              <a:t> 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dirty="0"/>
              <a:t>Satisfying Density Ratio (Packets/Node)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dirty="0"/>
              <a:t>Clarity 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8990B50-BBCE-D5FA-0FD9-785DA47C98C5}"/>
              </a:ext>
            </a:extLst>
          </p:cNvPr>
          <p:cNvSpPr txBox="1">
            <a:spLocks/>
          </p:cNvSpPr>
          <p:nvPr/>
        </p:nvSpPr>
        <p:spPr>
          <a:xfrm>
            <a:off x="4627306" y="1927865"/>
            <a:ext cx="2937387" cy="24001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chemeClr val="accent5">
                    <a:lumMod val="50000"/>
                  </a:schemeClr>
                </a:solidFill>
              </a:rPr>
              <a:t>Researcher Review  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dirty="0"/>
              <a:t>Creating manual metrics and a poll for researchers to rank diagrams quality 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600" dirty="0"/>
              <a:t>Verifiability of diagrams 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5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7337033-D117-0364-58CA-6C4B5D27A59B}"/>
              </a:ext>
            </a:extLst>
          </p:cNvPr>
          <p:cNvGrpSpPr/>
          <p:nvPr/>
        </p:nvGrpSpPr>
        <p:grpSpPr>
          <a:xfrm>
            <a:off x="3046810" y="3784773"/>
            <a:ext cx="6322647" cy="2175933"/>
            <a:chOff x="3046810" y="3784773"/>
            <a:chExt cx="6322647" cy="2175933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BA4F987-E454-5699-4B17-F83196841AA2}"/>
                </a:ext>
              </a:extLst>
            </p:cNvPr>
            <p:cNvSpPr txBox="1"/>
            <p:nvPr/>
          </p:nvSpPr>
          <p:spPr>
            <a:xfrm>
              <a:off x="3046810" y="4293395"/>
              <a:ext cx="1853550" cy="1021556"/>
            </a:xfrm>
            <a:prstGeom prst="roundRect">
              <a:avLst/>
            </a:prstGeom>
            <a:noFill/>
            <a:ln w="57150">
              <a:solidFill>
                <a:schemeClr val="accent5">
                  <a:lumMod val="5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/>
                <a:t>Ground Truth</a:t>
              </a:r>
            </a:p>
            <a:p>
              <a:pPr algn="ctr"/>
              <a:r>
                <a:rPr lang="en-US" dirty="0"/>
                <a:t>12 protocol events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681849C-D193-3BF2-7564-B6D1079D505A}"/>
                </a:ext>
              </a:extLst>
            </p:cNvPr>
            <p:cNvCxnSpPr/>
            <p:nvPr/>
          </p:nvCxnSpPr>
          <p:spPr>
            <a:xfrm>
              <a:off x="5158538" y="4879421"/>
              <a:ext cx="2187615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D338FBF-1A16-D0F4-113C-ED44D68166B4}"/>
                </a:ext>
              </a:extLst>
            </p:cNvPr>
            <p:cNvSpPr txBox="1"/>
            <p:nvPr/>
          </p:nvSpPr>
          <p:spPr>
            <a:xfrm>
              <a:off x="5148736" y="4311525"/>
              <a:ext cx="218761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Diagram shows 10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A5DFC63-3399-8FA9-B9B3-217179466EE0}"/>
                </a:ext>
              </a:extLst>
            </p:cNvPr>
            <p:cNvSpPr txBox="1"/>
            <p:nvPr/>
          </p:nvSpPr>
          <p:spPr>
            <a:xfrm>
              <a:off x="5399038" y="4966522"/>
              <a:ext cx="168701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8 are correct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7EF0E4E0-3E5D-FD74-7FBE-A7E5D634B01D}"/>
                    </a:ext>
                  </a:extLst>
                </p:cNvPr>
                <p:cNvSpPr txBox="1"/>
                <p:nvPr/>
              </p:nvSpPr>
              <p:spPr>
                <a:xfrm>
                  <a:off x="7732147" y="4668428"/>
                  <a:ext cx="1623022" cy="535537"/>
                </a:xfrm>
                <a:prstGeom prst="roundRect">
                  <a:avLst/>
                </a:prstGeom>
                <a:noFill/>
                <a:ln w="57150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dirty="0"/>
                    <a:t>Recall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a14:m>
                  <a:endParaRPr lang="en-US" dirty="0"/>
                </a:p>
              </p:txBody>
            </p:sp>
          </mc:Choice>
          <mc:Fallback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7EF0E4E0-3E5D-FD74-7FBE-A7E5D634B0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32147" y="4668428"/>
                  <a:ext cx="1623022" cy="535537"/>
                </a:xfrm>
                <a:prstGeom prst="round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57150">
                  <a:solidFill>
                    <a:schemeClr val="accent5">
                      <a:lumMod val="60000"/>
                      <a:lumOff val="4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65910F2-6AB1-949C-438F-26101D5EE1AA}"/>
                </a:ext>
              </a:extLst>
            </p:cNvPr>
            <p:cNvSpPr txBox="1"/>
            <p:nvPr/>
          </p:nvSpPr>
          <p:spPr>
            <a:xfrm>
              <a:off x="7746435" y="5552083"/>
              <a:ext cx="1623022" cy="408623"/>
            </a:xfrm>
            <a:prstGeom prst="roundRect">
              <a:avLst/>
            </a:prstGeom>
            <a:solidFill>
              <a:schemeClr val="bg1"/>
            </a:solidFill>
            <a:ln w="57150">
              <a:solidFill>
                <a:srgbClr val="A02B93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F1 ≈ 0.73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CB78D37B-9450-71F2-745D-B92C263235E1}"/>
                    </a:ext>
                  </a:extLst>
                </p:cNvPr>
                <p:cNvSpPr txBox="1"/>
                <p:nvPr/>
              </p:nvSpPr>
              <p:spPr>
                <a:xfrm>
                  <a:off x="7732147" y="3784773"/>
                  <a:ext cx="1623022" cy="537452"/>
                </a:xfrm>
                <a:prstGeom prst="roundRect">
                  <a:avLst/>
                </a:prstGeom>
                <a:noFill/>
                <a:ln w="57150">
                  <a:solidFill>
                    <a:schemeClr val="accent5">
                      <a:lumMod val="20000"/>
                      <a:lumOff val="80000"/>
                    </a:schemeClr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>
                    <a:buNone/>
                  </a:pPr>
                  <a:r>
                    <a:rPr lang="en-US" dirty="0"/>
                    <a:t>Precision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a14:m>
                  <a:endParaRPr lang="en-US" dirty="0"/>
                </a:p>
              </p:txBody>
            </p:sp>
          </mc:Choice>
          <mc:Fallback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CB78D37B-9450-71F2-745D-B92C263235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32147" y="3784773"/>
                  <a:ext cx="1623022" cy="537452"/>
                </a:xfrm>
                <a:prstGeom prst="round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57150">
                  <a:solidFill>
                    <a:schemeClr val="accent5">
                      <a:lumMod val="20000"/>
                      <a:lumOff val="8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787967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2DC91-EBE6-221E-BAF8-F26BA7D5B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A02B93"/>
                </a:solidFill>
              </a:rPr>
              <a:t>Problems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44ED6-C043-850F-7AD9-5DC719CD7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full PCAP is choking the model, diagram is cut. Using </a:t>
            </a:r>
            <a:r>
              <a:rPr lang="en-US" dirty="0" err="1"/>
              <a:t>pcap</a:t>
            </a:r>
            <a:r>
              <a:rPr lang="en-US" dirty="0"/>
              <a:t> summaries instead.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11526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2CE17-4BD2-A226-A926-31FE5D4A63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4737" y="3003946"/>
            <a:ext cx="4962525" cy="850108"/>
          </a:xfrm>
        </p:spPr>
        <p:txBody>
          <a:bodyPr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A02B93"/>
                </a:solidFill>
              </a:rPr>
              <a:t>Until Next Time!</a:t>
            </a:r>
          </a:p>
        </p:txBody>
      </p:sp>
    </p:spTree>
    <p:extLst>
      <p:ext uri="{BB962C8B-B14F-4D97-AF65-F5344CB8AC3E}">
        <p14:creationId xmlns:p14="http://schemas.microsoft.com/office/powerpoint/2010/main" val="471450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13341</TotalTime>
  <Words>1547</Words>
  <Application>Microsoft Office PowerPoint</Application>
  <PresentationFormat>Widescreen</PresentationFormat>
  <Paragraphs>280</Paragraphs>
  <Slides>26</Slides>
  <Notes>12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Aptos</vt:lpstr>
      <vt:lpstr>Aptos Display</vt:lpstr>
      <vt:lpstr>Arial</vt:lpstr>
      <vt:lpstr>Cambria Math</vt:lpstr>
      <vt:lpstr>Office Theme</vt:lpstr>
      <vt:lpstr>Generating Attacks Auto-Diagrams</vt:lpstr>
      <vt:lpstr>Literature Review </vt:lpstr>
      <vt:lpstr>Network Visualization - Packet to Diagram  </vt:lpstr>
      <vt:lpstr>Network Visualization - Packet to Diagram  </vt:lpstr>
      <vt:lpstr>Network Visualization - Packet to Diagram  </vt:lpstr>
      <vt:lpstr>Network Visualization - Packet to Diagram </vt:lpstr>
      <vt:lpstr>Attack Trees and Attack Graphs</vt:lpstr>
      <vt:lpstr>Attack Trees and Attack Graphs</vt:lpstr>
      <vt:lpstr>Attack Trees and Attack Graphs</vt:lpstr>
      <vt:lpstr>Attack Trees and Attack Graphs</vt:lpstr>
      <vt:lpstr>LLM + Diagram Generation</vt:lpstr>
      <vt:lpstr>LLM + Diagram Generation</vt:lpstr>
      <vt:lpstr>LLM + Diagram Generation</vt:lpstr>
      <vt:lpstr>RFSeek and Ye shall Find</vt:lpstr>
      <vt:lpstr>Current Project Advantages and Abilities</vt:lpstr>
      <vt:lpstr>Motivation for Extension and Suggestions</vt:lpstr>
      <vt:lpstr>Data Specifications </vt:lpstr>
      <vt:lpstr>Grounding to Evidence</vt:lpstr>
      <vt:lpstr>Controllable Abstraction</vt:lpstr>
      <vt:lpstr>Results Evaluation</vt:lpstr>
      <vt:lpstr>Performance Optimization </vt:lpstr>
      <vt:lpstr>Technology Comparison </vt:lpstr>
      <vt:lpstr>PowerPoint Presentation</vt:lpstr>
      <vt:lpstr>Meeting 4</vt:lpstr>
      <vt:lpstr>Problems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 gabbay</dc:creator>
  <cp:lastModifiedBy>Shachar Gabbay</cp:lastModifiedBy>
  <cp:revision>22</cp:revision>
  <dcterms:created xsi:type="dcterms:W3CDTF">2025-12-23T14:25:11Z</dcterms:created>
  <dcterms:modified xsi:type="dcterms:W3CDTF">2026-03-05T13:51:56Z</dcterms:modified>
</cp:coreProperties>
</file>