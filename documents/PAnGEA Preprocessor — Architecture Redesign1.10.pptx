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6"/>
  </p:notesMasterIdLst>
  <p:sldIdLst>
    <p:sldId id="256" r:id="rId3"/>
    <p:sldId id="276" r:id="rId4"/>
    <p:sldId id="285" r:id="rId5"/>
    <p:sldId id="281" r:id="rId6"/>
    <p:sldId id="260" r:id="rId7"/>
    <p:sldId id="293" r:id="rId8"/>
    <p:sldId id="295" r:id="rId9"/>
    <p:sldId id="263" r:id="rId10"/>
    <p:sldId id="300" r:id="rId11"/>
    <p:sldId id="301" r:id="rId12"/>
    <p:sldId id="298" r:id="rId13"/>
    <p:sldId id="299" r:id="rId14"/>
    <p:sldId id="29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392B"/>
    <a:srgbClr val="00897B"/>
    <a:srgbClr val="96D0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7" autoAdjust="0"/>
    <p:restoredTop sz="94118" autoAdjust="0"/>
  </p:normalViewPr>
  <p:slideViewPr>
    <p:cSldViewPr snapToGrid="0" snapToObjects="1">
      <p:cViewPr varScale="1">
        <p:scale>
          <a:sx n="77" d="100"/>
          <a:sy n="77" d="100"/>
        </p:scale>
        <p:origin x="883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6016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LLM's job changed from "write a BPF filter" to "classify this description into known categories". That's a task LLMs do reliably. The output is validated against an enum — any unknown value is silently dropped rather than causing a malformed filter.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B6A63-E419-7B49-90BF-538336F15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3BA11D-A89D-86D7-339E-8D1FD81FF5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40C168-0315-55AB-0005-35535C3D8E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state_sig</a:t>
            </a:r>
            <a:r>
              <a:rPr lang="en-US" dirty="0"/>
              <a:t> — protocol-specific structural state: TCP state machine output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"SYN"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"SYN-ACK"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"ACK_HANDSHAKE"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"DATA"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"FIN"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"RST"</a:t>
            </a:r>
            <a:r>
              <a:rPr lang="en-US" dirty="0"/>
              <a:t>), or for other protocols a composite like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"ICMP:8:0"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"ARP:2:aa:bb:cc"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63A66B-8019-E8BC-BB8B-69D904CA7B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4179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8D165-D6D2-7B09-B25A-74E9A614A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D70BAF-9853-4B71-03F5-6A944C441E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46095-D4E4-2FDE-11AD-ECAC2FA437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state_sig</a:t>
            </a:r>
            <a:r>
              <a:rPr lang="en-US" dirty="0"/>
              <a:t> — protocol-specific structural state: TCP state machine output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"SYN"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"SYN-ACK"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"ACK_HANDSHAKE"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"DATA"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"FIN"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"RST"</a:t>
            </a:r>
            <a:r>
              <a:rPr lang="en-US" dirty="0"/>
              <a:t>), or for other protocols a composite like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"ICMP:8:0"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"ARP:2:aa:bb:cc"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CBAF88-0E00-A8B3-C58E-BB0FB2F6EE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4003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IDF (inverse document frequency) = in a normal corpus this </a:t>
            </a:r>
            <a:r>
              <a:rPr lang="en-US" dirty="0" err="1"/>
              <a:t>penalises</a:t>
            </a:r>
            <a:r>
              <a:rPr lang="en-US" dirty="0"/>
              <a:t> </a:t>
            </a:r>
            <a:r>
              <a:rPr lang="en-US" i="1" dirty="0"/>
              <a:t>common</a:t>
            </a:r>
            <a:r>
              <a:rPr lang="en-US" dirty="0"/>
              <a:t> words ("the", "and"). In our single-</a:t>
            </a:r>
            <a:r>
              <a:rPr lang="en-US" dirty="0" err="1"/>
              <a:t>pcap</a:t>
            </a:r>
            <a:r>
              <a:rPr lang="en-US" dirty="0"/>
              <a:t> context we only have one document, so IDF is computed as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number_of_clusters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en-US" dirty="0"/>
              <a:t> — it's a constant that scales the score but doesn't differentiate between clusters the way it would in a multi-document corpus.</a:t>
            </a:r>
          </a:p>
          <a:p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Z score problem - </a:t>
            </a:r>
            <a:r>
              <a:rPr lang="en-US" b="1" dirty="0"/>
              <a:t>The limitation here</a:t>
            </a:r>
            <a:r>
              <a:rPr lang="en-US" dirty="0"/>
              <a:t> is the same one we discussed earlier: if the </a:t>
            </a:r>
            <a:r>
              <a:rPr lang="en-US" dirty="0" err="1"/>
              <a:t>pcap</a:t>
            </a:r>
            <a:r>
              <a:rPr lang="en-US" dirty="0"/>
              <a:t> is entirely a SYN flood with no normal traffic, all TCP clusters look similar and nothing scores anomalous. The baseline is always relative to </a:t>
            </a:r>
            <a:r>
              <a:rPr lang="en-US" i="1" dirty="0"/>
              <a:t>this</a:t>
            </a:r>
            <a:r>
              <a:rPr lang="en-US" dirty="0"/>
              <a:t> </a:t>
            </a:r>
            <a:r>
              <a:rPr lang="en-US" dirty="0" err="1"/>
              <a:t>pcap</a:t>
            </a:r>
            <a:r>
              <a:rPr lang="en-US" dirty="0"/>
              <a:t>, not to some external "normal traffic" reference.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F06E8-EB79-1393-EB96-97622118F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09962D-1805-C754-5CA9-FA718ED383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03B94-8BA0-2EC9-FC85-9CD9980D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9358-237B-4568-8180-ADE49A50C7BA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0B09A-5044-2F70-4EE8-269AD4163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F2537-26C1-3B0C-3FA3-BE6ACEEBD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6248F-F1DC-433B-801F-E2604B068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510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8EEA4-E1FE-3F04-7194-620DCF7A4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41D47-6A9F-8922-9141-EBB135AF3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CF579-CDC8-ED72-961E-6A497D5A1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9358-237B-4568-8180-ADE49A50C7BA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55858-1CF7-114B-2B54-98A46B835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BC27D-E8CD-8644-1104-EAB750962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6248F-F1DC-433B-801F-E2604B068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086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CC19C-CD47-2ABE-972E-1B4FCFA67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9B82B7-472C-2348-22CB-F3A05C573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27EB6-4E4E-10CE-3D31-DCA3E446A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9358-237B-4568-8180-ADE49A50C7BA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4B6F1-89D0-5087-10A3-30D2F52B7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EAE5C-D726-FB7D-A213-EFEF4E01A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6248F-F1DC-433B-801F-E2604B068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85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BD311-8923-597A-3D17-850DA67B6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2A66F-937A-CCAB-2975-89EFB1E456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23074-C5C3-438C-AD67-695541170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474A84-01CB-061F-411A-33A5FBFA7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9358-237B-4568-8180-ADE49A50C7BA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75CB0-A8D6-ACB1-CBA1-41DDD2C53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2E4F00-E3CF-BD63-C4FE-2D303504A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6248F-F1DC-433B-801F-E2604B068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92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C3A0-61BA-508F-C129-2F8C8AEC8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992305-5C3A-3403-2044-89F869D1E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B60D44-4F80-AF56-1138-4F7088C156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937837-55E2-B2FB-A7D2-55898D4324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981957-A2D8-9640-DAAF-572676208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AEACB4-9069-ADB3-2F8D-87ED1A9BF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9358-237B-4568-8180-ADE49A50C7BA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AEAAD3-061F-AA81-18FC-5E7E91189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958415-CBA4-6D9B-3212-5DB485714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6248F-F1DC-433B-801F-E2604B068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94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54410-8EF7-05D9-4681-C1A0B8B29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05BF1A-8118-F6AE-7A38-5614FF5D4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9358-237B-4568-8180-ADE49A50C7BA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8C8441-69C9-79F2-1B1B-42771475C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BC0A1C-FE38-D32C-4291-F409EE051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6248F-F1DC-433B-801F-E2604B068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204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65AFCC-F767-C9D8-6B9B-25D530B16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9358-237B-4568-8180-ADE49A50C7BA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711A76-F089-C487-7E9C-3332652E3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00C5F-465B-2F0A-C4C1-0C6B88CD4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6248F-F1DC-433B-801F-E2604B068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819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BE50B-287D-A038-B393-7EB71929F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530DD-B9C5-4CB3-889C-12EDA509F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DC5ACB-6682-E4EA-20F7-45E3FFF41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698198-E76B-B7ED-BAD5-8B9467522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9358-237B-4568-8180-ADE49A50C7BA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91E5CA-4364-B332-B715-22951A6A3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8B1B98-0367-C6A6-E3FF-332BD013A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6248F-F1DC-433B-801F-E2604B068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41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2B1C1-08AF-F673-72B1-652AF505F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9ACA1-5CB2-A010-892C-DEE6138A5BC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26CECB-0C28-37CD-954C-95C0F9DAD9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1B6D85-40C4-ECD0-9C91-1C23F578C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9358-237B-4568-8180-ADE49A50C7BA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81C79-3EA6-23FA-F3C3-E4151368E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26C195-0772-81C9-2567-EB73C9F60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6248F-F1DC-433B-801F-E2604B068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997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1FEE3-655F-0A57-B548-20DDD0EA8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FD808D-01CC-D5EC-5DD4-FE38B16A70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A8C4B-2764-F289-EA54-C996B695F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9358-237B-4568-8180-ADE49A50C7BA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1DD61-3C9A-1F3F-B60E-F5A0B6D9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68E62-B6FD-4410-1836-44EE85521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6248F-F1DC-433B-801F-E2604B068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5200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693D4E-1197-3B82-9533-23F73B7B13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ECBE16-251C-5A50-98D4-0CE8EDF2F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90FE4-27DD-461D-432F-B10668F88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9358-237B-4568-8180-ADE49A50C7BA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7985B-D8F3-F4C8-331B-ABDDAFFEB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6122E-7E8E-305F-2759-2068A093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6248F-F1DC-433B-801F-E2604B068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492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C8A1D6-1475-E778-0210-29C9CB2DC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3D2610-78BB-C44A-ACD2-0CBFBF209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5AF15-B942-658F-D1E0-31D8AA4589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C09358-237B-4568-8180-ADE49A50C7BA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60055-C3C2-CD1E-AC19-3CB5AF86F2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393D1-10D8-D42A-73BA-E02D85DAB4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16248F-F1DC-433B-801F-E2604B068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664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12800" y="2522220"/>
            <a:ext cx="10883392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5600" b="1" dirty="0"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Architecture</a:t>
            </a:r>
            <a:r>
              <a:rPr lang="en-US" sz="5600" dirty="0"/>
              <a:t> </a:t>
            </a:r>
            <a:r>
              <a:rPr lang="en-US" sz="5600" b="1" dirty="0">
                <a:latin typeface="IBM Plex Mono" pitchFamily="34" charset="0"/>
              </a:rPr>
              <a:t>De</a:t>
            </a:r>
            <a:r>
              <a:rPr lang="en-US" sz="5600" b="1" dirty="0"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sign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BBBA0-234D-384B-2126-B9D57B2BA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17831-EC17-473A-3D5B-0DF83A840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IBM Plex Mono" panose="020B0509050203000203" pitchFamily="49" charset="0"/>
              </a:rPr>
              <a:t>Preprocessor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35FA9-D643-00FA-797B-0A9E3A1CC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759" y="1781396"/>
            <a:ext cx="10952124" cy="5020204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>
                <a:latin typeface="IBM Plex Mono" panose="020B0509050203000203" pitchFamily="49" charset="0"/>
              </a:rPr>
              <a:t>Previous Design:</a:t>
            </a:r>
          </a:p>
          <a:p>
            <a:pPr lvl="2"/>
            <a:r>
              <a:rPr lang="en-US" b="1" dirty="0">
                <a:latin typeface="IBM Plex Mono" panose="020B0509050203000203" pitchFamily="49" charset="0"/>
              </a:rPr>
              <a:t>Goal: </a:t>
            </a:r>
            <a:endParaRPr lang="en-US" dirty="0">
              <a:latin typeface="IBM Plex Mono" panose="020B0509050203000203" pitchFamily="49" charset="0"/>
            </a:endParaRPr>
          </a:p>
          <a:p>
            <a:pPr lvl="3"/>
            <a:r>
              <a:rPr lang="en-US" dirty="0">
                <a:latin typeface="IBM Plex Mono" panose="020B0509050203000203" pitchFamily="49" charset="0"/>
              </a:rPr>
              <a:t>Reduce the PCAP size so it will fit an LLM budget</a:t>
            </a:r>
          </a:p>
          <a:p>
            <a:pPr lvl="3"/>
            <a:r>
              <a:rPr lang="en-US" dirty="0">
                <a:latin typeface="IBM Plex Mono" panose="020B0509050203000203" pitchFamily="49" charset="0"/>
              </a:rPr>
              <a:t>Avoid feeding the pipeline with redundant packets</a:t>
            </a:r>
          </a:p>
          <a:p>
            <a:pPr lvl="2"/>
            <a:r>
              <a:rPr lang="en-US" b="1" dirty="0">
                <a:latin typeface="IBM Plex Mono" panose="020B0509050203000203" pitchFamily="49" charset="0"/>
              </a:rPr>
              <a:t>Filter:</a:t>
            </a:r>
          </a:p>
          <a:p>
            <a:pPr lvl="3"/>
            <a:r>
              <a:rPr lang="en-US" dirty="0">
                <a:latin typeface="IBM Plex Mono" panose="020B0509050203000203" pitchFamily="49" charset="0"/>
              </a:rPr>
              <a:t>Creates a BPF filter first using LLM</a:t>
            </a:r>
          </a:p>
          <a:p>
            <a:pPr lvl="3"/>
            <a:r>
              <a:rPr lang="en-US" dirty="0">
                <a:latin typeface="IBM Plex Mono" panose="020B0509050203000203" pitchFamily="49" charset="0"/>
              </a:rPr>
              <a:t>Sees only the Attack Description as input (Letting the LLM peek at </a:t>
            </a:r>
          </a:p>
          <a:p>
            <a:pPr marL="1371600" lvl="3" indent="0">
              <a:buNone/>
            </a:pPr>
            <a:r>
              <a:rPr lang="en-US" dirty="0">
                <a:latin typeface="IBM Plex Mono" panose="020B0509050203000203" pitchFamily="49" charset="0"/>
              </a:rPr>
              <a:t>  the PCAP would bias toward what the LLM expects to see).</a:t>
            </a:r>
          </a:p>
          <a:p>
            <a:pPr lvl="2"/>
            <a:r>
              <a:rPr lang="en-US" b="1" dirty="0">
                <a:latin typeface="IBM Plex Mono" panose="020B0509050203000203" pitchFamily="49" charset="0"/>
              </a:rPr>
              <a:t>Reducer:</a:t>
            </a:r>
          </a:p>
          <a:p>
            <a:pPr lvl="3"/>
            <a:r>
              <a:rPr lang="en-US" dirty="0">
                <a:latin typeface="IBM Plex Mono" panose="020B0509050203000203" pitchFamily="49" charset="0"/>
              </a:rPr>
              <a:t>Applies the filter on the PCAP</a:t>
            </a:r>
          </a:p>
          <a:p>
            <a:pPr lvl="3"/>
            <a:r>
              <a:rPr lang="en-US" dirty="0">
                <a:latin typeface="IBM Plex Mono" panose="020B0509050203000203" pitchFamily="49" charset="0"/>
              </a:rPr>
              <a:t>Create fingerprints structured based on:</a:t>
            </a:r>
          </a:p>
          <a:p>
            <a:pPr lvl="4"/>
            <a:r>
              <a:rPr lang="en-US" dirty="0">
                <a:latin typeface="IBM Plex Mono" panose="020B0509050203000203" pitchFamily="49" charset="0"/>
              </a:rPr>
              <a:t>Protocol (L2/L3/L4)</a:t>
            </a:r>
          </a:p>
          <a:p>
            <a:pPr lvl="4"/>
            <a:r>
              <a:rPr lang="en-US" dirty="0">
                <a:latin typeface="IBM Plex Mono" panose="020B0509050203000203" pitchFamily="49" charset="0"/>
              </a:rPr>
              <a:t>Unique signals/flags</a:t>
            </a:r>
          </a:p>
          <a:p>
            <a:pPr lvl="4"/>
            <a:r>
              <a:rPr lang="en-US" dirty="0">
                <a:latin typeface="IBM Plex Mono" panose="020B0509050203000203" pitchFamily="49" charset="0"/>
              </a:rPr>
              <a:t>DST ports and </a:t>
            </a:r>
            <a:r>
              <a:rPr lang="en-US" dirty="0" err="1">
                <a:latin typeface="IBM Plex Mono" panose="020B0509050203000203" pitchFamily="49" charset="0"/>
              </a:rPr>
              <a:t>ips</a:t>
            </a:r>
            <a:endParaRPr lang="en-US" dirty="0">
              <a:latin typeface="IBM Plex Mono" panose="020B0509050203000203" pitchFamily="49" charset="0"/>
            </a:endParaRPr>
          </a:p>
          <a:p>
            <a:pPr lvl="3"/>
            <a:r>
              <a:rPr lang="en-US" dirty="0">
                <a:latin typeface="IBM Plex Mono" panose="020B0509050203000203" pitchFamily="49" charset="0"/>
              </a:rPr>
              <a:t>If the number of packets with same fingerprint is more than N:</a:t>
            </a:r>
          </a:p>
          <a:p>
            <a:pPr lvl="4"/>
            <a:r>
              <a:rPr lang="en-US" dirty="0">
                <a:latin typeface="IBM Plex Mono" panose="020B0509050203000203" pitchFamily="49" charset="0"/>
              </a:rPr>
              <a:t>Keep N representative packets</a:t>
            </a:r>
          </a:p>
          <a:p>
            <a:pPr lvl="4"/>
            <a:r>
              <a:rPr lang="en-US" dirty="0">
                <a:latin typeface="IBM Plex Mono" panose="020B0509050203000203" pitchFamily="49" charset="0"/>
              </a:rPr>
              <a:t>Fold the rest into aggregate stats</a:t>
            </a:r>
          </a:p>
          <a:p>
            <a:pPr lvl="4"/>
            <a:r>
              <a:rPr lang="en-US" dirty="0">
                <a:latin typeface="IBM Plex Mono" panose="020B0509050203000203" pitchFamily="49" charset="0"/>
              </a:rPr>
              <a:t>Keep unique SRCs and DSTs</a:t>
            </a:r>
          </a:p>
          <a:p>
            <a:pPr lvl="2"/>
            <a:r>
              <a:rPr lang="en-US" b="1" dirty="0">
                <a:latin typeface="IBM Plex Mono" panose="020B0509050203000203" pitchFamily="49" charset="0"/>
              </a:rPr>
              <a:t>Output:</a:t>
            </a:r>
            <a:r>
              <a:rPr lang="en-US" dirty="0">
                <a:latin typeface="IBM Plex Mono" panose="020B0509050203000203" pitchFamily="49" charset="0"/>
              </a:rPr>
              <a:t> </a:t>
            </a:r>
          </a:p>
          <a:p>
            <a:pPr lvl="3"/>
            <a:r>
              <a:rPr lang="en-US" dirty="0" err="1">
                <a:latin typeface="IBM Plex Mono" panose="020B0509050203000203" pitchFamily="49" charset="0"/>
              </a:rPr>
              <a:t>Reduced_representation</a:t>
            </a:r>
            <a:r>
              <a:rPr lang="en-US" dirty="0">
                <a:latin typeface="IBM Plex Mono" panose="020B0509050203000203" pitchFamily="49" charset="0"/>
              </a:rPr>
              <a:t>, </a:t>
            </a:r>
          </a:p>
          <a:p>
            <a:pPr lvl="3"/>
            <a:r>
              <a:rPr lang="en-US" dirty="0">
                <a:latin typeface="IBM Plex Mono" panose="020B0509050203000203" pitchFamily="49" charset="0"/>
              </a:rPr>
              <a:t>Stats: </a:t>
            </a:r>
            <a:r>
              <a:rPr lang="en-US" dirty="0" err="1">
                <a:latin typeface="IBM Plex Mono" panose="020B0509050203000203" pitchFamily="49" charset="0"/>
              </a:rPr>
              <a:t>Compression_stats</a:t>
            </a:r>
            <a:r>
              <a:rPr lang="en-US" dirty="0">
                <a:latin typeface="IBM Plex Mono" panose="020B0509050203000203" pitchFamily="49" charset="0"/>
              </a:rPr>
              <a:t>, </a:t>
            </a:r>
            <a:r>
              <a:rPr lang="en-US" dirty="0" err="1">
                <a:latin typeface="IBM Plex Mono" panose="020B0509050203000203" pitchFamily="49" charset="0"/>
              </a:rPr>
              <a:t>Budget_status</a:t>
            </a:r>
            <a:r>
              <a:rPr lang="en-US" dirty="0">
                <a:latin typeface="IBM Plex Mono" panose="020B0509050203000203" pitchFamily="49" charset="0"/>
              </a:rPr>
              <a:t>, </a:t>
            </a:r>
            <a:r>
              <a:rPr lang="en-US" dirty="0" err="1">
                <a:latin typeface="IBM Plex Mono" panose="020B0509050203000203" pitchFamily="49" charset="0"/>
              </a:rPr>
              <a:t>Dropped_parse_failures_count</a:t>
            </a:r>
            <a:r>
              <a:rPr lang="en-US" dirty="0">
                <a:latin typeface="IBM Plex Mono" panose="020B0509050203000203" pitchFamily="49" charset="0"/>
              </a:rPr>
              <a:t>, </a:t>
            </a:r>
            <a:r>
              <a:rPr lang="en-US" dirty="0" err="1">
                <a:latin typeface="IBM Plex Mono" panose="020B0509050203000203" pitchFamily="49" charset="0"/>
              </a:rPr>
              <a:t>Fingerprint_index</a:t>
            </a:r>
            <a:endParaRPr lang="en-US" dirty="0">
              <a:latin typeface="IBM Plex Mono" panose="020B0509050203000203" pitchFamily="49" charset="0"/>
            </a:endParaRPr>
          </a:p>
          <a:p>
            <a:pPr lvl="3"/>
            <a:endParaRPr lang="en-US" dirty="0">
              <a:latin typeface="IBM Plex Mono" panose="020B0509050203000203" pitchFamily="49" charset="0"/>
            </a:endParaRPr>
          </a:p>
          <a:p>
            <a:pPr lvl="3"/>
            <a:endParaRPr lang="en-US" dirty="0">
              <a:latin typeface="IBM Plex Mono" panose="020B0509050203000203" pitchFamily="49" charset="0"/>
            </a:endParaRPr>
          </a:p>
          <a:p>
            <a:pPr lvl="3"/>
            <a:endParaRPr lang="en-US" dirty="0">
              <a:latin typeface="IBM Plex Mono" panose="020B0509050203000203" pitchFamily="49" charset="0"/>
            </a:endParaRPr>
          </a:p>
          <a:p>
            <a:pPr lvl="4"/>
            <a:endParaRPr lang="en-US" dirty="0">
              <a:latin typeface="IBM Plex Mono" panose="020B0509050203000203" pitchFamily="49" charset="0"/>
            </a:endParaRPr>
          </a:p>
          <a:p>
            <a:pPr lvl="4"/>
            <a:endParaRPr lang="he-IL" dirty="0">
              <a:latin typeface="IBM Plex Mono" panose="020B0509050203000203" pitchFamily="49" charset="0"/>
            </a:endParaRPr>
          </a:p>
          <a:p>
            <a:pPr marL="1828800" lvl="4" indent="0">
              <a:buNone/>
            </a:pPr>
            <a:endParaRPr lang="en-US" dirty="0">
              <a:latin typeface="IBM Plex Mono" panose="020B0509050203000203" pitchFamily="49" charset="0"/>
            </a:endParaRPr>
          </a:p>
          <a:p>
            <a:pPr lvl="3"/>
            <a:endParaRPr lang="en-US" dirty="0">
              <a:latin typeface="IBM Plex Mono" panose="020B0509050203000203" pitchFamily="49" charset="0"/>
            </a:endParaRPr>
          </a:p>
          <a:p>
            <a:pPr lvl="4"/>
            <a:endParaRPr lang="en-US" dirty="0">
              <a:latin typeface="IBM Plex Mono" panose="020B0509050203000203" pitchFamily="49" charset="0"/>
            </a:endParaRPr>
          </a:p>
          <a:p>
            <a:pPr lvl="4"/>
            <a:endParaRPr lang="en-US" dirty="0">
              <a:latin typeface="IBM Plex Mono" panose="020B0509050203000203" pitchFamily="49" charset="0"/>
            </a:endParaRPr>
          </a:p>
          <a:p>
            <a:pPr lvl="4"/>
            <a:endParaRPr lang="en-US" dirty="0">
              <a:latin typeface="IBM Plex Mono" panose="020B0509050203000203" pitchFamily="49" charset="0"/>
            </a:endParaRPr>
          </a:p>
          <a:p>
            <a:pPr lvl="3"/>
            <a:endParaRPr lang="en-US" dirty="0">
              <a:latin typeface="IBM Plex Mono" panose="020B0509050203000203" pitchFamily="49" charset="0"/>
            </a:endParaRPr>
          </a:p>
          <a:p>
            <a:pPr lvl="3"/>
            <a:endParaRPr lang="en-US" dirty="0">
              <a:latin typeface="IBM Plex Mono" panose="020B0509050203000203" pitchFamily="49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152BDB3-1BD2-0F31-6A7F-9F761CC8086D}"/>
              </a:ext>
            </a:extLst>
          </p:cNvPr>
          <p:cNvSpPr/>
          <p:nvPr/>
        </p:nvSpPr>
        <p:spPr>
          <a:xfrm>
            <a:off x="9312955" y="233611"/>
            <a:ext cx="2655699" cy="997212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IBM Plex Mono" panose="020B0509050203000203" pitchFamily="49" charset="0"/>
              </a:rPr>
              <a:t>Filter</a:t>
            </a:r>
          </a:p>
          <a:p>
            <a:pPr lvl="0" algn="ctr">
              <a:defRPr/>
            </a:pPr>
            <a:r>
              <a:rPr lang="fr-FR" dirty="0" err="1">
                <a:solidFill>
                  <a:schemeClr val="tx1"/>
                </a:solidFill>
                <a:latin typeface="IBM Plex Mono" panose="020B0509050203000203" pitchFamily="49" charset="0"/>
              </a:rPr>
              <a:t>tcp</a:t>
            </a:r>
            <a:r>
              <a:rPr lang="fr-FR" dirty="0">
                <a:solidFill>
                  <a:schemeClr val="tx1"/>
                </a:solidFill>
                <a:latin typeface="IBM Plex Mono" panose="020B0509050203000203" pitchFamily="49" charset="0"/>
              </a:rPr>
              <a:t> port 80 or </a:t>
            </a:r>
            <a:r>
              <a:rPr lang="fr-FR" dirty="0" err="1">
                <a:solidFill>
                  <a:schemeClr val="tx1"/>
                </a:solidFill>
                <a:latin typeface="IBM Plex Mono" panose="020B0509050203000203" pitchFamily="49" charset="0"/>
              </a:rPr>
              <a:t>tcp</a:t>
            </a:r>
            <a:r>
              <a:rPr lang="fr-FR" dirty="0">
                <a:solidFill>
                  <a:schemeClr val="tx1"/>
                </a:solidFill>
                <a:latin typeface="IBM Plex Mono" panose="020B0509050203000203" pitchFamily="49" charset="0"/>
              </a:rPr>
              <a:t> port 443</a:t>
            </a: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IBM Plex Mono" panose="020B0509050203000203" pitchFamily="49" charset="0"/>
            </a:endParaRPr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4A49E1D1-7DF2-57E4-F8AA-C851154A31BA}"/>
              </a:ext>
            </a:extLst>
          </p:cNvPr>
          <p:cNvSpPr/>
          <p:nvPr/>
        </p:nvSpPr>
        <p:spPr>
          <a:xfrm>
            <a:off x="7536002" y="399467"/>
            <a:ext cx="1508203" cy="651284"/>
          </a:xfrm>
          <a:prstGeom prst="roundRect">
            <a:avLst>
              <a:gd name="adj" fmla="val 8427"/>
            </a:avLst>
          </a:prstGeom>
          <a:solidFill>
            <a:srgbClr val="1A24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F78C8F85-F284-0CFB-4671-28605E71D02D}"/>
              </a:ext>
            </a:extLst>
          </p:cNvPr>
          <p:cNvSpPr/>
          <p:nvPr/>
        </p:nvSpPr>
        <p:spPr>
          <a:xfrm>
            <a:off x="7696935" y="496853"/>
            <a:ext cx="1186341" cy="376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1960"/>
              </a:lnSpc>
            </a:pPr>
            <a:r>
              <a:rPr lang="en-US" sz="1400" b="1" dirty="0">
                <a:solidFill>
                  <a:srgbClr val="E8ED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SYN flood attack</a:t>
            </a:r>
            <a:endParaRPr lang="en-US" sz="14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2D89A1-E873-2E64-A9B4-1490F1EB7B20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>
            <a:off x="9044205" y="725109"/>
            <a:ext cx="268750" cy="710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7E0CD67-7147-8AA1-B3FF-4659E33FF90B}"/>
              </a:ext>
            </a:extLst>
          </p:cNvPr>
          <p:cNvCxnSpPr>
            <a:cxnSpLocks/>
          </p:cNvCxnSpPr>
          <p:nvPr/>
        </p:nvCxnSpPr>
        <p:spPr>
          <a:xfrm>
            <a:off x="10640805" y="1230822"/>
            <a:ext cx="0" cy="23702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275B91-9A99-8ADD-0975-517C465108B4}"/>
              </a:ext>
            </a:extLst>
          </p:cNvPr>
          <p:cNvGrpSpPr/>
          <p:nvPr/>
        </p:nvGrpSpPr>
        <p:grpSpPr>
          <a:xfrm>
            <a:off x="8086541" y="1639389"/>
            <a:ext cx="3622350" cy="1562079"/>
            <a:chOff x="7836457" y="663550"/>
            <a:chExt cx="6671667" cy="2237998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049F7AC-01C2-3B86-4CA5-B8907BBC784B}"/>
                </a:ext>
              </a:extLst>
            </p:cNvPr>
            <p:cNvGrpSpPr/>
            <p:nvPr/>
          </p:nvGrpSpPr>
          <p:grpSpPr>
            <a:xfrm>
              <a:off x="7836457" y="663550"/>
              <a:ext cx="6671667" cy="2237998"/>
              <a:chOff x="812800" y="1875495"/>
              <a:chExt cx="6455808" cy="2175644"/>
            </a:xfrm>
          </p:grpSpPr>
          <p:sp>
            <p:nvSpPr>
              <p:cNvPr id="28" name="Shape 1">
                <a:extLst>
                  <a:ext uri="{FF2B5EF4-FFF2-40B4-BE49-F238E27FC236}">
                    <a16:creationId xmlns:a16="http://schemas.microsoft.com/office/drawing/2014/main" id="{49521949-B26C-43E7-1DEF-C0D94CB2CF40}"/>
                  </a:ext>
                </a:extLst>
              </p:cNvPr>
              <p:cNvSpPr/>
              <p:nvPr/>
            </p:nvSpPr>
            <p:spPr>
              <a:xfrm>
                <a:off x="812800" y="1875495"/>
                <a:ext cx="1681480" cy="904240"/>
              </a:xfrm>
              <a:prstGeom prst="roundRect">
                <a:avLst>
                  <a:gd name="adj" fmla="val 8427"/>
                </a:avLst>
              </a:prstGeom>
              <a:solidFill>
                <a:srgbClr val="1A2433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 2">
                <a:extLst>
                  <a:ext uri="{FF2B5EF4-FFF2-40B4-BE49-F238E27FC236}">
                    <a16:creationId xmlns:a16="http://schemas.microsoft.com/office/drawing/2014/main" id="{57C51C84-57CA-BF33-65FD-01C3D85427B9}"/>
                  </a:ext>
                </a:extLst>
              </p:cNvPr>
              <p:cNvSpPr/>
              <p:nvPr/>
            </p:nvSpPr>
            <p:spPr>
              <a:xfrm>
                <a:off x="1041400" y="2119455"/>
                <a:ext cx="1224280" cy="52323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ctr">
                  <a:lnSpc>
                    <a:spcPts val="1960"/>
                  </a:lnSpc>
                  <a:buNone/>
                </a:pPr>
                <a:r>
                  <a:rPr lang="en-US" sz="1400" b="1" dirty="0">
                    <a:solidFill>
                      <a:srgbClr val="E8EDF2"/>
                    </a:solidFill>
                    <a:latin typeface="IBM Plex Mono" pitchFamily="34" charset="0"/>
                    <a:ea typeface="IBM Plex Mono" pitchFamily="34" charset="-122"/>
                    <a:cs typeface="IBM Plex Mono" pitchFamily="34" charset="-120"/>
                  </a:rPr>
                  <a:t>PCAP</a:t>
                </a:r>
                <a:endParaRPr lang="en-US" sz="1400" dirty="0"/>
              </a:p>
            </p:txBody>
          </p:sp>
          <p:sp>
            <p:nvSpPr>
              <p:cNvPr id="30" name="Shape 1">
                <a:extLst>
                  <a:ext uri="{FF2B5EF4-FFF2-40B4-BE49-F238E27FC236}">
                    <a16:creationId xmlns:a16="http://schemas.microsoft.com/office/drawing/2014/main" id="{C246EDC4-994B-2633-6F02-4F265967267A}"/>
                  </a:ext>
                </a:extLst>
              </p:cNvPr>
              <p:cNvSpPr/>
              <p:nvPr/>
            </p:nvSpPr>
            <p:spPr>
              <a:xfrm>
                <a:off x="3303990" y="3298588"/>
                <a:ext cx="1719595" cy="746362"/>
              </a:xfrm>
              <a:prstGeom prst="roundRect">
                <a:avLst>
                  <a:gd name="adj" fmla="val 8427"/>
                </a:avLst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algn="ctr"/>
                <a:r>
                  <a:rPr lang="en-US" sz="1400" dirty="0">
                    <a:latin typeface="IBM Plex Mono" panose="020B0509050203000203" pitchFamily="49" charset="0"/>
                  </a:rPr>
                  <a:t>Reduced PCAP</a:t>
                </a:r>
              </a:p>
            </p:txBody>
          </p:sp>
          <p:sp>
            <p:nvSpPr>
              <p:cNvPr id="33" name="Shape 1">
                <a:extLst>
                  <a:ext uri="{FF2B5EF4-FFF2-40B4-BE49-F238E27FC236}">
                    <a16:creationId xmlns:a16="http://schemas.microsoft.com/office/drawing/2014/main" id="{18383B83-8A24-5A06-1A5C-0AEF92AB6DA3}"/>
                  </a:ext>
                </a:extLst>
              </p:cNvPr>
              <p:cNvSpPr/>
              <p:nvPr/>
            </p:nvSpPr>
            <p:spPr>
              <a:xfrm>
                <a:off x="5549013" y="3304777"/>
                <a:ext cx="1719595" cy="746362"/>
              </a:xfrm>
              <a:prstGeom prst="roundRect">
                <a:avLst>
                  <a:gd name="adj" fmla="val 8427"/>
                </a:avLst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algn="ctr"/>
                <a:r>
                  <a:rPr lang="en-US" sz="1400" dirty="0">
                    <a:latin typeface="IBM Plex Mono" panose="020B0509050203000203" pitchFamily="49" charset="0"/>
                  </a:rPr>
                  <a:t>Stats</a:t>
                </a:r>
              </a:p>
            </p:txBody>
          </p:sp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9E6C2E0-2486-9525-693E-CC9594FDA4CE}"/>
                </a:ext>
              </a:extLst>
            </p:cNvPr>
            <p:cNvCxnSpPr>
              <a:cxnSpLocks/>
              <a:stCxn id="28" idx="3"/>
              <a:endCxn id="36" idx="1"/>
            </p:cNvCxnSpPr>
            <p:nvPr/>
          </p:nvCxnSpPr>
          <p:spPr>
            <a:xfrm flipV="1">
              <a:off x="9574160" y="1123972"/>
              <a:ext cx="558910" cy="4656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427BE6F-9E02-CDAE-F3F0-5207A4332B6F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>
              <a:off x="11299491" y="1820589"/>
              <a:ext cx="0" cy="30684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E0E38E6-E6D6-7367-34D9-48CD0B08AA6D}"/>
                </a:ext>
              </a:extLst>
            </p:cNvPr>
            <p:cNvCxnSpPr>
              <a:cxnSpLocks/>
              <a:endCxn id="33" idx="0"/>
            </p:cNvCxnSpPr>
            <p:nvPr/>
          </p:nvCxnSpPr>
          <p:spPr>
            <a:xfrm>
              <a:off x="13619579" y="1826956"/>
              <a:ext cx="0" cy="30684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525A5C7-B654-728B-386D-D408CBDBFA53}"/>
              </a:ext>
            </a:extLst>
          </p:cNvPr>
          <p:cNvSpPr/>
          <p:nvPr/>
        </p:nvSpPr>
        <p:spPr>
          <a:xfrm>
            <a:off x="9333476" y="1462148"/>
            <a:ext cx="2655699" cy="997212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IBM Plex Mono" panose="020B0509050203000203" pitchFamily="49" charset="0"/>
              </a:rPr>
              <a:t>Reducer</a:t>
            </a:r>
          </a:p>
          <a:p>
            <a:pPr lvl="0" algn="ctr">
              <a:defRPr/>
            </a:pPr>
            <a:r>
              <a:rPr lang="en-US" dirty="0">
                <a:solidFill>
                  <a:schemeClr val="tx1"/>
                </a:solidFill>
              </a:rPr>
              <a:t>["TCP", ["0x0002", "80"]]</a:t>
            </a:r>
          </a:p>
          <a:p>
            <a:pPr lvl="0" algn="ctr">
              <a:defRPr/>
            </a:pPr>
            <a:r>
              <a:rPr lang="en-US" dirty="0">
                <a:solidFill>
                  <a:schemeClr val="tx1"/>
                </a:solidFill>
              </a:rPr>
              <a:t>["TCP", ["0x0012", "80"]]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IBM Plex Mono" panose="020B0509050203000203" pitchFamily="49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63E89F3D-F3F2-7293-151D-41895411C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0547" y="3695390"/>
            <a:ext cx="2941556" cy="1700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149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9E072-DA7B-B3C0-47C7-3D9C2518B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6EA4B-F71A-BC61-118A-9B413BCAC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IBM Plex Mono" panose="020B0509050203000203" pitchFamily="49" charset="0"/>
              </a:rPr>
              <a:t>Preprocessor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3E578-D322-87D2-83F5-C2AE335FA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759" y="1781396"/>
            <a:ext cx="10952124" cy="5020204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>
                <a:latin typeface="IBM Plex Mono" panose="020B0509050203000203" pitchFamily="49" charset="0"/>
              </a:rPr>
              <a:t>Previous Design:</a:t>
            </a:r>
          </a:p>
          <a:p>
            <a:pPr lvl="2"/>
            <a:r>
              <a:rPr lang="en-US" b="1" dirty="0">
                <a:latin typeface="IBM Plex Mono" panose="020B0509050203000203" pitchFamily="49" charset="0"/>
              </a:rPr>
              <a:t>Goal: </a:t>
            </a:r>
            <a:endParaRPr lang="en-US" dirty="0">
              <a:latin typeface="IBM Plex Mono" panose="020B0509050203000203" pitchFamily="49" charset="0"/>
            </a:endParaRPr>
          </a:p>
          <a:p>
            <a:pPr lvl="3"/>
            <a:r>
              <a:rPr lang="en-US" dirty="0">
                <a:latin typeface="IBM Plex Mono" panose="020B0509050203000203" pitchFamily="49" charset="0"/>
              </a:rPr>
              <a:t>Reduce the PCAP size so it will fit an LLM budget</a:t>
            </a:r>
          </a:p>
          <a:p>
            <a:pPr lvl="3"/>
            <a:r>
              <a:rPr lang="en-US" dirty="0">
                <a:latin typeface="IBM Plex Mono" panose="020B0509050203000203" pitchFamily="49" charset="0"/>
              </a:rPr>
              <a:t>Avoid feeding the pipeline with redundant packets</a:t>
            </a:r>
          </a:p>
          <a:p>
            <a:pPr lvl="2"/>
            <a:r>
              <a:rPr lang="en-US" b="1" dirty="0">
                <a:latin typeface="IBM Plex Mono" panose="020B0509050203000203" pitchFamily="49" charset="0"/>
              </a:rPr>
              <a:t>Filter:</a:t>
            </a:r>
          </a:p>
          <a:p>
            <a:pPr lvl="3"/>
            <a:r>
              <a:rPr lang="en-US" dirty="0">
                <a:latin typeface="IBM Plex Mono" panose="020B0509050203000203" pitchFamily="49" charset="0"/>
              </a:rPr>
              <a:t>Creates a BPF filter first using LLM</a:t>
            </a:r>
          </a:p>
          <a:p>
            <a:pPr lvl="3"/>
            <a:r>
              <a:rPr lang="en-US" dirty="0">
                <a:latin typeface="IBM Plex Mono" panose="020B0509050203000203" pitchFamily="49" charset="0"/>
              </a:rPr>
              <a:t>Sees only the Attack Description as input (Letting the LLM peek at </a:t>
            </a:r>
          </a:p>
          <a:p>
            <a:pPr marL="1371600" lvl="3" indent="0">
              <a:buNone/>
            </a:pPr>
            <a:r>
              <a:rPr lang="en-US" dirty="0">
                <a:latin typeface="IBM Plex Mono" panose="020B0509050203000203" pitchFamily="49" charset="0"/>
              </a:rPr>
              <a:t>  the PCAP would bias toward what the LLM expects to see).</a:t>
            </a:r>
          </a:p>
          <a:p>
            <a:pPr lvl="2"/>
            <a:r>
              <a:rPr lang="en-US" b="1" dirty="0">
                <a:latin typeface="IBM Plex Mono" panose="020B0509050203000203" pitchFamily="49" charset="0"/>
              </a:rPr>
              <a:t>Reducer:</a:t>
            </a:r>
          </a:p>
          <a:p>
            <a:pPr lvl="3"/>
            <a:r>
              <a:rPr lang="en-US" dirty="0">
                <a:latin typeface="IBM Plex Mono" panose="020B0509050203000203" pitchFamily="49" charset="0"/>
              </a:rPr>
              <a:t>Applies the filter on the PCAP</a:t>
            </a:r>
          </a:p>
          <a:p>
            <a:pPr lvl="3"/>
            <a:r>
              <a:rPr lang="en-US" dirty="0">
                <a:latin typeface="IBM Plex Mono" panose="020B0509050203000203" pitchFamily="49" charset="0"/>
              </a:rPr>
              <a:t>Create fingerprints structured based on:</a:t>
            </a:r>
          </a:p>
          <a:p>
            <a:pPr lvl="4"/>
            <a:r>
              <a:rPr lang="en-US" dirty="0">
                <a:latin typeface="IBM Plex Mono" panose="020B0509050203000203" pitchFamily="49" charset="0"/>
              </a:rPr>
              <a:t>Protocol (L2/L3/L4)</a:t>
            </a:r>
          </a:p>
          <a:p>
            <a:pPr lvl="4"/>
            <a:r>
              <a:rPr lang="en-US" dirty="0">
                <a:latin typeface="IBM Plex Mono" panose="020B0509050203000203" pitchFamily="49" charset="0"/>
              </a:rPr>
              <a:t>Unique signals/flags</a:t>
            </a:r>
          </a:p>
          <a:p>
            <a:pPr lvl="4"/>
            <a:r>
              <a:rPr lang="en-US" dirty="0">
                <a:latin typeface="IBM Plex Mono" panose="020B0509050203000203" pitchFamily="49" charset="0"/>
              </a:rPr>
              <a:t>DST ports and </a:t>
            </a:r>
            <a:r>
              <a:rPr lang="en-US" dirty="0" err="1">
                <a:latin typeface="IBM Plex Mono" panose="020B0509050203000203" pitchFamily="49" charset="0"/>
              </a:rPr>
              <a:t>ips</a:t>
            </a:r>
            <a:endParaRPr lang="en-US" dirty="0">
              <a:latin typeface="IBM Plex Mono" panose="020B0509050203000203" pitchFamily="49" charset="0"/>
            </a:endParaRPr>
          </a:p>
          <a:p>
            <a:pPr lvl="3"/>
            <a:r>
              <a:rPr lang="en-US" dirty="0">
                <a:latin typeface="IBM Plex Mono" panose="020B0509050203000203" pitchFamily="49" charset="0"/>
              </a:rPr>
              <a:t>If the number of packets with same fingerprint is more than N:</a:t>
            </a:r>
          </a:p>
          <a:p>
            <a:pPr lvl="4"/>
            <a:r>
              <a:rPr lang="en-US" dirty="0">
                <a:latin typeface="IBM Plex Mono" panose="020B0509050203000203" pitchFamily="49" charset="0"/>
              </a:rPr>
              <a:t>Keep N representative packets</a:t>
            </a:r>
          </a:p>
          <a:p>
            <a:pPr lvl="4"/>
            <a:r>
              <a:rPr lang="en-US" dirty="0">
                <a:latin typeface="IBM Plex Mono" panose="020B0509050203000203" pitchFamily="49" charset="0"/>
              </a:rPr>
              <a:t>Fold the rest into aggregate stats</a:t>
            </a:r>
          </a:p>
          <a:p>
            <a:pPr lvl="4"/>
            <a:r>
              <a:rPr lang="en-US" dirty="0">
                <a:latin typeface="IBM Plex Mono" panose="020B0509050203000203" pitchFamily="49" charset="0"/>
              </a:rPr>
              <a:t>Keep unique SRCs and DSTs</a:t>
            </a:r>
          </a:p>
          <a:p>
            <a:pPr lvl="2"/>
            <a:r>
              <a:rPr lang="en-US" b="1" dirty="0">
                <a:latin typeface="IBM Plex Mono" panose="020B0509050203000203" pitchFamily="49" charset="0"/>
              </a:rPr>
              <a:t>Output:</a:t>
            </a:r>
            <a:r>
              <a:rPr lang="en-US" dirty="0">
                <a:latin typeface="IBM Plex Mono" panose="020B0509050203000203" pitchFamily="49" charset="0"/>
              </a:rPr>
              <a:t> </a:t>
            </a:r>
          </a:p>
          <a:p>
            <a:pPr lvl="3"/>
            <a:r>
              <a:rPr lang="en-US" dirty="0" err="1">
                <a:latin typeface="IBM Plex Mono" panose="020B0509050203000203" pitchFamily="49" charset="0"/>
              </a:rPr>
              <a:t>Reduced_representation</a:t>
            </a:r>
            <a:r>
              <a:rPr lang="en-US" dirty="0">
                <a:latin typeface="IBM Plex Mono" panose="020B0509050203000203" pitchFamily="49" charset="0"/>
              </a:rPr>
              <a:t>, </a:t>
            </a:r>
          </a:p>
          <a:p>
            <a:pPr lvl="3"/>
            <a:r>
              <a:rPr lang="en-US" dirty="0">
                <a:latin typeface="IBM Plex Mono" panose="020B0509050203000203" pitchFamily="49" charset="0"/>
              </a:rPr>
              <a:t>Stats: </a:t>
            </a:r>
            <a:r>
              <a:rPr lang="en-US" dirty="0" err="1">
                <a:latin typeface="IBM Plex Mono" panose="020B0509050203000203" pitchFamily="49" charset="0"/>
              </a:rPr>
              <a:t>Compression_stats</a:t>
            </a:r>
            <a:r>
              <a:rPr lang="en-US" dirty="0">
                <a:latin typeface="IBM Plex Mono" panose="020B0509050203000203" pitchFamily="49" charset="0"/>
              </a:rPr>
              <a:t>, </a:t>
            </a:r>
            <a:r>
              <a:rPr lang="en-US" dirty="0" err="1">
                <a:latin typeface="IBM Plex Mono" panose="020B0509050203000203" pitchFamily="49" charset="0"/>
              </a:rPr>
              <a:t>Budget_status</a:t>
            </a:r>
            <a:r>
              <a:rPr lang="en-US" dirty="0">
                <a:latin typeface="IBM Plex Mono" panose="020B0509050203000203" pitchFamily="49" charset="0"/>
              </a:rPr>
              <a:t>, </a:t>
            </a:r>
            <a:r>
              <a:rPr lang="en-US" dirty="0" err="1">
                <a:latin typeface="IBM Plex Mono" panose="020B0509050203000203" pitchFamily="49" charset="0"/>
              </a:rPr>
              <a:t>Dropped_parse_failures_count</a:t>
            </a:r>
            <a:r>
              <a:rPr lang="en-US" dirty="0">
                <a:latin typeface="IBM Plex Mono" panose="020B0509050203000203" pitchFamily="49" charset="0"/>
              </a:rPr>
              <a:t>, </a:t>
            </a:r>
            <a:r>
              <a:rPr lang="en-US" dirty="0" err="1">
                <a:latin typeface="IBM Plex Mono" panose="020B0509050203000203" pitchFamily="49" charset="0"/>
              </a:rPr>
              <a:t>Fingerprint_index</a:t>
            </a:r>
            <a:endParaRPr lang="en-US" dirty="0">
              <a:latin typeface="IBM Plex Mono" panose="020B0509050203000203" pitchFamily="49" charset="0"/>
            </a:endParaRPr>
          </a:p>
          <a:p>
            <a:pPr lvl="3"/>
            <a:endParaRPr lang="en-US" dirty="0">
              <a:latin typeface="IBM Plex Mono" panose="020B0509050203000203" pitchFamily="49" charset="0"/>
            </a:endParaRPr>
          </a:p>
          <a:p>
            <a:pPr lvl="3"/>
            <a:endParaRPr lang="en-US" dirty="0">
              <a:latin typeface="IBM Plex Mono" panose="020B0509050203000203" pitchFamily="49" charset="0"/>
            </a:endParaRPr>
          </a:p>
          <a:p>
            <a:pPr lvl="3"/>
            <a:endParaRPr lang="en-US" dirty="0">
              <a:latin typeface="IBM Plex Mono" panose="020B0509050203000203" pitchFamily="49" charset="0"/>
            </a:endParaRPr>
          </a:p>
          <a:p>
            <a:pPr lvl="4"/>
            <a:endParaRPr lang="en-US" dirty="0">
              <a:latin typeface="IBM Plex Mono" panose="020B0509050203000203" pitchFamily="49" charset="0"/>
            </a:endParaRPr>
          </a:p>
          <a:p>
            <a:pPr lvl="4"/>
            <a:endParaRPr lang="he-IL" dirty="0">
              <a:latin typeface="IBM Plex Mono" panose="020B0509050203000203" pitchFamily="49" charset="0"/>
            </a:endParaRPr>
          </a:p>
          <a:p>
            <a:pPr marL="1828800" lvl="4" indent="0">
              <a:buNone/>
            </a:pPr>
            <a:endParaRPr lang="en-US" dirty="0">
              <a:latin typeface="IBM Plex Mono" panose="020B0509050203000203" pitchFamily="49" charset="0"/>
            </a:endParaRPr>
          </a:p>
          <a:p>
            <a:pPr lvl="3"/>
            <a:endParaRPr lang="en-US" dirty="0">
              <a:latin typeface="IBM Plex Mono" panose="020B0509050203000203" pitchFamily="49" charset="0"/>
            </a:endParaRPr>
          </a:p>
          <a:p>
            <a:pPr lvl="4"/>
            <a:endParaRPr lang="en-US" dirty="0">
              <a:latin typeface="IBM Plex Mono" panose="020B0509050203000203" pitchFamily="49" charset="0"/>
            </a:endParaRPr>
          </a:p>
          <a:p>
            <a:pPr lvl="4"/>
            <a:endParaRPr lang="en-US" dirty="0">
              <a:latin typeface="IBM Plex Mono" panose="020B0509050203000203" pitchFamily="49" charset="0"/>
            </a:endParaRPr>
          </a:p>
          <a:p>
            <a:pPr lvl="4"/>
            <a:endParaRPr lang="en-US" dirty="0">
              <a:latin typeface="IBM Plex Mono" panose="020B0509050203000203" pitchFamily="49" charset="0"/>
            </a:endParaRPr>
          </a:p>
          <a:p>
            <a:pPr lvl="3"/>
            <a:endParaRPr lang="en-US" dirty="0">
              <a:latin typeface="IBM Plex Mono" panose="020B0509050203000203" pitchFamily="49" charset="0"/>
            </a:endParaRPr>
          </a:p>
          <a:p>
            <a:pPr lvl="3"/>
            <a:endParaRPr lang="en-US" dirty="0">
              <a:latin typeface="IBM Plex Mono" panose="020B0509050203000203" pitchFamily="49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1B62E78-1E36-208B-C4A8-794165D1A52B}"/>
              </a:ext>
            </a:extLst>
          </p:cNvPr>
          <p:cNvSpPr/>
          <p:nvPr/>
        </p:nvSpPr>
        <p:spPr>
          <a:xfrm>
            <a:off x="9312955" y="233611"/>
            <a:ext cx="2655699" cy="997212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IBM Plex Mono" panose="020B0509050203000203" pitchFamily="49" charset="0"/>
              </a:rPr>
              <a:t>Filter</a:t>
            </a:r>
          </a:p>
          <a:p>
            <a:pPr lvl="0" algn="ctr">
              <a:defRPr/>
            </a:pPr>
            <a:r>
              <a:rPr lang="fr-FR" dirty="0" err="1">
                <a:solidFill>
                  <a:schemeClr val="tx1"/>
                </a:solidFill>
                <a:latin typeface="IBM Plex Mono" panose="020B0509050203000203" pitchFamily="49" charset="0"/>
              </a:rPr>
              <a:t>tcp</a:t>
            </a:r>
            <a:r>
              <a:rPr lang="fr-FR" dirty="0">
                <a:solidFill>
                  <a:schemeClr val="tx1"/>
                </a:solidFill>
                <a:latin typeface="IBM Plex Mono" panose="020B0509050203000203" pitchFamily="49" charset="0"/>
              </a:rPr>
              <a:t> port 80 or </a:t>
            </a:r>
            <a:r>
              <a:rPr lang="fr-FR" dirty="0" err="1">
                <a:solidFill>
                  <a:schemeClr val="tx1"/>
                </a:solidFill>
                <a:latin typeface="IBM Plex Mono" panose="020B0509050203000203" pitchFamily="49" charset="0"/>
              </a:rPr>
              <a:t>tcp</a:t>
            </a:r>
            <a:r>
              <a:rPr lang="fr-FR" dirty="0">
                <a:solidFill>
                  <a:schemeClr val="tx1"/>
                </a:solidFill>
                <a:latin typeface="IBM Plex Mono" panose="020B0509050203000203" pitchFamily="49" charset="0"/>
              </a:rPr>
              <a:t> port 443</a:t>
            </a: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IBM Plex Mono" panose="020B0509050203000203" pitchFamily="49" charset="0"/>
            </a:endParaRPr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6BD54FCB-0713-5B9D-F3D7-AE4B1C448E38}"/>
              </a:ext>
            </a:extLst>
          </p:cNvPr>
          <p:cNvSpPr/>
          <p:nvPr/>
        </p:nvSpPr>
        <p:spPr>
          <a:xfrm>
            <a:off x="7536002" y="399467"/>
            <a:ext cx="1508203" cy="651284"/>
          </a:xfrm>
          <a:prstGeom prst="roundRect">
            <a:avLst>
              <a:gd name="adj" fmla="val 8427"/>
            </a:avLst>
          </a:prstGeom>
          <a:solidFill>
            <a:srgbClr val="1A24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C2FC73DA-7DFE-849D-EFDE-91F3CA22A0FC}"/>
              </a:ext>
            </a:extLst>
          </p:cNvPr>
          <p:cNvSpPr/>
          <p:nvPr/>
        </p:nvSpPr>
        <p:spPr>
          <a:xfrm>
            <a:off x="7696935" y="496853"/>
            <a:ext cx="1186341" cy="376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1960"/>
              </a:lnSpc>
            </a:pPr>
            <a:r>
              <a:rPr lang="en-US" sz="1400" b="1" dirty="0">
                <a:solidFill>
                  <a:srgbClr val="E8ED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SYN flood attack</a:t>
            </a:r>
            <a:endParaRPr lang="en-US" sz="14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055DBA4-6178-9516-68E1-4108CACD973F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>
            <a:off x="9044205" y="725109"/>
            <a:ext cx="268750" cy="710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AA97146-17D9-5891-6282-DBD6FA883616}"/>
              </a:ext>
            </a:extLst>
          </p:cNvPr>
          <p:cNvCxnSpPr>
            <a:cxnSpLocks/>
          </p:cNvCxnSpPr>
          <p:nvPr/>
        </p:nvCxnSpPr>
        <p:spPr>
          <a:xfrm>
            <a:off x="10640805" y="1230822"/>
            <a:ext cx="0" cy="23702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0420EB5-7B5C-6651-2875-1774B44581F3}"/>
              </a:ext>
            </a:extLst>
          </p:cNvPr>
          <p:cNvGrpSpPr/>
          <p:nvPr/>
        </p:nvGrpSpPr>
        <p:grpSpPr>
          <a:xfrm>
            <a:off x="8086541" y="1639389"/>
            <a:ext cx="3622350" cy="1562079"/>
            <a:chOff x="7836457" y="663550"/>
            <a:chExt cx="6671667" cy="2237998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460CA4A-263F-D740-35DE-2806F79A5873}"/>
                </a:ext>
              </a:extLst>
            </p:cNvPr>
            <p:cNvGrpSpPr/>
            <p:nvPr/>
          </p:nvGrpSpPr>
          <p:grpSpPr>
            <a:xfrm>
              <a:off x="7836457" y="663550"/>
              <a:ext cx="6671667" cy="2237998"/>
              <a:chOff x="812800" y="1875495"/>
              <a:chExt cx="6455808" cy="2175644"/>
            </a:xfrm>
          </p:grpSpPr>
          <p:sp>
            <p:nvSpPr>
              <p:cNvPr id="28" name="Shape 1">
                <a:extLst>
                  <a:ext uri="{FF2B5EF4-FFF2-40B4-BE49-F238E27FC236}">
                    <a16:creationId xmlns:a16="http://schemas.microsoft.com/office/drawing/2014/main" id="{7A3E817E-E271-7F5F-4D61-3CD054DAFBE2}"/>
                  </a:ext>
                </a:extLst>
              </p:cNvPr>
              <p:cNvSpPr/>
              <p:nvPr/>
            </p:nvSpPr>
            <p:spPr>
              <a:xfrm>
                <a:off x="812800" y="1875495"/>
                <a:ext cx="1681480" cy="904240"/>
              </a:xfrm>
              <a:prstGeom prst="roundRect">
                <a:avLst>
                  <a:gd name="adj" fmla="val 8427"/>
                </a:avLst>
              </a:prstGeom>
              <a:solidFill>
                <a:srgbClr val="1A2433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 2">
                <a:extLst>
                  <a:ext uri="{FF2B5EF4-FFF2-40B4-BE49-F238E27FC236}">
                    <a16:creationId xmlns:a16="http://schemas.microsoft.com/office/drawing/2014/main" id="{75A49E82-6ECD-FAE2-2D6D-B1381424BBB4}"/>
                  </a:ext>
                </a:extLst>
              </p:cNvPr>
              <p:cNvSpPr/>
              <p:nvPr/>
            </p:nvSpPr>
            <p:spPr>
              <a:xfrm>
                <a:off x="1041400" y="2119455"/>
                <a:ext cx="1224280" cy="52323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ctr">
                  <a:lnSpc>
                    <a:spcPts val="1960"/>
                  </a:lnSpc>
                  <a:buNone/>
                </a:pPr>
                <a:r>
                  <a:rPr lang="en-US" sz="1400" b="1" dirty="0">
                    <a:solidFill>
                      <a:srgbClr val="E8EDF2"/>
                    </a:solidFill>
                    <a:latin typeface="IBM Plex Mono" pitchFamily="34" charset="0"/>
                    <a:ea typeface="IBM Plex Mono" pitchFamily="34" charset="-122"/>
                    <a:cs typeface="IBM Plex Mono" pitchFamily="34" charset="-120"/>
                  </a:rPr>
                  <a:t>PCAP</a:t>
                </a:r>
                <a:endParaRPr lang="en-US" sz="1400" dirty="0"/>
              </a:p>
            </p:txBody>
          </p:sp>
          <p:sp>
            <p:nvSpPr>
              <p:cNvPr id="30" name="Shape 1">
                <a:extLst>
                  <a:ext uri="{FF2B5EF4-FFF2-40B4-BE49-F238E27FC236}">
                    <a16:creationId xmlns:a16="http://schemas.microsoft.com/office/drawing/2014/main" id="{4026700D-A7B4-BF85-6E9A-E242A730D2B9}"/>
                  </a:ext>
                </a:extLst>
              </p:cNvPr>
              <p:cNvSpPr/>
              <p:nvPr/>
            </p:nvSpPr>
            <p:spPr>
              <a:xfrm>
                <a:off x="3303990" y="3298588"/>
                <a:ext cx="1719595" cy="746362"/>
              </a:xfrm>
              <a:prstGeom prst="roundRect">
                <a:avLst>
                  <a:gd name="adj" fmla="val 8427"/>
                </a:avLst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algn="ctr"/>
                <a:r>
                  <a:rPr lang="en-US" sz="1400" dirty="0">
                    <a:latin typeface="IBM Plex Mono" panose="020B0509050203000203" pitchFamily="49" charset="0"/>
                  </a:rPr>
                  <a:t>Reduced PCAP</a:t>
                </a:r>
              </a:p>
            </p:txBody>
          </p:sp>
          <p:sp>
            <p:nvSpPr>
              <p:cNvPr id="33" name="Shape 1">
                <a:extLst>
                  <a:ext uri="{FF2B5EF4-FFF2-40B4-BE49-F238E27FC236}">
                    <a16:creationId xmlns:a16="http://schemas.microsoft.com/office/drawing/2014/main" id="{33E33D60-05E9-C4E4-4666-135C0F6BE213}"/>
                  </a:ext>
                </a:extLst>
              </p:cNvPr>
              <p:cNvSpPr/>
              <p:nvPr/>
            </p:nvSpPr>
            <p:spPr>
              <a:xfrm>
                <a:off x="5549013" y="3304777"/>
                <a:ext cx="1719595" cy="746362"/>
              </a:xfrm>
              <a:prstGeom prst="roundRect">
                <a:avLst>
                  <a:gd name="adj" fmla="val 8427"/>
                </a:avLst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algn="ctr"/>
                <a:r>
                  <a:rPr lang="en-US" sz="1400" dirty="0">
                    <a:latin typeface="IBM Plex Mono" panose="020B0509050203000203" pitchFamily="49" charset="0"/>
                  </a:rPr>
                  <a:t>Stats</a:t>
                </a:r>
              </a:p>
            </p:txBody>
          </p:sp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93B4FBE-0A1B-24CB-E11C-A71118E99EA1}"/>
                </a:ext>
              </a:extLst>
            </p:cNvPr>
            <p:cNvCxnSpPr>
              <a:cxnSpLocks/>
              <a:stCxn id="28" idx="3"/>
              <a:endCxn id="36" idx="1"/>
            </p:cNvCxnSpPr>
            <p:nvPr/>
          </p:nvCxnSpPr>
          <p:spPr>
            <a:xfrm flipV="1">
              <a:off x="9574160" y="1123972"/>
              <a:ext cx="558910" cy="4656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1FA646D-0DB5-226B-1E9B-2EB49F549A73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>
              <a:off x="11299491" y="1820589"/>
              <a:ext cx="0" cy="30684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9058A7DF-692C-126E-2909-1D5E9EC40002}"/>
                </a:ext>
              </a:extLst>
            </p:cNvPr>
            <p:cNvCxnSpPr>
              <a:cxnSpLocks/>
              <a:endCxn id="33" idx="0"/>
            </p:cNvCxnSpPr>
            <p:nvPr/>
          </p:nvCxnSpPr>
          <p:spPr>
            <a:xfrm>
              <a:off x="13619579" y="1826956"/>
              <a:ext cx="0" cy="30684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0B71697-A823-8A78-1E7B-73075F74FDB9}"/>
              </a:ext>
            </a:extLst>
          </p:cNvPr>
          <p:cNvSpPr/>
          <p:nvPr/>
        </p:nvSpPr>
        <p:spPr>
          <a:xfrm>
            <a:off x="9333476" y="1462148"/>
            <a:ext cx="2655699" cy="997212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IBM Plex Mono" panose="020B0509050203000203" pitchFamily="49" charset="0"/>
              </a:rPr>
              <a:t>Reducer</a:t>
            </a:r>
          </a:p>
          <a:p>
            <a:pPr lvl="0" algn="ctr">
              <a:defRPr/>
            </a:pPr>
            <a:r>
              <a:rPr lang="en-US" dirty="0">
                <a:solidFill>
                  <a:schemeClr val="tx1"/>
                </a:solidFill>
              </a:rPr>
              <a:t>["TCP", ["0x0002", "80"]]</a:t>
            </a:r>
          </a:p>
          <a:p>
            <a:pPr lvl="0" algn="ctr">
              <a:defRPr/>
            </a:pPr>
            <a:r>
              <a:rPr lang="en-US" dirty="0">
                <a:solidFill>
                  <a:schemeClr val="tx1"/>
                </a:solidFill>
              </a:rPr>
              <a:t>["TCP", ["0x0012", "80"]]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IBM Plex Mono" panose="020B0509050203000203" pitchFamily="49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8AE19AB5-0737-9FA1-B492-38B09C3C0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0547" y="3695390"/>
            <a:ext cx="2941556" cy="170046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E48182A9-908E-69B8-7D78-894CCEC9219D}"/>
              </a:ext>
            </a:extLst>
          </p:cNvPr>
          <p:cNvGrpSpPr/>
          <p:nvPr/>
        </p:nvGrpSpPr>
        <p:grpSpPr>
          <a:xfrm>
            <a:off x="801714" y="1649080"/>
            <a:ext cx="10594416" cy="1071880"/>
            <a:chOff x="819150" y="2901950"/>
            <a:chExt cx="10594416" cy="1071880"/>
          </a:xfrm>
        </p:grpSpPr>
        <p:sp>
          <p:nvSpPr>
            <p:cNvPr id="6" name="Shape 15">
              <a:extLst>
                <a:ext uri="{FF2B5EF4-FFF2-40B4-BE49-F238E27FC236}">
                  <a16:creationId xmlns:a16="http://schemas.microsoft.com/office/drawing/2014/main" id="{B6B3B437-B7B0-E1C5-C6FE-C8B5AF69C49E}"/>
                </a:ext>
              </a:extLst>
            </p:cNvPr>
            <p:cNvSpPr/>
            <p:nvPr/>
          </p:nvSpPr>
          <p:spPr>
            <a:xfrm>
              <a:off x="819150" y="2901950"/>
              <a:ext cx="10553700" cy="1071880"/>
            </a:xfrm>
            <a:prstGeom prst="roundRect">
              <a:avLst>
                <a:gd name="adj" fmla="val 6517"/>
              </a:avLst>
            </a:prstGeom>
            <a:solidFill>
              <a:srgbClr val="FFF3F3"/>
            </a:solidFill>
            <a:ln w="12700">
              <a:solidFill>
                <a:srgbClr val="E57373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Text 17">
              <a:extLst>
                <a:ext uri="{FF2B5EF4-FFF2-40B4-BE49-F238E27FC236}">
                  <a16:creationId xmlns:a16="http://schemas.microsoft.com/office/drawing/2014/main" id="{BA2CFC5B-14BF-CC5E-C08E-CE739D26CF5C}"/>
                </a:ext>
              </a:extLst>
            </p:cNvPr>
            <p:cNvSpPr/>
            <p:nvPr/>
          </p:nvSpPr>
          <p:spPr>
            <a:xfrm>
              <a:off x="1074343" y="3211829"/>
              <a:ext cx="10339223" cy="5777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ts val="1540"/>
                </a:lnSpc>
              </a:pPr>
              <a:r>
                <a:rPr lang="en-US" b="1" dirty="0">
                  <a:solidFill>
                    <a:srgbClr val="C00000"/>
                  </a:solidFill>
                  <a:latin typeface="IBM Plex Mono" pitchFamily="34" charset="0"/>
                </a:rPr>
                <a:t>Ambiguous Evidence:</a:t>
              </a:r>
              <a:r>
                <a:rPr lang="en-US" dirty="0">
                  <a:solidFill>
                    <a:srgbClr val="C00000"/>
                  </a:solidFill>
                  <a:latin typeface="IBM Plex Mono" pitchFamily="34" charset="0"/>
                </a:rPr>
                <a:t> Picking individual Packets among many functionally-identical instances is hard to reproduce.</a:t>
              </a:r>
              <a:endParaRPr lang="en-US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90D0010-3672-6758-421E-CC3243AC8753}"/>
              </a:ext>
            </a:extLst>
          </p:cNvPr>
          <p:cNvGrpSpPr/>
          <p:nvPr/>
        </p:nvGrpSpPr>
        <p:grpSpPr>
          <a:xfrm>
            <a:off x="801714" y="2886948"/>
            <a:ext cx="10594416" cy="1071880"/>
            <a:chOff x="819150" y="2901950"/>
            <a:chExt cx="10594416" cy="1071880"/>
          </a:xfrm>
        </p:grpSpPr>
        <p:sp>
          <p:nvSpPr>
            <p:cNvPr id="15" name="Shape 15">
              <a:extLst>
                <a:ext uri="{FF2B5EF4-FFF2-40B4-BE49-F238E27FC236}">
                  <a16:creationId xmlns:a16="http://schemas.microsoft.com/office/drawing/2014/main" id="{EB95ECC9-AA5F-9C47-6C25-1BFC294ADF69}"/>
                </a:ext>
              </a:extLst>
            </p:cNvPr>
            <p:cNvSpPr/>
            <p:nvPr/>
          </p:nvSpPr>
          <p:spPr>
            <a:xfrm>
              <a:off x="819150" y="2901950"/>
              <a:ext cx="10553700" cy="1071880"/>
            </a:xfrm>
            <a:prstGeom prst="roundRect">
              <a:avLst>
                <a:gd name="adj" fmla="val 6517"/>
              </a:avLst>
            </a:prstGeom>
            <a:solidFill>
              <a:srgbClr val="FFF3F3"/>
            </a:solidFill>
            <a:ln w="12700">
              <a:solidFill>
                <a:srgbClr val="E57373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" name="Text 17">
              <a:extLst>
                <a:ext uri="{FF2B5EF4-FFF2-40B4-BE49-F238E27FC236}">
                  <a16:creationId xmlns:a16="http://schemas.microsoft.com/office/drawing/2014/main" id="{14AF3667-424D-2486-2D70-7D468E6B2BC0}"/>
                </a:ext>
              </a:extLst>
            </p:cNvPr>
            <p:cNvSpPr/>
            <p:nvPr/>
          </p:nvSpPr>
          <p:spPr>
            <a:xfrm>
              <a:off x="1074343" y="3211830"/>
              <a:ext cx="10339223" cy="452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ts val="1680"/>
                </a:lnSpc>
              </a:pPr>
              <a:r>
                <a:rPr lang="en-US" b="1" dirty="0">
                  <a:solidFill>
                    <a:srgbClr val="C00000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Non-Deterministic Outputs: </a:t>
              </a:r>
              <a:r>
                <a:rPr lang="en-US" dirty="0">
                  <a:solidFill>
                    <a:srgbClr val="C00000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LLM producing syntax can create a different filter </a:t>
              </a:r>
              <a:r>
                <a:rPr lang="en-US" dirty="0">
                  <a:solidFill>
                    <a:srgbClr val="C00000"/>
                  </a:solidFill>
                  <a:latin typeface="IBM Plex Mono" pitchFamily="34" charset="0"/>
                </a:rPr>
                <a:t>across runs </a:t>
              </a:r>
              <a:r>
                <a:rPr lang="en-US" dirty="0">
                  <a:solidFill>
                    <a:srgbClr val="C00000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– can’t evaluate</a:t>
              </a:r>
            </a:p>
            <a:p>
              <a:pPr marL="0" indent="0" algn="l">
                <a:lnSpc>
                  <a:spcPts val="1680"/>
                </a:lnSpc>
                <a:buNone/>
              </a:pPr>
              <a:endParaRPr lang="en-US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01A1AB1-D85A-DB77-0299-76A7B4109D87}"/>
              </a:ext>
            </a:extLst>
          </p:cNvPr>
          <p:cNvGrpSpPr/>
          <p:nvPr/>
        </p:nvGrpSpPr>
        <p:grpSpPr>
          <a:xfrm>
            <a:off x="801714" y="4135939"/>
            <a:ext cx="10589685" cy="1071880"/>
            <a:chOff x="819150" y="2950168"/>
            <a:chExt cx="10553700" cy="1071880"/>
          </a:xfrm>
        </p:grpSpPr>
        <p:sp>
          <p:nvSpPr>
            <p:cNvPr id="20" name="Shape 15">
              <a:extLst>
                <a:ext uri="{FF2B5EF4-FFF2-40B4-BE49-F238E27FC236}">
                  <a16:creationId xmlns:a16="http://schemas.microsoft.com/office/drawing/2014/main" id="{B0FA4FCA-B36A-3A35-7663-43C5D406DEB0}"/>
                </a:ext>
              </a:extLst>
            </p:cNvPr>
            <p:cNvSpPr/>
            <p:nvPr/>
          </p:nvSpPr>
          <p:spPr>
            <a:xfrm>
              <a:off x="819150" y="2950168"/>
              <a:ext cx="10553700" cy="1071880"/>
            </a:xfrm>
            <a:prstGeom prst="roundRect">
              <a:avLst>
                <a:gd name="adj" fmla="val 6517"/>
              </a:avLst>
            </a:prstGeom>
            <a:solidFill>
              <a:srgbClr val="FFF3F3"/>
            </a:solidFill>
            <a:ln w="12700">
              <a:solidFill>
                <a:srgbClr val="E57373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" name="Text 17">
              <a:extLst>
                <a:ext uri="{FF2B5EF4-FFF2-40B4-BE49-F238E27FC236}">
                  <a16:creationId xmlns:a16="http://schemas.microsoft.com/office/drawing/2014/main" id="{152EFFD7-B1B9-37FE-64F5-1F75AF3402C2}"/>
                </a:ext>
              </a:extLst>
            </p:cNvPr>
            <p:cNvSpPr/>
            <p:nvPr/>
          </p:nvSpPr>
          <p:spPr>
            <a:xfrm>
              <a:off x="995527" y="3273690"/>
              <a:ext cx="10339223" cy="452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US" b="1" dirty="0">
                  <a:solidFill>
                    <a:srgbClr val="C00000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Reliability:</a:t>
              </a:r>
              <a:r>
                <a:rPr lang="en-US" dirty="0">
                  <a:solidFill>
                    <a:srgbClr val="C00000"/>
                  </a:solidFill>
                  <a:latin typeface="IBM Plex Mono" pitchFamily="34" charset="0"/>
                </a:rPr>
                <a:t> If the description is ambiguous or the attack uses non-standard ports, the filter might be silently wrong.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C257D1E-4C71-4F2D-B8BB-4AA3AB615BFA}"/>
              </a:ext>
            </a:extLst>
          </p:cNvPr>
          <p:cNvGrpSpPr/>
          <p:nvPr/>
        </p:nvGrpSpPr>
        <p:grpSpPr>
          <a:xfrm>
            <a:off x="801714" y="5386653"/>
            <a:ext cx="10589685" cy="1071880"/>
            <a:chOff x="819150" y="2950168"/>
            <a:chExt cx="10553700" cy="1071880"/>
          </a:xfrm>
        </p:grpSpPr>
        <p:sp>
          <p:nvSpPr>
            <p:cNvPr id="23" name="Shape 15">
              <a:extLst>
                <a:ext uri="{FF2B5EF4-FFF2-40B4-BE49-F238E27FC236}">
                  <a16:creationId xmlns:a16="http://schemas.microsoft.com/office/drawing/2014/main" id="{B573949E-5FBE-90BE-F13A-AB539002AD3E}"/>
                </a:ext>
              </a:extLst>
            </p:cNvPr>
            <p:cNvSpPr/>
            <p:nvPr/>
          </p:nvSpPr>
          <p:spPr>
            <a:xfrm>
              <a:off x="819150" y="2950168"/>
              <a:ext cx="10553700" cy="1071880"/>
            </a:xfrm>
            <a:prstGeom prst="roundRect">
              <a:avLst>
                <a:gd name="adj" fmla="val 6517"/>
              </a:avLst>
            </a:prstGeom>
            <a:solidFill>
              <a:srgbClr val="FFF3F3"/>
            </a:solidFill>
            <a:ln w="12700">
              <a:solidFill>
                <a:srgbClr val="E57373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" name="Text 17">
              <a:extLst>
                <a:ext uri="{FF2B5EF4-FFF2-40B4-BE49-F238E27FC236}">
                  <a16:creationId xmlns:a16="http://schemas.microsoft.com/office/drawing/2014/main" id="{60D832DB-BCD2-41C0-8A2C-D190165D712E}"/>
                </a:ext>
              </a:extLst>
            </p:cNvPr>
            <p:cNvSpPr/>
            <p:nvPr/>
          </p:nvSpPr>
          <p:spPr>
            <a:xfrm>
              <a:off x="995527" y="3273690"/>
              <a:ext cx="10339223" cy="452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1680"/>
                </a:lnSpc>
              </a:pPr>
              <a:r>
                <a:rPr lang="en-US" b="1" dirty="0">
                  <a:solidFill>
                    <a:srgbClr val="C00000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Lost Data:</a:t>
              </a:r>
              <a:r>
                <a:rPr lang="en-US" dirty="0">
                  <a:solidFill>
                    <a:srgbClr val="C00000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 Packets filtered before the reducer sees them leave zero trace </a:t>
              </a:r>
              <a:endParaRPr lang="he-IL" dirty="0">
                <a:solidFill>
                  <a:srgbClr val="C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endParaRPr>
            </a:p>
            <a:p>
              <a:pPr>
                <a:lnSpc>
                  <a:spcPts val="1680"/>
                </a:lnSpc>
              </a:pPr>
              <a:r>
                <a:rPr lang="en-US" dirty="0">
                  <a:solidFill>
                    <a:srgbClr val="C00000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The LLM generates BPF syntax it cannot verify against the actual </a:t>
              </a:r>
              <a:r>
                <a:rPr lang="en-US" dirty="0" err="1">
                  <a:solidFill>
                    <a:srgbClr val="C00000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pcap</a:t>
              </a:r>
              <a:r>
                <a:rPr lang="en-US" dirty="0">
                  <a:solidFill>
                    <a:srgbClr val="C00000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90315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77D89-E439-AA96-A0FE-8F73FC5FB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E4E7C-3FED-0218-B894-88B50F5A4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IBM Plex Mono" panose="020B0509050203000203" pitchFamily="49" charset="0"/>
              </a:rPr>
              <a:t>Preprocessor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EC605-01A6-0833-80BE-72641EB3A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3950" y="1748664"/>
            <a:ext cx="10515600" cy="2277004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latin typeface="IBM Plex Mono" panose="020B0509050203000203" pitchFamily="49" charset="0"/>
              </a:rPr>
              <a:t>Updated Design:</a:t>
            </a:r>
          </a:p>
          <a:p>
            <a:pPr lvl="2"/>
            <a:r>
              <a:rPr lang="en-US" b="1" dirty="0">
                <a:latin typeface="IBM Plex Mono" panose="020B0509050203000203" pitchFamily="49" charset="0"/>
              </a:rPr>
              <a:t>Goal: </a:t>
            </a:r>
            <a:endParaRPr lang="en-US" dirty="0">
              <a:latin typeface="IBM Plex Mono" panose="020B0509050203000203" pitchFamily="49" charset="0"/>
            </a:endParaRPr>
          </a:p>
          <a:p>
            <a:pPr lvl="3"/>
            <a:r>
              <a:rPr lang="en-US" dirty="0">
                <a:latin typeface="IBM Plex Mono" panose="020B0509050203000203" pitchFamily="49" charset="0"/>
              </a:rPr>
              <a:t>Create packet clusters based on similar traffic behaviors</a:t>
            </a:r>
          </a:p>
          <a:p>
            <a:pPr lvl="3"/>
            <a:r>
              <a:rPr lang="en-US" dirty="0">
                <a:latin typeface="IBM Plex Mono" panose="020B0509050203000203" pitchFamily="49" charset="0"/>
              </a:rPr>
              <a:t>Avoid feeding the pipeline with redundant packets</a:t>
            </a:r>
            <a:endParaRPr lang="he-IL" dirty="0">
              <a:latin typeface="IBM Plex Mono" panose="020B0509050203000203" pitchFamily="49" charset="0"/>
            </a:endParaRPr>
          </a:p>
          <a:p>
            <a:pPr lvl="2"/>
            <a:r>
              <a:rPr lang="en-US" b="1" dirty="0">
                <a:latin typeface="IBM Plex Mono" panose="020B0509050203000203" pitchFamily="49" charset="0"/>
              </a:rPr>
              <a:t>Output:</a:t>
            </a:r>
          </a:p>
          <a:p>
            <a:pPr lvl="3"/>
            <a:r>
              <a:rPr lang="en-US" dirty="0">
                <a:latin typeface="IBM Plex Mono" panose="020B0509050203000203" pitchFamily="49" charset="0"/>
              </a:rPr>
              <a:t>Structured data structures of clusters with aggregated data </a:t>
            </a:r>
          </a:p>
          <a:p>
            <a:pPr lvl="3"/>
            <a:r>
              <a:rPr lang="en-US" dirty="0">
                <a:latin typeface="IBM Plex Mono" panose="020B0509050203000203" pitchFamily="49" charset="0"/>
              </a:rPr>
              <a:t>Analysis of the clusters based on different scores and relevance</a:t>
            </a:r>
            <a:endParaRPr lang="he-IL" dirty="0">
              <a:latin typeface="IBM Plex Mono" panose="020B0509050203000203" pitchFamily="49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26A2B6A-F87D-6BB5-83A2-F2963A130E38}"/>
              </a:ext>
            </a:extLst>
          </p:cNvPr>
          <p:cNvGrpSpPr/>
          <p:nvPr/>
        </p:nvGrpSpPr>
        <p:grpSpPr>
          <a:xfrm>
            <a:off x="859500" y="4644866"/>
            <a:ext cx="1899841" cy="1393190"/>
            <a:chOff x="842910" y="4586975"/>
            <a:chExt cx="1899841" cy="1393190"/>
          </a:xfrm>
        </p:grpSpPr>
        <p:sp>
          <p:nvSpPr>
            <p:cNvPr id="15" name="Shape 1">
              <a:extLst>
                <a:ext uri="{FF2B5EF4-FFF2-40B4-BE49-F238E27FC236}">
                  <a16:creationId xmlns:a16="http://schemas.microsoft.com/office/drawing/2014/main" id="{D786D35F-0ECB-B59D-76DA-50D7A6FEA170}"/>
                </a:ext>
              </a:extLst>
            </p:cNvPr>
            <p:cNvSpPr/>
            <p:nvPr/>
          </p:nvSpPr>
          <p:spPr>
            <a:xfrm>
              <a:off x="842910" y="4586975"/>
              <a:ext cx="1899841" cy="1393190"/>
            </a:xfrm>
            <a:prstGeom prst="roundRect">
              <a:avLst>
                <a:gd name="adj" fmla="val 5242"/>
              </a:avLst>
            </a:prstGeom>
            <a:ln w="28575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 sz="280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6" name="Text 2">
              <a:extLst>
                <a:ext uri="{FF2B5EF4-FFF2-40B4-BE49-F238E27FC236}">
                  <a16:creationId xmlns:a16="http://schemas.microsoft.com/office/drawing/2014/main" id="{4363AD6B-B03F-A9DF-2D81-3354E8A94931}"/>
                </a:ext>
              </a:extLst>
            </p:cNvPr>
            <p:cNvSpPr/>
            <p:nvPr/>
          </p:nvSpPr>
          <p:spPr>
            <a:xfrm>
              <a:off x="1048015" y="4766680"/>
              <a:ext cx="1540431" cy="1854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260"/>
                </a:lnSpc>
                <a:buNone/>
              </a:pPr>
              <a:r>
                <a:rPr lang="en-US" sz="1100" b="1" dirty="0"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LAYER 0</a:t>
              </a:r>
              <a:endParaRPr lang="en-US" sz="1100" dirty="0"/>
            </a:p>
          </p:txBody>
        </p:sp>
        <p:sp>
          <p:nvSpPr>
            <p:cNvPr id="18" name="Text 3">
              <a:extLst>
                <a:ext uri="{FF2B5EF4-FFF2-40B4-BE49-F238E27FC236}">
                  <a16:creationId xmlns:a16="http://schemas.microsoft.com/office/drawing/2014/main" id="{95E39A4A-9842-685A-946A-9545DD176ADD}"/>
                </a:ext>
              </a:extLst>
            </p:cNvPr>
            <p:cNvSpPr/>
            <p:nvPr/>
          </p:nvSpPr>
          <p:spPr>
            <a:xfrm>
              <a:off x="1048015" y="4990200"/>
              <a:ext cx="1415415" cy="452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680"/>
                </a:lnSpc>
                <a:buNone/>
              </a:pPr>
              <a:r>
                <a:rPr lang="en-US" sz="12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Attack</a:t>
              </a:r>
              <a:r>
                <a:rPr lang="en-US" sz="1200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  </a:t>
              </a:r>
              <a:r>
                <a:rPr lang="en-US" sz="12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Context</a:t>
              </a:r>
              <a:endPara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0" name="Text 4">
              <a:extLst>
                <a:ext uri="{FF2B5EF4-FFF2-40B4-BE49-F238E27FC236}">
                  <a16:creationId xmlns:a16="http://schemas.microsoft.com/office/drawing/2014/main" id="{A6F5E508-6315-9106-901C-9E7973777011}"/>
                </a:ext>
              </a:extLst>
            </p:cNvPr>
            <p:cNvSpPr/>
            <p:nvPr/>
          </p:nvSpPr>
          <p:spPr>
            <a:xfrm>
              <a:off x="1041665" y="5275828"/>
              <a:ext cx="1540431" cy="345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260"/>
                </a:lnSpc>
                <a:buNone/>
              </a:pPr>
              <a:r>
                <a:rPr lang="en-US" sz="900" dirty="0">
                  <a:solidFill>
                    <a:schemeClr val="accent2">
                      <a:lumMod val="75000"/>
                    </a:schemeClr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LLM extracts intent into typed schema</a:t>
              </a:r>
              <a:endParaRPr lang="en-US" sz="9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E79AB42-15C7-388F-66C6-B576A86737DB}"/>
              </a:ext>
            </a:extLst>
          </p:cNvPr>
          <p:cNvGrpSpPr/>
          <p:nvPr/>
        </p:nvGrpSpPr>
        <p:grpSpPr>
          <a:xfrm>
            <a:off x="2816643" y="4644866"/>
            <a:ext cx="2014060" cy="1393190"/>
            <a:chOff x="2800053" y="4586975"/>
            <a:chExt cx="2014060" cy="1393190"/>
          </a:xfrm>
        </p:grpSpPr>
        <p:pic>
          <p:nvPicPr>
            <p:cNvPr id="21" name="Image 0" descr="arrow-right">
              <a:extLst>
                <a:ext uri="{FF2B5EF4-FFF2-40B4-BE49-F238E27FC236}">
                  <a16:creationId xmlns:a16="http://schemas.microsoft.com/office/drawing/2014/main" id="{C3926FB2-DB54-05C0-8517-E4F789599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l="-1060" r="-1060"/>
            <a:stretch/>
          </p:blipFill>
          <p:spPr>
            <a:xfrm>
              <a:off x="2800053" y="5109336"/>
              <a:ext cx="279321" cy="332984"/>
            </a:xfrm>
            <a:prstGeom prst="rect">
              <a:avLst/>
            </a:prstGeom>
          </p:spPr>
        </p:pic>
        <p:sp>
          <p:nvSpPr>
            <p:cNvPr id="22" name="Shape 5">
              <a:extLst>
                <a:ext uri="{FF2B5EF4-FFF2-40B4-BE49-F238E27FC236}">
                  <a16:creationId xmlns:a16="http://schemas.microsoft.com/office/drawing/2014/main" id="{6D740562-6FA8-35A7-067D-96701FA26593}"/>
                </a:ext>
              </a:extLst>
            </p:cNvPr>
            <p:cNvSpPr/>
            <p:nvPr/>
          </p:nvSpPr>
          <p:spPr>
            <a:xfrm>
              <a:off x="3152246" y="4586975"/>
              <a:ext cx="1604566" cy="1393190"/>
            </a:xfrm>
            <a:prstGeom prst="roundRect">
              <a:avLst>
                <a:gd name="adj" fmla="val 5242"/>
              </a:avLst>
            </a:prstGeom>
            <a:ln w="28575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Text 6">
              <a:extLst>
                <a:ext uri="{FF2B5EF4-FFF2-40B4-BE49-F238E27FC236}">
                  <a16:creationId xmlns:a16="http://schemas.microsoft.com/office/drawing/2014/main" id="{9FBE9447-5C99-43A7-1A35-DABDD2AA53AC}"/>
                </a:ext>
              </a:extLst>
            </p:cNvPr>
            <p:cNvSpPr/>
            <p:nvPr/>
          </p:nvSpPr>
          <p:spPr>
            <a:xfrm>
              <a:off x="3357351" y="4766680"/>
              <a:ext cx="1245156" cy="1854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260"/>
                </a:lnSpc>
                <a:buNone/>
              </a:pPr>
              <a:r>
                <a:rPr lang="en-US" sz="1100" b="1" dirty="0"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LAYER 1</a:t>
              </a:r>
              <a:endParaRPr lang="en-US" sz="1100" dirty="0"/>
            </a:p>
          </p:txBody>
        </p:sp>
        <p:sp>
          <p:nvSpPr>
            <p:cNvPr id="24" name="Text 7">
              <a:extLst>
                <a:ext uri="{FF2B5EF4-FFF2-40B4-BE49-F238E27FC236}">
                  <a16:creationId xmlns:a16="http://schemas.microsoft.com/office/drawing/2014/main" id="{FB33F105-9D47-F36B-07F7-D3989BAA27A8}"/>
                </a:ext>
              </a:extLst>
            </p:cNvPr>
            <p:cNvSpPr/>
            <p:nvPr/>
          </p:nvSpPr>
          <p:spPr>
            <a:xfrm>
              <a:off x="3357351" y="4990200"/>
              <a:ext cx="1245156" cy="238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680"/>
                </a:lnSpc>
                <a:buNone/>
              </a:pPr>
              <a:r>
                <a:rPr lang="en-US" sz="12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Dissection</a:t>
              </a:r>
              <a:endPara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5" name="Text 8">
              <a:extLst>
                <a:ext uri="{FF2B5EF4-FFF2-40B4-BE49-F238E27FC236}">
                  <a16:creationId xmlns:a16="http://schemas.microsoft.com/office/drawing/2014/main" id="{DF3D6E58-BBB1-A3AB-B19E-AB078ED88A95}"/>
                </a:ext>
              </a:extLst>
            </p:cNvPr>
            <p:cNvSpPr/>
            <p:nvPr/>
          </p:nvSpPr>
          <p:spPr>
            <a:xfrm>
              <a:off x="3357351" y="5267059"/>
              <a:ext cx="1456762" cy="345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260"/>
                </a:lnSpc>
                <a:buNone/>
              </a:pPr>
              <a:r>
                <a:rPr lang="en-US" sz="900" dirty="0">
                  <a:solidFill>
                    <a:schemeClr val="accent2">
                      <a:lumMod val="75000"/>
                    </a:schemeClr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L2→L3→L4→L7→Entropy per packet</a:t>
              </a:r>
              <a:endParaRPr lang="en-US" sz="9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0F4A630-4F6C-0235-C141-191DE1FCE290}"/>
              </a:ext>
            </a:extLst>
          </p:cNvPr>
          <p:cNvGrpSpPr/>
          <p:nvPr/>
        </p:nvGrpSpPr>
        <p:grpSpPr>
          <a:xfrm>
            <a:off x="4830704" y="4644866"/>
            <a:ext cx="2292278" cy="1393190"/>
            <a:chOff x="4814114" y="4586975"/>
            <a:chExt cx="2292278" cy="1393190"/>
          </a:xfrm>
        </p:grpSpPr>
        <p:pic>
          <p:nvPicPr>
            <p:cNvPr id="26" name="Image 1" descr="arrow-right">
              <a:extLst>
                <a:ext uri="{FF2B5EF4-FFF2-40B4-BE49-F238E27FC236}">
                  <a16:creationId xmlns:a16="http://schemas.microsoft.com/office/drawing/2014/main" id="{51A3E325-E4E5-2A3A-CD33-D3CC645EA2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l="-1060" r="-1060"/>
            <a:stretch/>
          </p:blipFill>
          <p:spPr>
            <a:xfrm>
              <a:off x="4814114" y="5109336"/>
              <a:ext cx="279321" cy="332984"/>
            </a:xfrm>
            <a:prstGeom prst="rect">
              <a:avLst/>
            </a:prstGeom>
          </p:spPr>
        </p:pic>
        <p:sp>
          <p:nvSpPr>
            <p:cNvPr id="31" name="Shape 9">
              <a:extLst>
                <a:ext uri="{FF2B5EF4-FFF2-40B4-BE49-F238E27FC236}">
                  <a16:creationId xmlns:a16="http://schemas.microsoft.com/office/drawing/2014/main" id="{38AA1B08-C77E-2A56-BA67-E78F5C73F80F}"/>
                </a:ext>
              </a:extLst>
            </p:cNvPr>
            <p:cNvSpPr/>
            <p:nvPr/>
          </p:nvSpPr>
          <p:spPr>
            <a:xfrm>
              <a:off x="5166308" y="4586975"/>
              <a:ext cx="1940084" cy="1393190"/>
            </a:xfrm>
            <a:prstGeom prst="roundRect">
              <a:avLst>
                <a:gd name="adj" fmla="val 5242"/>
              </a:avLst>
            </a:prstGeom>
            <a:ln w="28575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Text 10">
              <a:extLst>
                <a:ext uri="{FF2B5EF4-FFF2-40B4-BE49-F238E27FC236}">
                  <a16:creationId xmlns:a16="http://schemas.microsoft.com/office/drawing/2014/main" id="{2560FCA7-DA7D-ACE8-362E-D3E41BBC4875}"/>
                </a:ext>
              </a:extLst>
            </p:cNvPr>
            <p:cNvSpPr/>
            <p:nvPr/>
          </p:nvSpPr>
          <p:spPr>
            <a:xfrm>
              <a:off x="5371413" y="4766680"/>
              <a:ext cx="1580674" cy="1854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260"/>
                </a:lnSpc>
                <a:buNone/>
              </a:pPr>
              <a:r>
                <a:rPr lang="en-US" sz="1100" b="1" dirty="0"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LAYER 2</a:t>
              </a:r>
              <a:endParaRPr lang="en-US" sz="1100" dirty="0"/>
            </a:p>
          </p:txBody>
        </p:sp>
        <p:sp>
          <p:nvSpPr>
            <p:cNvPr id="34" name="Text 11">
              <a:extLst>
                <a:ext uri="{FF2B5EF4-FFF2-40B4-BE49-F238E27FC236}">
                  <a16:creationId xmlns:a16="http://schemas.microsoft.com/office/drawing/2014/main" id="{DECA3A1C-73AA-795E-16A2-D97B4F008E9B}"/>
                </a:ext>
              </a:extLst>
            </p:cNvPr>
            <p:cNvSpPr/>
            <p:nvPr/>
          </p:nvSpPr>
          <p:spPr>
            <a:xfrm>
              <a:off x="5371413" y="4990200"/>
              <a:ext cx="1580674" cy="238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680"/>
                </a:lnSpc>
                <a:buNone/>
              </a:pPr>
              <a:r>
                <a:rPr lang="en-US" sz="12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Fingerprint</a:t>
              </a:r>
              <a:endPara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35" name="Text 12">
              <a:extLst>
                <a:ext uri="{FF2B5EF4-FFF2-40B4-BE49-F238E27FC236}">
                  <a16:creationId xmlns:a16="http://schemas.microsoft.com/office/drawing/2014/main" id="{7573AABB-6AE7-3A27-1ABF-02EABC7E36A2}"/>
                </a:ext>
              </a:extLst>
            </p:cNvPr>
            <p:cNvSpPr/>
            <p:nvPr/>
          </p:nvSpPr>
          <p:spPr>
            <a:xfrm>
              <a:off x="5371413" y="5267059"/>
              <a:ext cx="1580674" cy="345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260"/>
                </a:lnSpc>
                <a:buNone/>
              </a:pPr>
              <a:r>
                <a:rPr lang="en-US" sz="900" dirty="0">
                  <a:solidFill>
                    <a:schemeClr val="accent2">
                      <a:lumMod val="75000"/>
                    </a:schemeClr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L4 + L7 + entropy bucket + time bucket</a:t>
              </a:r>
              <a:endParaRPr lang="en-US" sz="9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6D2CC14-A520-7E50-8210-5A10422569A3}"/>
              </a:ext>
            </a:extLst>
          </p:cNvPr>
          <p:cNvGrpSpPr/>
          <p:nvPr/>
        </p:nvGrpSpPr>
        <p:grpSpPr>
          <a:xfrm>
            <a:off x="7180283" y="4644866"/>
            <a:ext cx="1889688" cy="1393190"/>
            <a:chOff x="7163693" y="4586975"/>
            <a:chExt cx="1889688" cy="1393190"/>
          </a:xfrm>
        </p:grpSpPr>
        <p:pic>
          <p:nvPicPr>
            <p:cNvPr id="37" name="Image 2" descr="arrow-right">
              <a:extLst>
                <a:ext uri="{FF2B5EF4-FFF2-40B4-BE49-F238E27FC236}">
                  <a16:creationId xmlns:a16="http://schemas.microsoft.com/office/drawing/2014/main" id="{A3F8A375-1F4F-0029-20DB-58B2C455CE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l="-1060" r="-1060"/>
            <a:stretch/>
          </p:blipFill>
          <p:spPr>
            <a:xfrm>
              <a:off x="7163693" y="5109336"/>
              <a:ext cx="279321" cy="332984"/>
            </a:xfrm>
            <a:prstGeom prst="rect">
              <a:avLst/>
            </a:prstGeom>
          </p:spPr>
        </p:pic>
        <p:sp>
          <p:nvSpPr>
            <p:cNvPr id="38" name="Shape 13">
              <a:extLst>
                <a:ext uri="{FF2B5EF4-FFF2-40B4-BE49-F238E27FC236}">
                  <a16:creationId xmlns:a16="http://schemas.microsoft.com/office/drawing/2014/main" id="{008CB09C-A092-1182-A103-9BD644D8644B}"/>
                </a:ext>
              </a:extLst>
            </p:cNvPr>
            <p:cNvSpPr/>
            <p:nvPr/>
          </p:nvSpPr>
          <p:spPr>
            <a:xfrm>
              <a:off x="7515887" y="4586975"/>
              <a:ext cx="1537494" cy="1393190"/>
            </a:xfrm>
            <a:prstGeom prst="roundRect">
              <a:avLst>
                <a:gd name="adj" fmla="val 5242"/>
              </a:avLst>
            </a:prstGeom>
            <a:ln w="28575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39" name="Text 14">
              <a:extLst>
                <a:ext uri="{FF2B5EF4-FFF2-40B4-BE49-F238E27FC236}">
                  <a16:creationId xmlns:a16="http://schemas.microsoft.com/office/drawing/2014/main" id="{133D0EB8-F24E-8174-4208-6E40FDC354F9}"/>
                </a:ext>
              </a:extLst>
            </p:cNvPr>
            <p:cNvSpPr/>
            <p:nvPr/>
          </p:nvSpPr>
          <p:spPr>
            <a:xfrm>
              <a:off x="7720992" y="4766680"/>
              <a:ext cx="1178084" cy="1854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260"/>
                </a:lnSpc>
                <a:buNone/>
              </a:pPr>
              <a:r>
                <a:rPr lang="en-US" sz="1100" b="1" dirty="0"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LAYER 3</a:t>
              </a:r>
              <a:endParaRPr lang="en-US" sz="1100" dirty="0"/>
            </a:p>
          </p:txBody>
        </p:sp>
        <p:sp>
          <p:nvSpPr>
            <p:cNvPr id="41" name="Text 15">
              <a:extLst>
                <a:ext uri="{FF2B5EF4-FFF2-40B4-BE49-F238E27FC236}">
                  <a16:creationId xmlns:a16="http://schemas.microsoft.com/office/drawing/2014/main" id="{FD25321E-2901-BCAB-5ABF-11EB7E6472D9}"/>
                </a:ext>
              </a:extLst>
            </p:cNvPr>
            <p:cNvSpPr/>
            <p:nvPr/>
          </p:nvSpPr>
          <p:spPr>
            <a:xfrm>
              <a:off x="7720992" y="4990200"/>
              <a:ext cx="1178084" cy="238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680"/>
                </a:lnSpc>
                <a:buNone/>
              </a:pPr>
              <a:r>
                <a:rPr lang="en-US" sz="12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Clustering</a:t>
              </a:r>
              <a:endPara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2" name="Text 16">
              <a:extLst>
                <a:ext uri="{FF2B5EF4-FFF2-40B4-BE49-F238E27FC236}">
                  <a16:creationId xmlns:a16="http://schemas.microsoft.com/office/drawing/2014/main" id="{470B8EF5-27A7-4E28-D26D-F0827ED29738}"/>
                </a:ext>
              </a:extLst>
            </p:cNvPr>
            <p:cNvSpPr/>
            <p:nvPr/>
          </p:nvSpPr>
          <p:spPr>
            <a:xfrm>
              <a:off x="7720992" y="5267059"/>
              <a:ext cx="1178084" cy="345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260"/>
                </a:lnSpc>
                <a:buNone/>
              </a:pPr>
              <a:r>
                <a:rPr lang="en-US" sz="900" dirty="0">
                  <a:solidFill>
                    <a:schemeClr val="accent2">
                      <a:lumMod val="75000"/>
                    </a:schemeClr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Cluster class owns aggregate</a:t>
              </a:r>
              <a:endParaRPr lang="en-US" sz="9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FECFF96-F2F2-FE32-2D38-1E7884FD1F1F}"/>
              </a:ext>
            </a:extLst>
          </p:cNvPr>
          <p:cNvGrpSpPr/>
          <p:nvPr/>
        </p:nvGrpSpPr>
        <p:grpSpPr>
          <a:xfrm>
            <a:off x="9127273" y="4644866"/>
            <a:ext cx="2292277" cy="1393190"/>
            <a:chOff x="9110683" y="4586975"/>
            <a:chExt cx="2292277" cy="1393190"/>
          </a:xfrm>
        </p:grpSpPr>
        <p:pic>
          <p:nvPicPr>
            <p:cNvPr id="43" name="Image 3" descr="arrow-right">
              <a:extLst>
                <a:ext uri="{FF2B5EF4-FFF2-40B4-BE49-F238E27FC236}">
                  <a16:creationId xmlns:a16="http://schemas.microsoft.com/office/drawing/2014/main" id="{BBCEE435-8469-B9F3-2228-8A93805AF1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l="-1060" r="-1060"/>
            <a:stretch/>
          </p:blipFill>
          <p:spPr>
            <a:xfrm>
              <a:off x="9110683" y="5109336"/>
              <a:ext cx="279321" cy="332984"/>
            </a:xfrm>
            <a:prstGeom prst="rect">
              <a:avLst/>
            </a:prstGeom>
          </p:spPr>
        </p:pic>
        <p:sp>
          <p:nvSpPr>
            <p:cNvPr id="44" name="Shape 17">
              <a:extLst>
                <a:ext uri="{FF2B5EF4-FFF2-40B4-BE49-F238E27FC236}">
                  <a16:creationId xmlns:a16="http://schemas.microsoft.com/office/drawing/2014/main" id="{AC62CB55-8B7D-410E-3848-961F1E66F4D9}"/>
                </a:ext>
              </a:extLst>
            </p:cNvPr>
            <p:cNvSpPr/>
            <p:nvPr/>
          </p:nvSpPr>
          <p:spPr>
            <a:xfrm>
              <a:off x="9462876" y="4586975"/>
              <a:ext cx="1940084" cy="1393190"/>
            </a:xfrm>
            <a:prstGeom prst="roundRect">
              <a:avLst>
                <a:gd name="adj" fmla="val 5242"/>
              </a:avLst>
            </a:prstGeom>
            <a:ln w="28575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5" name="Text 18">
              <a:extLst>
                <a:ext uri="{FF2B5EF4-FFF2-40B4-BE49-F238E27FC236}">
                  <a16:creationId xmlns:a16="http://schemas.microsoft.com/office/drawing/2014/main" id="{9CD19896-BBB6-1358-D01D-A1EACF41F10E}"/>
                </a:ext>
              </a:extLst>
            </p:cNvPr>
            <p:cNvSpPr/>
            <p:nvPr/>
          </p:nvSpPr>
          <p:spPr>
            <a:xfrm>
              <a:off x="9667981" y="4766680"/>
              <a:ext cx="1580674" cy="1854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260"/>
                </a:lnSpc>
                <a:buNone/>
              </a:pPr>
              <a:r>
                <a:rPr lang="en-US" sz="1100" b="1" dirty="0"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LAYER 4</a:t>
              </a:r>
              <a:endParaRPr lang="en-US" sz="1100" dirty="0"/>
            </a:p>
          </p:txBody>
        </p:sp>
        <p:sp>
          <p:nvSpPr>
            <p:cNvPr id="46" name="Text 19">
              <a:extLst>
                <a:ext uri="{FF2B5EF4-FFF2-40B4-BE49-F238E27FC236}">
                  <a16:creationId xmlns:a16="http://schemas.microsoft.com/office/drawing/2014/main" id="{14326632-0E01-4DA4-3E86-26EA27556A6C}"/>
                </a:ext>
              </a:extLst>
            </p:cNvPr>
            <p:cNvSpPr/>
            <p:nvPr/>
          </p:nvSpPr>
          <p:spPr>
            <a:xfrm>
              <a:off x="9667981" y="4990200"/>
              <a:ext cx="1580674" cy="238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680"/>
                </a:lnSpc>
                <a:buNone/>
              </a:pPr>
              <a:r>
                <a:rPr lang="en-US" sz="12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Analysis</a:t>
              </a:r>
              <a:endPara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7" name="Text 20">
              <a:extLst>
                <a:ext uri="{FF2B5EF4-FFF2-40B4-BE49-F238E27FC236}">
                  <a16:creationId xmlns:a16="http://schemas.microsoft.com/office/drawing/2014/main" id="{FDDCB6D0-9A15-6F47-8023-C6F6AE9A7B9B}"/>
                </a:ext>
              </a:extLst>
            </p:cNvPr>
            <p:cNvSpPr/>
            <p:nvPr/>
          </p:nvSpPr>
          <p:spPr>
            <a:xfrm>
              <a:off x="9667981" y="5267059"/>
              <a:ext cx="1580674" cy="345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260"/>
                </a:lnSpc>
                <a:buNone/>
              </a:pPr>
              <a:r>
                <a:rPr lang="en-US" sz="900" dirty="0">
                  <a:solidFill>
                    <a:schemeClr val="accent2">
                      <a:lumMod val="75000"/>
                    </a:schemeClr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TF-IDF · Z-scores · IP summary · Tiers</a:t>
              </a:r>
              <a:endParaRPr lang="en-US" sz="9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9957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99" y="812800"/>
            <a:ext cx="1175026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2800" b="1" dirty="0">
                <a:solidFill>
                  <a:srgbClr val="1A24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Layer 0 - </a:t>
            </a:r>
            <a:r>
              <a:rPr lang="en-US" sz="2800" b="1" dirty="0" err="1">
                <a:solidFill>
                  <a:srgbClr val="1A24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AttackContext</a:t>
            </a:r>
            <a:r>
              <a:rPr lang="en-US" sz="2800" b="1" dirty="0">
                <a:solidFill>
                  <a:srgbClr val="1A24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replaces the filter generator</a:t>
            </a:r>
            <a:endParaRPr lang="en-US" sz="28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AF19E91-BF85-3A09-F311-4A917C3D8814}"/>
              </a:ext>
            </a:extLst>
          </p:cNvPr>
          <p:cNvGrpSpPr/>
          <p:nvPr/>
        </p:nvGrpSpPr>
        <p:grpSpPr>
          <a:xfrm>
            <a:off x="815975" y="1740866"/>
            <a:ext cx="4921250" cy="910590"/>
            <a:chOff x="815975" y="2055496"/>
            <a:chExt cx="4921250" cy="910590"/>
          </a:xfrm>
        </p:grpSpPr>
        <p:sp>
          <p:nvSpPr>
            <p:cNvPr id="3" name="Shape 1"/>
            <p:cNvSpPr/>
            <p:nvPr/>
          </p:nvSpPr>
          <p:spPr>
            <a:xfrm>
              <a:off x="815975" y="2055496"/>
              <a:ext cx="4921250" cy="910590"/>
            </a:xfrm>
            <a:prstGeom prst="roundRect">
              <a:avLst>
                <a:gd name="adj" fmla="val 5230"/>
              </a:avLst>
            </a:prstGeom>
            <a:solidFill>
              <a:srgbClr val="FFF3F3"/>
            </a:solidFill>
            <a:ln w="6350">
              <a:solidFill>
                <a:srgbClr val="E5737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 2"/>
            <p:cNvSpPr/>
            <p:nvPr/>
          </p:nvSpPr>
          <p:spPr>
            <a:xfrm>
              <a:off x="1021080" y="2235200"/>
              <a:ext cx="4646371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lnSpc>
                  <a:spcPts val="1540"/>
                </a:lnSpc>
                <a:buNone/>
              </a:pPr>
              <a:r>
                <a:rPr lang="en-US" sz="1100" b="1" dirty="0">
                  <a:solidFill>
                    <a:srgbClr val="C0392B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Before — LLM generates BPF</a:t>
              </a:r>
              <a:endParaRPr lang="en-US" sz="11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1021080" y="2430782"/>
              <a:ext cx="4646371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lnSpc>
                  <a:spcPts val="1400"/>
                </a:lnSpc>
                <a:buNone/>
              </a:pPr>
              <a:r>
                <a:rPr lang="en-US" sz="1000" dirty="0">
                  <a:solidFill>
                    <a:srgbClr val="4A5568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Free-text description → hard filter</a:t>
              </a:r>
              <a:endParaRPr lang="en-US" sz="1000" dirty="0"/>
            </a:p>
            <a:p>
              <a:pPr marL="0" indent="0" algn="ctr">
                <a:lnSpc>
                  <a:spcPts val="1400"/>
                </a:lnSpc>
                <a:buNone/>
              </a:pPr>
              <a:r>
                <a:rPr lang="en-US" sz="1000" dirty="0">
                  <a:solidFill>
                    <a:srgbClr val="4A5568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 </a:t>
              </a:r>
              <a:r>
                <a:rPr lang="en-US" sz="1000" dirty="0">
                  <a:solidFill>
                    <a:srgbClr val="FF0000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Drops packets silently</a:t>
              </a:r>
              <a:endParaRPr lang="en-US" sz="10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822E4D1-0CEC-F4B9-1ED8-19B30518A3BE}"/>
              </a:ext>
            </a:extLst>
          </p:cNvPr>
          <p:cNvGrpSpPr/>
          <p:nvPr/>
        </p:nvGrpSpPr>
        <p:grpSpPr>
          <a:xfrm>
            <a:off x="815975" y="2784806"/>
            <a:ext cx="4921250" cy="910590"/>
            <a:chOff x="815975" y="3099436"/>
            <a:chExt cx="4921250" cy="910590"/>
          </a:xfrm>
        </p:grpSpPr>
        <p:sp>
          <p:nvSpPr>
            <p:cNvPr id="6" name="Shape 4"/>
            <p:cNvSpPr/>
            <p:nvPr/>
          </p:nvSpPr>
          <p:spPr>
            <a:xfrm>
              <a:off x="815975" y="3099436"/>
              <a:ext cx="4921250" cy="910590"/>
            </a:xfrm>
            <a:prstGeom prst="roundRect">
              <a:avLst>
                <a:gd name="adj" fmla="val 5230"/>
              </a:avLst>
            </a:prstGeom>
            <a:solidFill>
              <a:srgbClr val="F0FAF8"/>
            </a:solidFill>
            <a:ln w="6350">
              <a:solidFill>
                <a:srgbClr val="00C8B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1021080" y="3279139"/>
              <a:ext cx="4646371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lnSpc>
                  <a:spcPts val="1540"/>
                </a:lnSpc>
                <a:buNone/>
              </a:pPr>
              <a:r>
                <a:rPr lang="en-US" sz="1100" b="1" dirty="0">
                  <a:solidFill>
                    <a:srgbClr val="00897B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After — LLM extracts into schema</a:t>
              </a:r>
              <a:endParaRPr lang="en-US" sz="11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021080" y="3474721"/>
              <a:ext cx="4646371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lnSpc>
                  <a:spcPts val="1400"/>
                </a:lnSpc>
                <a:buNone/>
              </a:pPr>
              <a:r>
                <a:rPr lang="en-US" sz="1000" dirty="0">
                  <a:solidFill>
                    <a:srgbClr val="4A5568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Free-text description → AttackContext</a:t>
              </a:r>
              <a:endParaRPr lang="en-US" sz="1000" dirty="0"/>
            </a:p>
            <a:p>
              <a:pPr marL="0" indent="0" algn="ctr">
                <a:lnSpc>
                  <a:spcPts val="1400"/>
                </a:lnSpc>
                <a:buNone/>
              </a:pPr>
              <a:r>
                <a:rPr lang="en-US" sz="1000" dirty="0">
                  <a:solidFill>
                    <a:srgbClr val="00897B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Intent extraction only, nothing is discarded before analysis</a:t>
              </a:r>
              <a:endParaRPr lang="en-US" sz="1000" dirty="0">
                <a:solidFill>
                  <a:srgbClr val="00897B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78BF988-98BF-31B9-4672-F7E6F7E57B81}"/>
              </a:ext>
            </a:extLst>
          </p:cNvPr>
          <p:cNvGrpSpPr/>
          <p:nvPr/>
        </p:nvGrpSpPr>
        <p:grpSpPr>
          <a:xfrm>
            <a:off x="5990478" y="1582115"/>
            <a:ext cx="5384800" cy="2481580"/>
            <a:chOff x="5994400" y="2052321"/>
            <a:chExt cx="5384800" cy="2481580"/>
          </a:xfrm>
        </p:grpSpPr>
        <p:sp>
          <p:nvSpPr>
            <p:cNvPr id="9" name="Shape 7"/>
            <p:cNvSpPr/>
            <p:nvPr/>
          </p:nvSpPr>
          <p:spPr>
            <a:xfrm>
              <a:off x="5994400" y="2052321"/>
              <a:ext cx="5384800" cy="2481580"/>
            </a:xfrm>
            <a:prstGeom prst="roundRect">
              <a:avLst>
                <a:gd name="adj" fmla="val 3071"/>
              </a:avLst>
            </a:prstGeom>
            <a:ln w="28575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6223000" y="2280921"/>
              <a:ext cx="507542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540"/>
                </a:lnSpc>
                <a:buNone/>
              </a:pPr>
              <a:r>
                <a:rPr lang="en-US" sz="1600" b="1" dirty="0" err="1">
                  <a:solidFill>
                    <a:schemeClr val="accent2">
                      <a:lumMod val="50000"/>
                    </a:schemeClr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AttackContext</a:t>
              </a:r>
              <a:r>
                <a:rPr lang="en-US" sz="1600" b="1" dirty="0">
                  <a:solidFill>
                    <a:schemeClr val="accent2">
                      <a:lumMod val="50000"/>
                    </a:schemeClr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 Schema</a:t>
              </a:r>
              <a:endParaRPr lang="en-US" sz="1600" b="1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6223000" y="2578100"/>
              <a:ext cx="5075428" cy="1752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suspected_protocols:</a:t>
              </a:r>
              <a:endParaRPr lang="en-US" sz="1400" b="1" dirty="0">
                <a:solidFill>
                  <a:schemeClr val="accent2">
                    <a:lumMod val="75000"/>
                  </a:schemeClr>
                </a:solidFill>
              </a:endParaRPr>
            </a:p>
            <a:p>
              <a:pPr marL="0" indent="0" algn="l">
                <a:lnSpc>
                  <a:spcPts val="1700"/>
                </a:lnSpc>
                <a:buNone/>
              </a:pPr>
              <a:r>
                <a:rPr lang="en-US" sz="11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["TCP", "UDP", "ICMP", "ARP", "DNS", ...]</a:t>
              </a:r>
              <a:endParaRPr lang="en-US" sz="1100" b="1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  <a:p>
              <a:pPr marL="0" indent="0" algn="l">
                <a:lnSpc>
                  <a:spcPts val="1700"/>
                </a:lnSpc>
                <a:buNone/>
              </a:pPr>
              <a:endParaRPr lang="en-US" sz="1000" dirty="0"/>
            </a:p>
            <a:p>
              <a:pPr marL="0" indent="0" algn="l">
                <a:lnSpc>
                  <a:spcPts val="1700"/>
                </a:lnSpc>
                <a:buNone/>
              </a:pPr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suspected_behaviors:</a:t>
              </a:r>
              <a:endParaRPr lang="en-US" sz="1400" b="1" dirty="0">
                <a:solidFill>
                  <a:schemeClr val="accent2">
                    <a:lumMod val="75000"/>
                  </a:schemeClr>
                </a:solidFill>
              </a:endParaRPr>
            </a:p>
            <a:p>
              <a:pPr marL="0" indent="0" algn="l">
                <a:lnSpc>
                  <a:spcPts val="1700"/>
                </a:lnSpc>
                <a:buNone/>
              </a:pPr>
              <a:r>
                <a:rPr lang="en-US" sz="11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["flood", "unanswered_syn", "scanning", ...]</a:t>
              </a:r>
              <a:endParaRPr lang="en-US" sz="1100" b="1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  <a:p>
              <a:pPr marL="0" indent="0" algn="l">
                <a:lnSpc>
                  <a:spcPts val="1700"/>
                </a:lnSpc>
                <a:buNone/>
              </a:pPr>
              <a:endParaRPr lang="en-US" sz="1000" dirty="0"/>
            </a:p>
            <a:p>
              <a:pPr marL="0" indent="0" algn="l">
                <a:lnSpc>
                  <a:spcPts val="1700"/>
                </a:lnSpc>
                <a:buNone/>
              </a:pPr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target_indicators:</a:t>
              </a:r>
              <a:endParaRPr lang="en-US" sz="1400" b="1" dirty="0">
                <a:solidFill>
                  <a:schemeClr val="accent2">
                    <a:lumMod val="75000"/>
                  </a:schemeClr>
                </a:solidFill>
              </a:endParaRPr>
            </a:p>
            <a:p>
              <a:pPr marL="0" indent="0" algn="l">
                <a:lnSpc>
                  <a:spcPts val="1700"/>
                </a:lnSpc>
                <a:buNone/>
              </a:pPr>
              <a:r>
                <a:rPr lang="en-US" sz="11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["single_dst", "high_rate", "no_response", ...]</a:t>
              </a:r>
              <a:endParaRPr lang="en-US" sz="1100" b="1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A3A6CA8-9322-D767-25A7-516D98D0995F}"/>
              </a:ext>
            </a:extLst>
          </p:cNvPr>
          <p:cNvGrpSpPr/>
          <p:nvPr/>
        </p:nvGrpSpPr>
        <p:grpSpPr>
          <a:xfrm>
            <a:off x="710453" y="4675920"/>
            <a:ext cx="10560050" cy="786130"/>
            <a:chOff x="861517" y="5514496"/>
            <a:chExt cx="10560050" cy="786130"/>
          </a:xfrm>
        </p:grpSpPr>
        <p:sp>
          <p:nvSpPr>
            <p:cNvPr id="22" name="Shape 21">
              <a:extLst>
                <a:ext uri="{FF2B5EF4-FFF2-40B4-BE49-F238E27FC236}">
                  <a16:creationId xmlns:a16="http://schemas.microsoft.com/office/drawing/2014/main" id="{203B34B9-B24D-F31B-28B5-CD6ED85F1881}"/>
                </a:ext>
              </a:extLst>
            </p:cNvPr>
            <p:cNvSpPr/>
            <p:nvPr/>
          </p:nvSpPr>
          <p:spPr>
            <a:xfrm>
              <a:off x="861517" y="5514496"/>
              <a:ext cx="10560050" cy="786130"/>
            </a:xfrm>
            <a:prstGeom prst="roundRect">
              <a:avLst>
                <a:gd name="adj" fmla="val 9289"/>
              </a:avLst>
            </a:prstGeom>
            <a:ln w="28575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Text 22">
              <a:extLst>
                <a:ext uri="{FF2B5EF4-FFF2-40B4-BE49-F238E27FC236}">
                  <a16:creationId xmlns:a16="http://schemas.microsoft.com/office/drawing/2014/main" id="{78259D4A-4EDD-402B-2A7F-D9DD32441B21}"/>
                </a:ext>
              </a:extLst>
            </p:cNvPr>
            <p:cNvSpPr/>
            <p:nvPr/>
          </p:nvSpPr>
          <p:spPr>
            <a:xfrm>
              <a:off x="1117422" y="5694201"/>
              <a:ext cx="10147823" cy="4521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lnSpc>
                  <a:spcPts val="1680"/>
                </a:lnSpc>
                <a:buNone/>
              </a:pPr>
              <a:r>
                <a:rPr lang="en-US" sz="1200" dirty="0">
                  <a:solidFill>
                    <a:schemeClr val="tx1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The </a:t>
              </a:r>
              <a:r>
                <a:rPr lang="en-US" sz="12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AttackContext</a:t>
              </a:r>
              <a:r>
                <a:rPr lang="en-US" sz="1200" dirty="0">
                  <a:solidFill>
                    <a:schemeClr val="tx1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 from Layer 0 is used for intent extraction, not filter creation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weight cluster relevance </a:t>
              </a:r>
              <a:r>
                <a:rPr lang="en-US" sz="1200" dirty="0">
                  <a:solidFill>
                    <a:schemeClr val="tx1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after analysis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4297A512-C037-3639-16C2-276A3B4BB0AE}"/>
              </a:ext>
            </a:extLst>
          </p:cNvPr>
          <p:cNvSpPr txBox="1"/>
          <p:nvPr/>
        </p:nvSpPr>
        <p:spPr>
          <a:xfrm>
            <a:off x="653497" y="5861830"/>
            <a:ext cx="33519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dirty="0">
                <a:solidFill>
                  <a:schemeClr val="tx1"/>
                </a:solidFill>
                <a:effectLst/>
                <a:latin typeface="IBM Plex Mono" panose="020B0509050203000203" pitchFamily="49" charset="0"/>
              </a:rPr>
              <a:t>"A SYN flood attack </a:t>
            </a:r>
          </a:p>
          <a:p>
            <a:pPr rtl="0">
              <a:buNone/>
            </a:pPr>
            <a:r>
              <a:rPr lang="en-US" dirty="0">
                <a:solidFill>
                  <a:schemeClr val="tx1"/>
                </a:solidFill>
                <a:effectLst/>
                <a:latin typeface="IBM Plex Mono" panose="020B0509050203000203" pitchFamily="49" charset="0"/>
              </a:rPr>
              <a:t>targeting a web server"</a:t>
            </a:r>
            <a:endParaRPr lang="en-US" dirty="0">
              <a:solidFill>
                <a:srgbClr val="14181F"/>
              </a:solidFill>
              <a:effectLst/>
              <a:latin typeface="IBM Plex Mono" panose="020B0509050203000203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E0005F-367B-596D-DE0D-6BA89E7C3430}"/>
              </a:ext>
            </a:extLst>
          </p:cNvPr>
          <p:cNvSpPr txBox="1"/>
          <p:nvPr/>
        </p:nvSpPr>
        <p:spPr>
          <a:xfrm>
            <a:off x="5407619" y="5804231"/>
            <a:ext cx="684354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IBM Plex Mono" panose="020B0509050203000203" pitchFamily="49" charset="0"/>
              </a:rPr>
              <a:t>suspected_protocols</a:t>
            </a:r>
            <a:r>
              <a:rPr lang="en-US" sz="1400" dirty="0">
                <a:latin typeface="IBM Plex Mono" panose="020B0509050203000203" pitchFamily="49" charset="0"/>
              </a:rPr>
              <a:t> = </a:t>
            </a: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IBM Plex Mono" panose="020B0509050203000203" pitchFamily="49" charset="0"/>
              </a:rPr>
              <a:t>["TCP"] </a:t>
            </a:r>
          </a:p>
          <a:p>
            <a:r>
              <a:rPr lang="en-US" sz="1400" dirty="0" err="1">
                <a:latin typeface="IBM Plex Mono" panose="020B0509050203000203" pitchFamily="49" charset="0"/>
              </a:rPr>
              <a:t>suspected_behaviors</a:t>
            </a:r>
            <a:r>
              <a:rPr lang="en-US" sz="1400" dirty="0">
                <a:latin typeface="IBM Plex Mono" panose="020B0509050203000203" pitchFamily="49" charset="0"/>
              </a:rPr>
              <a:t> = </a:t>
            </a: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IBM Plex Mono" panose="020B0509050203000203" pitchFamily="49" charset="0"/>
              </a:rPr>
              <a:t>["flood", "</a:t>
            </a:r>
            <a:r>
              <a:rPr lang="en-US" sz="1400" dirty="0" err="1">
                <a:solidFill>
                  <a:schemeClr val="accent2">
                    <a:lumMod val="75000"/>
                  </a:schemeClr>
                </a:solidFill>
                <a:latin typeface="IBM Plex Mono" panose="020B0509050203000203" pitchFamily="49" charset="0"/>
              </a:rPr>
              <a:t>unanswered_syn</a:t>
            </a: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IBM Plex Mono" panose="020B0509050203000203" pitchFamily="49" charset="0"/>
              </a:rPr>
              <a:t>"] </a:t>
            </a:r>
          </a:p>
          <a:p>
            <a:r>
              <a:rPr lang="en-US" sz="1400" dirty="0" err="1">
                <a:latin typeface="IBM Plex Mono" panose="020B0509050203000203" pitchFamily="49" charset="0"/>
              </a:rPr>
              <a:t>target_indicators</a:t>
            </a:r>
            <a:r>
              <a:rPr lang="en-US" sz="1400" dirty="0">
                <a:latin typeface="IBM Plex Mono" panose="020B0509050203000203" pitchFamily="49" charset="0"/>
              </a:rPr>
              <a:t> = </a:t>
            </a: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IBM Plex Mono" panose="020B0509050203000203" pitchFamily="49" charset="0"/>
              </a:rPr>
              <a:t>["</a:t>
            </a:r>
            <a:r>
              <a:rPr lang="en-US" sz="1400" dirty="0" err="1">
                <a:solidFill>
                  <a:schemeClr val="accent2">
                    <a:lumMod val="75000"/>
                  </a:schemeClr>
                </a:solidFill>
                <a:latin typeface="IBM Plex Mono" panose="020B0509050203000203" pitchFamily="49" charset="0"/>
              </a:rPr>
              <a:t>high_rate</a:t>
            </a: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IBM Plex Mono" panose="020B0509050203000203" pitchFamily="49" charset="0"/>
              </a:rPr>
              <a:t>", "</a:t>
            </a:r>
            <a:r>
              <a:rPr lang="en-US" sz="1400" dirty="0" err="1">
                <a:solidFill>
                  <a:schemeClr val="accent2">
                    <a:lumMod val="75000"/>
                  </a:schemeClr>
                </a:solidFill>
                <a:latin typeface="IBM Plex Mono" panose="020B0509050203000203" pitchFamily="49" charset="0"/>
              </a:rPr>
              <a:t>no_response</a:t>
            </a: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IBM Plex Mono" panose="020B0509050203000203" pitchFamily="49" charset="0"/>
              </a:rPr>
              <a:t>", "</a:t>
            </a:r>
            <a:r>
              <a:rPr lang="en-US" sz="1400" dirty="0" err="1">
                <a:solidFill>
                  <a:schemeClr val="accent2">
                    <a:lumMod val="75000"/>
                  </a:schemeClr>
                </a:solidFill>
                <a:latin typeface="IBM Plex Mono" panose="020B0509050203000203" pitchFamily="49" charset="0"/>
              </a:rPr>
              <a:t>single_dst</a:t>
            </a: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IBM Plex Mono" panose="020B0509050203000203" pitchFamily="49" charset="0"/>
              </a:rPr>
              <a:t>"]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0BC4F45-0FEF-3226-1327-1BB22D0B6720}"/>
              </a:ext>
            </a:extLst>
          </p:cNvPr>
          <p:cNvCxnSpPr>
            <a:cxnSpLocks/>
          </p:cNvCxnSpPr>
          <p:nvPr/>
        </p:nvCxnSpPr>
        <p:spPr>
          <a:xfrm flipV="1">
            <a:off x="4179771" y="6173562"/>
            <a:ext cx="1053547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9B21AD-E2E5-7DB5-BF2B-0E8417DFA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213FA35-EE38-AD8B-BD28-A1B0F9DE7506}"/>
              </a:ext>
            </a:extLst>
          </p:cNvPr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A24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Layers 1–2 – Analyzing Packets and Fingerprinting</a:t>
            </a:r>
            <a:endParaRPr lang="en-US" sz="3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E8F1473-7D6A-B216-E207-4ADF36CE74D0}"/>
              </a:ext>
            </a:extLst>
          </p:cNvPr>
          <p:cNvSpPr/>
          <p:nvPr/>
        </p:nvSpPr>
        <p:spPr>
          <a:xfrm>
            <a:off x="526107" y="1802340"/>
            <a:ext cx="53501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24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Fingerprint key</a:t>
            </a:r>
            <a:endParaRPr lang="en-US" sz="14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C68DAC7-7A5D-39CC-1C70-5B7D96BAD23F}"/>
              </a:ext>
            </a:extLst>
          </p:cNvPr>
          <p:cNvSpPr/>
          <p:nvPr/>
        </p:nvSpPr>
        <p:spPr>
          <a:xfrm>
            <a:off x="526107" y="2178261"/>
            <a:ext cx="1193363" cy="300518"/>
          </a:xfrm>
          <a:prstGeom prst="roundRect">
            <a:avLst>
              <a:gd name="adj" fmla="val 3390"/>
            </a:avLst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L4 Protocol</a:t>
            </a:r>
            <a:endParaRPr lang="en-US" sz="1100" dirty="0"/>
          </a:p>
        </p:txBody>
      </p:sp>
      <p:sp>
        <p:nvSpPr>
          <p:cNvPr id="7" name="Shape 9">
            <a:extLst>
              <a:ext uri="{FF2B5EF4-FFF2-40B4-BE49-F238E27FC236}">
                <a16:creationId xmlns:a16="http://schemas.microsoft.com/office/drawing/2014/main" id="{CD1DCD91-244D-EEBF-EA34-46C05E5B54D2}"/>
              </a:ext>
            </a:extLst>
          </p:cNvPr>
          <p:cNvSpPr/>
          <p:nvPr/>
        </p:nvSpPr>
        <p:spPr>
          <a:xfrm>
            <a:off x="4593216" y="2175711"/>
            <a:ext cx="1193363" cy="300518"/>
          </a:xfrm>
          <a:prstGeom prst="roundRect">
            <a:avLst>
              <a:gd name="adj" fmla="val 3390"/>
            </a:avLst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DST PORT</a:t>
            </a:r>
            <a:endParaRPr lang="en-US" sz="1100" dirty="0"/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E97BEE23-5B30-6621-3AA1-98788A1328E1}"/>
              </a:ext>
            </a:extLst>
          </p:cNvPr>
          <p:cNvSpPr/>
          <p:nvPr/>
        </p:nvSpPr>
        <p:spPr>
          <a:xfrm>
            <a:off x="526106" y="2686260"/>
            <a:ext cx="2549067" cy="274320"/>
          </a:xfrm>
          <a:prstGeom prst="roundRect">
            <a:avLst>
              <a:gd name="adj" fmla="val 3390"/>
            </a:avLst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Entropy bucket</a:t>
            </a:r>
            <a:endParaRPr lang="en-US" sz="1100" dirty="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82A2BC43-221C-48A3-8CB2-9315B27C2813}"/>
              </a:ext>
            </a:extLst>
          </p:cNvPr>
          <p:cNvSpPr/>
          <p:nvPr/>
        </p:nvSpPr>
        <p:spPr>
          <a:xfrm>
            <a:off x="3206509" y="2686260"/>
            <a:ext cx="2549067" cy="274320"/>
          </a:xfrm>
          <a:prstGeom prst="roundRect">
            <a:avLst>
              <a:gd name="adj" fmla="val 3390"/>
            </a:avLst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Time bucket</a:t>
            </a:r>
            <a:endParaRPr lang="en-US" sz="1100" dirty="0"/>
          </a:p>
        </p:txBody>
      </p:sp>
      <p:sp>
        <p:nvSpPr>
          <p:cNvPr id="5" name="Shape 9">
            <a:extLst>
              <a:ext uri="{FF2B5EF4-FFF2-40B4-BE49-F238E27FC236}">
                <a16:creationId xmlns:a16="http://schemas.microsoft.com/office/drawing/2014/main" id="{ECC2CFD1-5119-32C4-08A5-34704C343C28}"/>
              </a:ext>
            </a:extLst>
          </p:cNvPr>
          <p:cNvSpPr/>
          <p:nvPr/>
        </p:nvSpPr>
        <p:spPr>
          <a:xfrm>
            <a:off x="1881810" y="2171059"/>
            <a:ext cx="1193363" cy="300518"/>
          </a:xfrm>
          <a:prstGeom prst="roundRect">
            <a:avLst>
              <a:gd name="adj" fmla="val 3390"/>
            </a:avLst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Signature</a:t>
            </a:r>
            <a:endParaRPr lang="en-US" sz="1100" dirty="0"/>
          </a:p>
        </p:txBody>
      </p:sp>
      <p:sp>
        <p:nvSpPr>
          <p:cNvPr id="6" name="Shape 9">
            <a:extLst>
              <a:ext uri="{FF2B5EF4-FFF2-40B4-BE49-F238E27FC236}">
                <a16:creationId xmlns:a16="http://schemas.microsoft.com/office/drawing/2014/main" id="{6907AE6F-A3EA-2556-DA47-37FBDEBE7662}"/>
              </a:ext>
            </a:extLst>
          </p:cNvPr>
          <p:cNvSpPr/>
          <p:nvPr/>
        </p:nvSpPr>
        <p:spPr>
          <a:xfrm>
            <a:off x="3246000" y="2178261"/>
            <a:ext cx="1193363" cy="300518"/>
          </a:xfrm>
          <a:prstGeom prst="roundRect">
            <a:avLst>
              <a:gd name="adj" fmla="val 3390"/>
            </a:avLst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L7 Protocol</a:t>
            </a:r>
            <a:endParaRPr lang="en-US" sz="11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68E0734-42B2-AE0B-DADB-6331D5713400}"/>
              </a:ext>
            </a:extLst>
          </p:cNvPr>
          <p:cNvGrpSpPr/>
          <p:nvPr/>
        </p:nvGrpSpPr>
        <p:grpSpPr>
          <a:xfrm>
            <a:off x="430676" y="4099007"/>
            <a:ext cx="3403600" cy="1567180"/>
            <a:chOff x="-75891" y="4391773"/>
            <a:chExt cx="3403600" cy="1567180"/>
          </a:xfrm>
        </p:grpSpPr>
        <p:sp>
          <p:nvSpPr>
            <p:cNvPr id="22" name="Shape 20">
              <a:extLst>
                <a:ext uri="{FF2B5EF4-FFF2-40B4-BE49-F238E27FC236}">
                  <a16:creationId xmlns:a16="http://schemas.microsoft.com/office/drawing/2014/main" id="{C74089DE-572B-4CBE-CF5A-DB5100B940FB}"/>
                </a:ext>
              </a:extLst>
            </p:cNvPr>
            <p:cNvSpPr/>
            <p:nvPr/>
          </p:nvSpPr>
          <p:spPr>
            <a:xfrm>
              <a:off x="-75891" y="4391773"/>
              <a:ext cx="3403600" cy="1567180"/>
            </a:xfrm>
            <a:custGeom>
              <a:avLst/>
              <a:gdLst/>
              <a:ahLst/>
              <a:cxnLst/>
              <a:rect l="l" t="t" r="r" b="b"/>
              <a:pathLst>
                <a:path w="3403600" h="1567180">
                  <a:moveTo>
                    <a:pt x="50800" y="1567180"/>
                  </a:moveTo>
                  <a:lnTo>
                    <a:pt x="50800" y="1567180"/>
                  </a:lnTo>
                  <a:arcTo wR="50800" hR="50800" stAng="5400000" swAng="5400000"/>
                  <a:lnTo>
                    <a:pt x="0" y="50800"/>
                  </a:lnTo>
                  <a:arcTo wR="50800" hR="50800" stAng="10800000" swAng="5400000"/>
                  <a:lnTo>
                    <a:pt x="50800" y="0"/>
                  </a:lnTo>
                  <a:arcTo wR="25400" hR="50800" stAng="16200000" swAng="-5400000"/>
                  <a:lnTo>
                    <a:pt x="25400" y="1516380"/>
                  </a:lnTo>
                  <a:arcTo wR="25400" hR="50800" stAng="10800000" swAng="-5400000"/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383C6209-EC65-286E-47B8-B7B3638514A8}"/>
                </a:ext>
              </a:extLst>
            </p:cNvPr>
            <p:cNvSpPr/>
            <p:nvPr/>
          </p:nvSpPr>
          <p:spPr>
            <a:xfrm>
              <a:off x="152709" y="4426872"/>
              <a:ext cx="3060954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540"/>
                </a:lnSpc>
                <a:buNone/>
              </a:pPr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Payload entropy (L7 only)</a:t>
              </a:r>
              <a:endParaRPr lang="en-US" sz="14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B3ED6AA3-6428-FEE7-B60F-5866D5362279}"/>
                </a:ext>
              </a:extLst>
            </p:cNvPr>
            <p:cNvSpPr/>
            <p:nvPr/>
          </p:nvSpPr>
          <p:spPr>
            <a:xfrm>
              <a:off x="152709" y="4765152"/>
              <a:ext cx="3060954" cy="1041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sz="1000" dirty="0">
                  <a:latin typeface="IBM Plex Mono" pitchFamily="34" charset="0"/>
                </a:rPr>
                <a:t>Better indication about legitimate payload and malicious, encrypted payload</a:t>
              </a:r>
            </a:p>
            <a:p>
              <a:pPr marL="0" indent="0" algn="l">
                <a:lnSpc>
                  <a:spcPts val="1600"/>
                </a:lnSpc>
                <a:buNone/>
              </a:pPr>
              <a:r>
                <a:rPr lang="en-US" sz="1000" dirty="0">
                  <a:latin typeface="IBM Plex Mono" pitchFamily="34" charset="0"/>
                </a:rPr>
                <a:t>LOW, MEDIUM, HIGH, VERY HIGH </a:t>
              </a:r>
              <a:endParaRPr lang="en-US" sz="10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B3F00EA-788B-1718-2475-1E096F2C3102}"/>
              </a:ext>
            </a:extLst>
          </p:cNvPr>
          <p:cNvGrpSpPr/>
          <p:nvPr/>
        </p:nvGrpSpPr>
        <p:grpSpPr>
          <a:xfrm>
            <a:off x="430676" y="3048788"/>
            <a:ext cx="5606574" cy="865288"/>
            <a:chOff x="430676" y="3048788"/>
            <a:chExt cx="5606574" cy="865288"/>
          </a:xfrm>
        </p:grpSpPr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458EBE28-7A88-57FD-F032-AB8027208086}"/>
                </a:ext>
              </a:extLst>
            </p:cNvPr>
            <p:cNvSpPr/>
            <p:nvPr/>
          </p:nvSpPr>
          <p:spPr>
            <a:xfrm>
              <a:off x="619757" y="3175391"/>
              <a:ext cx="5417493" cy="7386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Signature: </a:t>
              </a:r>
              <a:r>
                <a:rPr lang="en-US" sz="1100" dirty="0">
                  <a:latin typeface="IBM Plex Mono" panose="020B0509050203000203" pitchFamily="49" charset="0"/>
                </a:rPr>
                <a:t>protocol-specific structural state: TCP state machine output ("SYN", "SYN-ACK", "ACK_HANDSHAKE", "DATA", "FIN", "RST"), or for other protocols a composite like "ICMP:8:0", "ARP:2:aa:bb:cc"</a:t>
              </a:r>
              <a:endParaRPr lang="en-US" sz="1100" b="1" dirty="0">
                <a:solidFill>
                  <a:schemeClr val="accent2">
                    <a:lumMod val="75000"/>
                  </a:schemeClr>
                </a:solidFill>
                <a:latin typeface="IBM Plex Mono" panose="020B0509050203000203" pitchFamily="49" charset="0"/>
              </a:endParaRPr>
            </a:p>
          </p:txBody>
        </p:sp>
        <p:sp>
          <p:nvSpPr>
            <p:cNvPr id="17" name="Shape 20">
              <a:extLst>
                <a:ext uri="{FF2B5EF4-FFF2-40B4-BE49-F238E27FC236}">
                  <a16:creationId xmlns:a16="http://schemas.microsoft.com/office/drawing/2014/main" id="{3CC59B8E-CE97-65CE-2597-3060134F82C4}"/>
                </a:ext>
              </a:extLst>
            </p:cNvPr>
            <p:cNvSpPr/>
            <p:nvPr/>
          </p:nvSpPr>
          <p:spPr>
            <a:xfrm>
              <a:off x="430676" y="3048788"/>
              <a:ext cx="5486708" cy="852844"/>
            </a:xfrm>
            <a:custGeom>
              <a:avLst/>
              <a:gdLst/>
              <a:ahLst/>
              <a:cxnLst/>
              <a:rect l="l" t="t" r="r" b="b"/>
              <a:pathLst>
                <a:path w="3403600" h="1567180">
                  <a:moveTo>
                    <a:pt x="50800" y="1567180"/>
                  </a:moveTo>
                  <a:lnTo>
                    <a:pt x="50800" y="1567180"/>
                  </a:lnTo>
                  <a:arcTo wR="50800" hR="50800" stAng="5400000" swAng="5400000"/>
                  <a:lnTo>
                    <a:pt x="0" y="50800"/>
                  </a:lnTo>
                  <a:arcTo wR="50800" hR="50800" stAng="10800000" swAng="5400000"/>
                  <a:lnTo>
                    <a:pt x="50800" y="0"/>
                  </a:lnTo>
                  <a:arcTo wR="25400" hR="50800" stAng="16200000" swAng="-5400000"/>
                  <a:lnTo>
                    <a:pt x="25400" y="1516380"/>
                  </a:lnTo>
                  <a:arcTo wR="25400" hR="50800" stAng="10800000" swAng="-5400000"/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57F56E0-3E35-DCF9-DA68-69EB850321BD}"/>
              </a:ext>
            </a:extLst>
          </p:cNvPr>
          <p:cNvGrpSpPr/>
          <p:nvPr/>
        </p:nvGrpSpPr>
        <p:grpSpPr>
          <a:xfrm>
            <a:off x="3856391" y="4040679"/>
            <a:ext cx="3403600" cy="1567180"/>
            <a:chOff x="7969527" y="4455103"/>
            <a:chExt cx="3403600" cy="1567180"/>
          </a:xfrm>
        </p:grpSpPr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6516C004-0B61-8F01-E1D7-61B854ACFD14}"/>
                </a:ext>
              </a:extLst>
            </p:cNvPr>
            <p:cNvSpPr/>
            <p:nvPr/>
          </p:nvSpPr>
          <p:spPr>
            <a:xfrm>
              <a:off x="7969527" y="4455103"/>
              <a:ext cx="3403600" cy="1567180"/>
            </a:xfrm>
            <a:prstGeom prst="roundRect">
              <a:avLst>
                <a:gd name="adj" fmla="val 3241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24">
              <a:extLst>
                <a:ext uri="{FF2B5EF4-FFF2-40B4-BE49-F238E27FC236}">
                  <a16:creationId xmlns:a16="http://schemas.microsoft.com/office/drawing/2014/main" id="{95F2A636-EF48-71D4-5139-E8BD3DCB8B61}"/>
                </a:ext>
              </a:extLst>
            </p:cNvPr>
            <p:cNvSpPr/>
            <p:nvPr/>
          </p:nvSpPr>
          <p:spPr>
            <a:xfrm>
              <a:off x="7969527" y="4455103"/>
              <a:ext cx="3403600" cy="1567180"/>
            </a:xfrm>
            <a:custGeom>
              <a:avLst/>
              <a:gdLst/>
              <a:ahLst/>
              <a:cxnLst/>
              <a:rect l="l" t="t" r="r" b="b"/>
              <a:pathLst>
                <a:path w="3403600" h="1567180">
                  <a:moveTo>
                    <a:pt x="50800" y="1567180"/>
                  </a:moveTo>
                  <a:lnTo>
                    <a:pt x="50800" y="1567180"/>
                  </a:lnTo>
                  <a:arcTo wR="50800" hR="50800" stAng="5400000" swAng="5400000"/>
                  <a:lnTo>
                    <a:pt x="0" y="50800"/>
                  </a:lnTo>
                  <a:arcTo wR="50800" hR="50800" stAng="10800000" swAng="5400000"/>
                  <a:lnTo>
                    <a:pt x="50800" y="0"/>
                  </a:lnTo>
                  <a:arcTo wR="25400" hR="50800" stAng="16200000" swAng="-5400000"/>
                  <a:lnTo>
                    <a:pt x="25400" y="1516380"/>
                  </a:lnTo>
                  <a:arcTo wR="25400" hR="50800" stAng="10800000" swAng="-5400000"/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C2798914-86A4-ADB7-212B-8CEBF9AF5564}"/>
                </a:ext>
              </a:extLst>
            </p:cNvPr>
            <p:cNvSpPr/>
            <p:nvPr/>
          </p:nvSpPr>
          <p:spPr>
            <a:xfrm>
              <a:off x="8198127" y="4632903"/>
              <a:ext cx="3060954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540"/>
                </a:lnSpc>
                <a:buNone/>
              </a:pPr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Temporal buckets</a:t>
              </a:r>
              <a:endParaRPr lang="en-US" sz="14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43A7EA36-53CC-E490-BAA3-771815175AD4}"/>
                </a:ext>
              </a:extLst>
            </p:cNvPr>
            <p:cNvSpPr/>
            <p:nvPr/>
          </p:nvSpPr>
          <p:spPr>
            <a:xfrm>
              <a:off x="8198127" y="4828482"/>
              <a:ext cx="3060954" cy="1041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sz="1000" dirty="0"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time_bucket = ⌊timestamp / Δt⌋</a:t>
              </a:r>
              <a:endParaRPr lang="en-US" sz="1000" dirty="0"/>
            </a:p>
            <a:p>
              <a:pPr marL="0" indent="0" algn="l">
                <a:lnSpc>
                  <a:spcPts val="1600"/>
                </a:lnSpc>
                <a:buNone/>
              </a:pPr>
              <a:r>
                <a:rPr lang="en-US" sz="1000" dirty="0"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Same attack, hours apart → different clusters</a:t>
              </a:r>
              <a:endParaRPr lang="en-US" sz="1000" dirty="0"/>
            </a:p>
            <a:p>
              <a:pPr marL="0" indent="0" algn="l">
                <a:lnSpc>
                  <a:spcPts val="1600"/>
                </a:lnSpc>
                <a:buNone/>
              </a:pPr>
              <a:r>
                <a:rPr lang="en-US" sz="1000" dirty="0"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Same attack, same wave → same cluster</a:t>
              </a:r>
              <a:endParaRPr lang="en-US" sz="1000" dirty="0"/>
            </a:p>
            <a:p>
              <a:pPr marL="0" indent="0" algn="l">
                <a:lnSpc>
                  <a:spcPts val="1600"/>
                </a:lnSpc>
                <a:buNone/>
              </a:pPr>
              <a:r>
                <a:rPr lang="en-US" sz="1000" dirty="0"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Δt tunable (default 300s)</a:t>
              </a:r>
              <a:endParaRPr lang="en-US" sz="1000" dirty="0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6BBFA1F6-AB4A-D9FC-86C8-CA39D1D87B84}"/>
              </a:ext>
            </a:extLst>
          </p:cNvPr>
          <p:cNvSpPr txBox="1"/>
          <p:nvPr/>
        </p:nvSpPr>
        <p:spPr>
          <a:xfrm>
            <a:off x="7282106" y="1652508"/>
            <a:ext cx="4556205" cy="4658082"/>
          </a:xfrm>
          <a:prstGeom prst="round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800" b="1" dirty="0">
                <a:latin typeface="IBM Plex Mono" panose="020B0509050203000203" pitchFamily="49" charset="0"/>
              </a:rPr>
              <a:t>Over Segmentation </a:t>
            </a:r>
          </a:p>
          <a:p>
            <a:pPr algn="ctr" rtl="0">
              <a:buNone/>
            </a:pPr>
            <a:r>
              <a:rPr lang="en-US" sz="1800" b="1" dirty="0">
                <a:latin typeface="IBM Plex Mono" panose="020B0509050203000203" pitchFamily="49" charset="0"/>
              </a:rPr>
              <a:t>(clusters too small)</a:t>
            </a:r>
            <a:r>
              <a:rPr lang="en-US" sz="1800" dirty="0">
                <a:latin typeface="IBM Plex Mono" panose="020B0509050203000203" pitchFamily="49" charset="0"/>
              </a:rPr>
              <a:t> </a:t>
            </a:r>
          </a:p>
          <a:p>
            <a:pPr algn="ctr" rtl="0">
              <a:buNone/>
            </a:pPr>
            <a:endParaRPr lang="en-US" dirty="0">
              <a:latin typeface="IBM Plex Mono" panose="020B0509050203000203" pitchFamily="49" charset="0"/>
            </a:endParaRPr>
          </a:p>
          <a:p>
            <a:pPr algn="ctr" rtl="0">
              <a:buNone/>
            </a:pPr>
            <a:r>
              <a:rPr lang="en-US" dirty="0">
                <a:latin typeface="IBM Plex Mono" panose="020B0509050203000203" pitchFamily="49" charset="0"/>
              </a:rPr>
              <a:t>Splitting</a:t>
            </a:r>
            <a:r>
              <a:rPr lang="en-US" sz="1800" dirty="0">
                <a:latin typeface="IBM Plex Mono" panose="020B0509050203000203" pitchFamily="49" charset="0"/>
              </a:rPr>
              <a:t> packets that represent the same "idea" into the many clusters </a:t>
            </a:r>
          </a:p>
          <a:p>
            <a:pPr rtl="0">
              <a:buNone/>
            </a:pPr>
            <a:endParaRPr lang="en-US" dirty="0">
              <a:latin typeface="IBM Plex Mono" panose="020B0509050203000203" pitchFamily="49" charset="0"/>
            </a:endParaRPr>
          </a:p>
          <a:p>
            <a:pPr rtl="0">
              <a:buNone/>
            </a:pPr>
            <a:r>
              <a:rPr lang="en-U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IBM Plex Mono" panose="020B0509050203000203" pitchFamily="49" charset="0"/>
              </a:rPr>
              <a:t>For example:</a:t>
            </a: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IBM Plex Mono" panose="020B0509050203000203" pitchFamily="49" charset="0"/>
              </a:rPr>
              <a:t>if we include the source IP in the fingerprint, each unique attacker in a DDoS gets its own cluster - instead of one "flood" cluster you get thousands of singleton clusters.</a:t>
            </a:r>
          </a:p>
        </p:txBody>
      </p:sp>
    </p:spTree>
    <p:extLst>
      <p:ext uri="{BB962C8B-B14F-4D97-AF65-F5344CB8AC3E}">
        <p14:creationId xmlns:p14="http://schemas.microsoft.com/office/powerpoint/2010/main" val="75390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7" grpId="0" animBg="1"/>
      <p:bldP spid="8" grpId="0" animBg="1"/>
      <p:bldP spid="9" grpId="0" animBg="1"/>
      <p:bldP spid="5" grpId="0" animBg="1"/>
      <p:bldP spid="6" grpId="0" animBg="1"/>
      <p:bldP spid="3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56A38E-A8FA-04EE-7CAD-FA8A90D3C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F4E6F97-1DB8-E2EE-10E2-768249DAA056}"/>
              </a:ext>
            </a:extLst>
          </p:cNvPr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A24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Layers 1–2 – Analyzing Packets and Fingerprinting</a:t>
            </a:r>
            <a:endParaRPr lang="en-US" sz="3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C988F6B-7DE9-B24C-97BD-CD99A8FD347A}"/>
              </a:ext>
            </a:extLst>
          </p:cNvPr>
          <p:cNvSpPr/>
          <p:nvPr/>
        </p:nvSpPr>
        <p:spPr>
          <a:xfrm>
            <a:off x="526107" y="1802340"/>
            <a:ext cx="53501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24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Fingerprint key</a:t>
            </a:r>
            <a:endParaRPr lang="en-US" sz="14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A08C2BF-56CF-3930-F497-BFB97157CC7B}"/>
              </a:ext>
            </a:extLst>
          </p:cNvPr>
          <p:cNvSpPr/>
          <p:nvPr/>
        </p:nvSpPr>
        <p:spPr>
          <a:xfrm>
            <a:off x="526107" y="2178261"/>
            <a:ext cx="1193363" cy="300518"/>
          </a:xfrm>
          <a:prstGeom prst="roundRect">
            <a:avLst>
              <a:gd name="adj" fmla="val 3390"/>
            </a:avLst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L4 Protocol</a:t>
            </a:r>
            <a:endParaRPr lang="en-US" sz="1100" dirty="0"/>
          </a:p>
        </p:txBody>
      </p:sp>
      <p:sp>
        <p:nvSpPr>
          <p:cNvPr id="7" name="Shape 9">
            <a:extLst>
              <a:ext uri="{FF2B5EF4-FFF2-40B4-BE49-F238E27FC236}">
                <a16:creationId xmlns:a16="http://schemas.microsoft.com/office/drawing/2014/main" id="{CB2B386C-A103-07CB-3B9E-DF9F3FC6B5CF}"/>
              </a:ext>
            </a:extLst>
          </p:cNvPr>
          <p:cNvSpPr/>
          <p:nvPr/>
        </p:nvSpPr>
        <p:spPr>
          <a:xfrm>
            <a:off x="4593216" y="2175711"/>
            <a:ext cx="1193363" cy="300518"/>
          </a:xfrm>
          <a:prstGeom prst="roundRect">
            <a:avLst>
              <a:gd name="adj" fmla="val 3390"/>
            </a:avLst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DST PORT</a:t>
            </a:r>
            <a:endParaRPr lang="en-US" sz="1100" dirty="0"/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EF49040F-A328-DC1A-A0BF-CDF8A977F6A3}"/>
              </a:ext>
            </a:extLst>
          </p:cNvPr>
          <p:cNvSpPr/>
          <p:nvPr/>
        </p:nvSpPr>
        <p:spPr>
          <a:xfrm>
            <a:off x="526106" y="2686260"/>
            <a:ext cx="2549067" cy="274320"/>
          </a:xfrm>
          <a:prstGeom prst="roundRect">
            <a:avLst>
              <a:gd name="adj" fmla="val 3390"/>
            </a:avLst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Entropy bucket</a:t>
            </a:r>
            <a:endParaRPr lang="en-US" sz="1100" dirty="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EE71D407-5609-86A9-4781-91A3D23ED874}"/>
              </a:ext>
            </a:extLst>
          </p:cNvPr>
          <p:cNvSpPr/>
          <p:nvPr/>
        </p:nvSpPr>
        <p:spPr>
          <a:xfrm>
            <a:off x="3206509" y="2686260"/>
            <a:ext cx="2549067" cy="274320"/>
          </a:xfrm>
          <a:prstGeom prst="roundRect">
            <a:avLst>
              <a:gd name="adj" fmla="val 3390"/>
            </a:avLst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Time bucket</a:t>
            </a:r>
            <a:endParaRPr lang="en-US" sz="1100" dirty="0"/>
          </a:p>
        </p:txBody>
      </p:sp>
      <p:sp>
        <p:nvSpPr>
          <p:cNvPr id="5" name="Shape 9">
            <a:extLst>
              <a:ext uri="{FF2B5EF4-FFF2-40B4-BE49-F238E27FC236}">
                <a16:creationId xmlns:a16="http://schemas.microsoft.com/office/drawing/2014/main" id="{68A2A6E7-F9AA-8DC8-E482-1F49F8A46CEA}"/>
              </a:ext>
            </a:extLst>
          </p:cNvPr>
          <p:cNvSpPr/>
          <p:nvPr/>
        </p:nvSpPr>
        <p:spPr>
          <a:xfrm>
            <a:off x="1881810" y="2171059"/>
            <a:ext cx="1193363" cy="300518"/>
          </a:xfrm>
          <a:prstGeom prst="roundRect">
            <a:avLst>
              <a:gd name="adj" fmla="val 3390"/>
            </a:avLst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Signature</a:t>
            </a:r>
            <a:endParaRPr lang="en-US" sz="1100" dirty="0"/>
          </a:p>
        </p:txBody>
      </p:sp>
      <p:sp>
        <p:nvSpPr>
          <p:cNvPr id="6" name="Shape 9">
            <a:extLst>
              <a:ext uri="{FF2B5EF4-FFF2-40B4-BE49-F238E27FC236}">
                <a16:creationId xmlns:a16="http://schemas.microsoft.com/office/drawing/2014/main" id="{119422A4-2E3E-4727-B61D-0ED027C62F32}"/>
              </a:ext>
            </a:extLst>
          </p:cNvPr>
          <p:cNvSpPr/>
          <p:nvPr/>
        </p:nvSpPr>
        <p:spPr>
          <a:xfrm>
            <a:off x="3246000" y="2178261"/>
            <a:ext cx="1193363" cy="300518"/>
          </a:xfrm>
          <a:prstGeom prst="roundRect">
            <a:avLst>
              <a:gd name="adj" fmla="val 3390"/>
            </a:avLst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L7 Protocol</a:t>
            </a:r>
            <a:endParaRPr lang="en-US" sz="11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463A549-C2BF-7583-96FA-6C2B847812D7}"/>
              </a:ext>
            </a:extLst>
          </p:cNvPr>
          <p:cNvGrpSpPr/>
          <p:nvPr/>
        </p:nvGrpSpPr>
        <p:grpSpPr>
          <a:xfrm>
            <a:off x="430676" y="4099007"/>
            <a:ext cx="3403600" cy="1567180"/>
            <a:chOff x="-75891" y="4391773"/>
            <a:chExt cx="3403600" cy="1567180"/>
          </a:xfrm>
        </p:grpSpPr>
        <p:sp>
          <p:nvSpPr>
            <p:cNvPr id="22" name="Shape 20">
              <a:extLst>
                <a:ext uri="{FF2B5EF4-FFF2-40B4-BE49-F238E27FC236}">
                  <a16:creationId xmlns:a16="http://schemas.microsoft.com/office/drawing/2014/main" id="{B638615F-BB07-BD73-1C7D-E21254F06A8B}"/>
                </a:ext>
              </a:extLst>
            </p:cNvPr>
            <p:cNvSpPr/>
            <p:nvPr/>
          </p:nvSpPr>
          <p:spPr>
            <a:xfrm>
              <a:off x="-75891" y="4391773"/>
              <a:ext cx="3403600" cy="1567180"/>
            </a:xfrm>
            <a:custGeom>
              <a:avLst/>
              <a:gdLst/>
              <a:ahLst/>
              <a:cxnLst/>
              <a:rect l="l" t="t" r="r" b="b"/>
              <a:pathLst>
                <a:path w="3403600" h="1567180">
                  <a:moveTo>
                    <a:pt x="50800" y="1567180"/>
                  </a:moveTo>
                  <a:lnTo>
                    <a:pt x="50800" y="1567180"/>
                  </a:lnTo>
                  <a:arcTo wR="50800" hR="50800" stAng="5400000" swAng="5400000"/>
                  <a:lnTo>
                    <a:pt x="0" y="50800"/>
                  </a:lnTo>
                  <a:arcTo wR="50800" hR="50800" stAng="10800000" swAng="5400000"/>
                  <a:lnTo>
                    <a:pt x="50800" y="0"/>
                  </a:lnTo>
                  <a:arcTo wR="25400" hR="50800" stAng="16200000" swAng="-5400000"/>
                  <a:lnTo>
                    <a:pt x="25400" y="1516380"/>
                  </a:lnTo>
                  <a:arcTo wR="25400" hR="50800" stAng="10800000" swAng="-5400000"/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7A67C95D-36FB-393A-9002-3786BFEC70B6}"/>
                </a:ext>
              </a:extLst>
            </p:cNvPr>
            <p:cNvSpPr/>
            <p:nvPr/>
          </p:nvSpPr>
          <p:spPr>
            <a:xfrm>
              <a:off x="152709" y="4426872"/>
              <a:ext cx="3060954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540"/>
                </a:lnSpc>
                <a:buNone/>
              </a:pPr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Payload entropy (L7 only)</a:t>
              </a:r>
              <a:endParaRPr lang="en-US" sz="14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38F383BE-81CF-6AB4-A67B-DDBBDD062E50}"/>
                </a:ext>
              </a:extLst>
            </p:cNvPr>
            <p:cNvSpPr/>
            <p:nvPr/>
          </p:nvSpPr>
          <p:spPr>
            <a:xfrm>
              <a:off x="152709" y="4765152"/>
              <a:ext cx="3060954" cy="1041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sz="1000" dirty="0">
                  <a:latin typeface="IBM Plex Mono" pitchFamily="34" charset="0"/>
                </a:rPr>
                <a:t>Better indication about legitimate payload and malicious, encrypted payload</a:t>
              </a:r>
            </a:p>
            <a:p>
              <a:pPr>
                <a:lnSpc>
                  <a:spcPts val="1600"/>
                </a:lnSpc>
              </a:pPr>
              <a:r>
                <a:rPr lang="en-US" sz="1000" dirty="0">
                  <a:latin typeface="IBM Plex Mono" pitchFamily="34" charset="0"/>
                </a:rPr>
                <a:t>LOW, MEDIUM, HIGH, VERY HIGH </a:t>
              </a:r>
              <a:endParaRPr lang="en-US" sz="1000" dirty="0"/>
            </a:p>
            <a:p>
              <a:pPr marL="0" indent="0" algn="l">
                <a:lnSpc>
                  <a:spcPts val="1600"/>
                </a:lnSpc>
                <a:buNone/>
              </a:pPr>
              <a:r>
                <a:rPr lang="en-US" sz="1000" dirty="0">
                  <a:latin typeface="IBM Plex Mono" pitchFamily="34" charset="0"/>
                </a:rPr>
                <a:t> </a:t>
              </a:r>
              <a:endParaRPr lang="en-US" sz="10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39A9437-F055-D4DE-E62F-9D04CA23C03E}"/>
              </a:ext>
            </a:extLst>
          </p:cNvPr>
          <p:cNvGrpSpPr/>
          <p:nvPr/>
        </p:nvGrpSpPr>
        <p:grpSpPr>
          <a:xfrm>
            <a:off x="430676" y="3048788"/>
            <a:ext cx="5606574" cy="865288"/>
            <a:chOff x="430676" y="3048788"/>
            <a:chExt cx="5606574" cy="865288"/>
          </a:xfrm>
        </p:grpSpPr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4EF3F81D-6442-E28D-36BF-9982AF9587AF}"/>
                </a:ext>
              </a:extLst>
            </p:cNvPr>
            <p:cNvSpPr/>
            <p:nvPr/>
          </p:nvSpPr>
          <p:spPr>
            <a:xfrm>
              <a:off x="619757" y="3175391"/>
              <a:ext cx="5417493" cy="7386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Signature: </a:t>
              </a:r>
              <a:r>
                <a:rPr lang="en-US" sz="1100" dirty="0">
                  <a:latin typeface="IBM Plex Mono" panose="020B0509050203000203" pitchFamily="49" charset="0"/>
                </a:rPr>
                <a:t>protocol-specific structural state: TCP state machine output ("SYN", "SYN-ACK", "ACK_HANDSHAKE", "DATA", "FIN", "RST"), or for other protocols a composite like "ICMP:8:0", "ARP:2:aa:bb:cc"</a:t>
              </a:r>
              <a:endParaRPr lang="en-US" sz="1100" b="1" dirty="0">
                <a:solidFill>
                  <a:schemeClr val="accent2">
                    <a:lumMod val="75000"/>
                  </a:schemeClr>
                </a:solidFill>
                <a:latin typeface="IBM Plex Mono" panose="020B0509050203000203" pitchFamily="49" charset="0"/>
              </a:endParaRPr>
            </a:p>
          </p:txBody>
        </p:sp>
        <p:sp>
          <p:nvSpPr>
            <p:cNvPr id="17" name="Shape 20">
              <a:extLst>
                <a:ext uri="{FF2B5EF4-FFF2-40B4-BE49-F238E27FC236}">
                  <a16:creationId xmlns:a16="http://schemas.microsoft.com/office/drawing/2014/main" id="{2A636E6D-EE4A-568B-92FC-C9CFD91FC257}"/>
                </a:ext>
              </a:extLst>
            </p:cNvPr>
            <p:cNvSpPr/>
            <p:nvPr/>
          </p:nvSpPr>
          <p:spPr>
            <a:xfrm>
              <a:off x="430676" y="3048788"/>
              <a:ext cx="5486708" cy="852844"/>
            </a:xfrm>
            <a:custGeom>
              <a:avLst/>
              <a:gdLst/>
              <a:ahLst/>
              <a:cxnLst/>
              <a:rect l="l" t="t" r="r" b="b"/>
              <a:pathLst>
                <a:path w="3403600" h="1567180">
                  <a:moveTo>
                    <a:pt x="50800" y="1567180"/>
                  </a:moveTo>
                  <a:lnTo>
                    <a:pt x="50800" y="1567180"/>
                  </a:lnTo>
                  <a:arcTo wR="50800" hR="50800" stAng="5400000" swAng="5400000"/>
                  <a:lnTo>
                    <a:pt x="0" y="50800"/>
                  </a:lnTo>
                  <a:arcTo wR="50800" hR="50800" stAng="10800000" swAng="5400000"/>
                  <a:lnTo>
                    <a:pt x="50800" y="0"/>
                  </a:lnTo>
                  <a:arcTo wR="25400" hR="50800" stAng="16200000" swAng="-5400000"/>
                  <a:lnTo>
                    <a:pt x="25400" y="1516380"/>
                  </a:lnTo>
                  <a:arcTo wR="25400" hR="50800" stAng="10800000" swAng="-5400000"/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CACBF82-63EC-3588-E91B-9CEB9C30ABE4}"/>
              </a:ext>
            </a:extLst>
          </p:cNvPr>
          <p:cNvGrpSpPr/>
          <p:nvPr/>
        </p:nvGrpSpPr>
        <p:grpSpPr>
          <a:xfrm>
            <a:off x="3856391" y="4040679"/>
            <a:ext cx="3403600" cy="1567180"/>
            <a:chOff x="7969527" y="4455103"/>
            <a:chExt cx="3403600" cy="1567180"/>
          </a:xfrm>
        </p:grpSpPr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E38E88F0-3769-F1AC-B1F8-372CD892B740}"/>
                </a:ext>
              </a:extLst>
            </p:cNvPr>
            <p:cNvSpPr/>
            <p:nvPr/>
          </p:nvSpPr>
          <p:spPr>
            <a:xfrm>
              <a:off x="7969527" y="4455103"/>
              <a:ext cx="3403600" cy="1567180"/>
            </a:xfrm>
            <a:prstGeom prst="roundRect">
              <a:avLst>
                <a:gd name="adj" fmla="val 3241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24">
              <a:extLst>
                <a:ext uri="{FF2B5EF4-FFF2-40B4-BE49-F238E27FC236}">
                  <a16:creationId xmlns:a16="http://schemas.microsoft.com/office/drawing/2014/main" id="{541F9A37-7DC0-6123-1D49-AC6898741183}"/>
                </a:ext>
              </a:extLst>
            </p:cNvPr>
            <p:cNvSpPr/>
            <p:nvPr/>
          </p:nvSpPr>
          <p:spPr>
            <a:xfrm>
              <a:off x="7969527" y="4455103"/>
              <a:ext cx="3403600" cy="1567180"/>
            </a:xfrm>
            <a:custGeom>
              <a:avLst/>
              <a:gdLst/>
              <a:ahLst/>
              <a:cxnLst/>
              <a:rect l="l" t="t" r="r" b="b"/>
              <a:pathLst>
                <a:path w="3403600" h="1567180">
                  <a:moveTo>
                    <a:pt x="50800" y="1567180"/>
                  </a:moveTo>
                  <a:lnTo>
                    <a:pt x="50800" y="1567180"/>
                  </a:lnTo>
                  <a:arcTo wR="50800" hR="50800" stAng="5400000" swAng="5400000"/>
                  <a:lnTo>
                    <a:pt x="0" y="50800"/>
                  </a:lnTo>
                  <a:arcTo wR="50800" hR="50800" stAng="10800000" swAng="5400000"/>
                  <a:lnTo>
                    <a:pt x="50800" y="0"/>
                  </a:lnTo>
                  <a:arcTo wR="25400" hR="50800" stAng="16200000" swAng="-5400000"/>
                  <a:lnTo>
                    <a:pt x="25400" y="1516380"/>
                  </a:lnTo>
                  <a:arcTo wR="25400" hR="50800" stAng="10800000" swAng="-5400000"/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142F82AA-80E5-96E9-1C33-155BF1F5C3E1}"/>
                </a:ext>
              </a:extLst>
            </p:cNvPr>
            <p:cNvSpPr/>
            <p:nvPr/>
          </p:nvSpPr>
          <p:spPr>
            <a:xfrm>
              <a:off x="8198127" y="4632903"/>
              <a:ext cx="3060954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540"/>
                </a:lnSpc>
                <a:buNone/>
              </a:pPr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Temporal buckets</a:t>
              </a:r>
              <a:endParaRPr lang="en-US" sz="14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103A23FD-2294-F387-E551-07809E9B92DB}"/>
                </a:ext>
              </a:extLst>
            </p:cNvPr>
            <p:cNvSpPr/>
            <p:nvPr/>
          </p:nvSpPr>
          <p:spPr>
            <a:xfrm>
              <a:off x="8198127" y="4828482"/>
              <a:ext cx="3060954" cy="1041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sz="1000" dirty="0"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time_bucket = ⌊timestamp / Δt⌋</a:t>
              </a:r>
              <a:endParaRPr lang="en-US" sz="1000" dirty="0"/>
            </a:p>
            <a:p>
              <a:pPr marL="0" indent="0" algn="l">
                <a:lnSpc>
                  <a:spcPts val="1600"/>
                </a:lnSpc>
                <a:buNone/>
              </a:pPr>
              <a:r>
                <a:rPr lang="en-US" sz="1000" dirty="0"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Same attack, hours apart → different clusters</a:t>
              </a:r>
              <a:endParaRPr lang="en-US" sz="1000" dirty="0"/>
            </a:p>
            <a:p>
              <a:pPr marL="0" indent="0" algn="l">
                <a:lnSpc>
                  <a:spcPts val="1600"/>
                </a:lnSpc>
                <a:buNone/>
              </a:pPr>
              <a:r>
                <a:rPr lang="en-US" sz="1000" dirty="0"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Same attack, same wave → same cluster</a:t>
              </a:r>
              <a:endParaRPr lang="en-US" sz="1000" dirty="0"/>
            </a:p>
            <a:p>
              <a:pPr marL="0" indent="0" algn="l">
                <a:lnSpc>
                  <a:spcPts val="1600"/>
                </a:lnSpc>
                <a:buNone/>
              </a:pPr>
              <a:r>
                <a:rPr lang="en-US" sz="1000" dirty="0"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Δt tunable (default 300s)</a:t>
              </a:r>
              <a:endParaRPr lang="en-US" sz="1000" dirty="0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53E4329A-BD9E-5E6F-B281-75594432AC83}"/>
              </a:ext>
            </a:extLst>
          </p:cNvPr>
          <p:cNvSpPr txBox="1"/>
          <p:nvPr/>
        </p:nvSpPr>
        <p:spPr>
          <a:xfrm>
            <a:off x="7282106" y="1652508"/>
            <a:ext cx="4556205" cy="4392692"/>
          </a:xfrm>
          <a:prstGeom prst="round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IBM Plex Mono" panose="020B0509050203000203" pitchFamily="49" charset="0"/>
              </a:rPr>
              <a:t>Under Segmentation </a:t>
            </a:r>
          </a:p>
          <a:p>
            <a:pPr algn="ctr"/>
            <a:r>
              <a:rPr lang="en-US" b="1" dirty="0">
                <a:latin typeface="IBM Plex Mono" panose="020B0509050203000203" pitchFamily="49" charset="0"/>
              </a:rPr>
              <a:t>(clusters too large)</a:t>
            </a:r>
            <a:r>
              <a:rPr lang="en-US" dirty="0">
                <a:latin typeface="IBM Plex Mono" panose="020B0509050203000203" pitchFamily="49" charset="0"/>
              </a:rPr>
              <a:t> </a:t>
            </a:r>
          </a:p>
          <a:p>
            <a:pPr algn="ctr"/>
            <a:endParaRPr lang="en-US" dirty="0">
              <a:latin typeface="IBM Plex Mono" panose="020B0509050203000203" pitchFamily="49" charset="0"/>
            </a:endParaRPr>
          </a:p>
          <a:p>
            <a:pPr algn="ctr"/>
            <a:r>
              <a:rPr lang="en-US" dirty="0">
                <a:latin typeface="IBM Plex Mono" panose="020B0509050203000203" pitchFamily="49" charset="0"/>
              </a:rPr>
              <a:t>Merging packets that represent different "ideas" into the same cluster. </a:t>
            </a:r>
          </a:p>
          <a:p>
            <a:endParaRPr lang="en-US" dirty="0">
              <a:latin typeface="IBM Plex Mono" panose="020B0509050203000203" pitchFamily="49" charset="0"/>
            </a:endParaRP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IBM Plex Mono" panose="020B0509050203000203" pitchFamily="49" charset="0"/>
              </a:rPr>
              <a:t>For example:</a:t>
            </a: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IBM Plex Mono" panose="020B0509050203000203" pitchFamily="49" charset="0"/>
              </a:rPr>
              <a:t>without temporal bucketing, two separate SYN flood waves hours apart collapse into one cluster, hiding the fact that the attack had distinct phases.</a:t>
            </a:r>
          </a:p>
        </p:txBody>
      </p:sp>
    </p:spTree>
    <p:extLst>
      <p:ext uri="{BB962C8B-B14F-4D97-AF65-F5344CB8AC3E}">
        <p14:creationId xmlns:p14="http://schemas.microsoft.com/office/powerpoint/2010/main" val="3952412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A24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Layer 4 — Metadata Analysis</a:t>
            </a:r>
            <a:endParaRPr lang="en-US" sz="32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71E014C-7536-D55A-0028-285A212EBB82}"/>
              </a:ext>
            </a:extLst>
          </p:cNvPr>
          <p:cNvGrpSpPr/>
          <p:nvPr/>
        </p:nvGrpSpPr>
        <p:grpSpPr>
          <a:xfrm>
            <a:off x="812800" y="1534161"/>
            <a:ext cx="2705100" cy="2123437"/>
            <a:chOff x="812800" y="1534161"/>
            <a:chExt cx="2705100" cy="2174236"/>
          </a:xfrm>
        </p:grpSpPr>
        <p:sp>
          <p:nvSpPr>
            <p:cNvPr id="3" name="Shape 1"/>
            <p:cNvSpPr/>
            <p:nvPr/>
          </p:nvSpPr>
          <p:spPr>
            <a:xfrm>
              <a:off x="812800" y="1534161"/>
              <a:ext cx="2527300" cy="1927860"/>
            </a:xfrm>
            <a:prstGeom prst="roundRect">
              <a:avLst>
                <a:gd name="adj" fmla="val 2635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812800" y="1534161"/>
              <a:ext cx="2527300" cy="1927860"/>
            </a:xfrm>
            <a:custGeom>
              <a:avLst/>
              <a:gdLst/>
              <a:ahLst/>
              <a:cxnLst/>
              <a:rect l="l" t="t" r="r" b="b"/>
              <a:pathLst>
                <a:path w="2527300" h="1927860">
                  <a:moveTo>
                    <a:pt x="0" y="50800"/>
                  </a:moveTo>
                  <a:lnTo>
                    <a:pt x="0" y="50800"/>
                  </a:lnTo>
                  <a:arcTo wR="50800" hR="50800" stAng="10800000" swAng="5400000"/>
                  <a:lnTo>
                    <a:pt x="2476500" y="0"/>
                  </a:lnTo>
                  <a:arcTo wR="50800" hR="50800" stAng="16200000" swAng="5400000"/>
                  <a:lnTo>
                    <a:pt x="2527300" y="50800"/>
                  </a:lnTo>
                  <a:arcTo wR="50800" hR="25400" stAng="0" swAng="-5400000"/>
                  <a:lnTo>
                    <a:pt x="50800" y="25400"/>
                  </a:lnTo>
                  <a:arcTo wR="50800" hR="25400" stAng="16200000" swAng="-5400000"/>
                  <a:close/>
                </a:path>
              </a:pathLst>
            </a:custGeom>
            <a:solidFill>
              <a:srgbClr val="3A7BD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 3"/>
            <p:cNvSpPr/>
            <p:nvPr/>
          </p:nvSpPr>
          <p:spPr>
            <a:xfrm>
              <a:off x="990600" y="1737361"/>
              <a:ext cx="2236851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85000" lnSpcReduction="10000"/>
            </a:bodyPr>
            <a:lstStyle/>
            <a:p>
              <a:pPr marL="0" indent="0" algn="l">
                <a:lnSpc>
                  <a:spcPts val="1540"/>
                </a:lnSpc>
                <a:buNone/>
              </a:pPr>
              <a:r>
                <a:rPr lang="en-US" sz="1100" b="1" dirty="0">
                  <a:solidFill>
                    <a:srgbClr val="3A7BD5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Relative Volume + TF-IDF weight</a:t>
              </a:r>
              <a:endParaRPr lang="en-US" sz="11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 4"/>
                <p:cNvSpPr/>
                <p:nvPr/>
              </p:nvSpPr>
              <p:spPr>
                <a:xfrm>
                  <a:off x="892998" y="1932938"/>
                  <a:ext cx="2624902" cy="1775459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>
                  <a:normAutofit/>
                </a:bodyPr>
                <a:lstStyle/>
                <a:p>
                  <a:r>
                    <a:rPr lang="en-US" sz="900" dirty="0">
                      <a:solidFill>
                        <a:srgbClr val="4A5568"/>
                      </a:solidFill>
                      <a:latin typeface="IBM Plex Mono" pitchFamily="34" charset="0"/>
                      <a:ea typeface="IBM Plex Mono" pitchFamily="34" charset="-122"/>
                      <a:cs typeface="IBM Plex Mono" pitchFamily="34" charset="-120"/>
                    </a:rPr>
                    <a:t>Measure </a:t>
                  </a:r>
                  <a:r>
                    <a:rPr lang="en-US" sz="900" dirty="0">
                      <a:solidFill>
                        <a:srgbClr val="4A5568"/>
                      </a:solidFill>
                      <a:latin typeface="IBM Plex Mono" pitchFamily="34" charset="0"/>
                    </a:rPr>
                    <a:t>how often a fingerprint appears as a fraction of all packets.</a:t>
                  </a:r>
                </a:p>
                <a:p>
                  <a:r>
                    <a:rPr lang="en-US" sz="900" dirty="0">
                      <a:solidFill>
                        <a:srgbClr val="4A5568"/>
                      </a:solidFill>
                      <a:latin typeface="IBM Plex Mono" pitchFamily="34" charset="0"/>
                    </a:rPr>
                    <a:t>How dominant is this cluster by volume?</a:t>
                  </a:r>
                </a:p>
                <a:p>
                  <a:endParaRPr lang="en-US" sz="900" dirty="0">
                    <a:solidFill>
                      <a:srgbClr val="4A5568"/>
                    </a:solidFill>
                    <a:latin typeface="IBM Plex Mono" pitchFamily="34" charset="0"/>
                  </a:endParaRPr>
                </a:p>
                <a:p>
                  <a:r>
                    <a:rPr lang="en-US" sz="900" b="1" dirty="0"/>
                    <a:t>PCAP = document, fingerprint = word, packet = word occurrence</a:t>
                  </a:r>
                  <a:r>
                    <a:rPr lang="en-US" sz="900" dirty="0"/>
                    <a:t>.</a:t>
                  </a:r>
                </a:p>
                <a:p>
                  <a:endParaRPr lang="en-US" sz="900" dirty="0"/>
                </a:p>
                <a:p>
                  <a:r>
                    <a:rPr lang="en-US" sz="900" dirty="0"/>
                    <a:t>Future: Baseline external corpus</a:t>
                  </a:r>
                  <a:endParaRPr lang="he-IL" sz="900" dirty="0"/>
                </a:p>
                <a:p>
                  <a:endParaRPr lang="he-IL" sz="900" dirty="0">
                    <a:solidFill>
                      <a:srgbClr val="4A5568"/>
                    </a:solidFill>
                    <a:latin typeface="IBM Plex Mono" pitchFamily="34" charset="0"/>
                  </a:endParaRPr>
                </a:p>
                <a:p>
                  <a14:m>
                    <m:oMathPara xmlns:m="http://schemas.openxmlformats.org/officeDocument/2006/math">
                      <m:oMath>
                        <m:r>
                          <a:rPr lang="en-US" sz="900" i="1" dirty="0" smtClean="0">
                            <a:latin typeface="Cambria Math" panose="02040503050406030204" pitchFamily="18" charset="0"/>
                          </a:rPr>
                          <m:t>𝐼𝐷𝐹</m:t>
                        </m:r>
                        <m:r>
                          <a:rPr lang="en-US" sz="900" i="1" dirty="0" smtClean="0">
                            <a:latin typeface="Cambria Math" panose="02040503050406030204" pitchFamily="18" charset="0"/>
                          </a:rPr>
                          <m:t> =</m:t>
                        </m:r>
                        <m:func>
                          <m:funcPr>
                            <m:ctrlPr>
                              <a:rPr lang="en-US" sz="900" i="0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900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9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900" i="1" dirty="0">
                                        <a:latin typeface="Cambria Math" panose="02040503050406030204" pitchFamily="18" charset="0"/>
                                      </a:rPr>
                                      <m:t>𝑡𝑜𝑡𝑎𝑙</m:t>
                                    </m:r>
                                    <m:r>
                                      <a:rPr lang="en-US" sz="900" i="1" dirty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900" i="1" dirty="0" err="1">
                                        <a:latin typeface="Cambria Math" panose="02040503050406030204" pitchFamily="18" charset="0"/>
                                      </a:rPr>
                                      <m:t>𝑝𝑎𝑐𝑘𝑒𝑡𝑠</m:t>
                                    </m:r>
                                  </m:num>
                                  <m:den>
                                    <m:r>
                                      <a:rPr lang="en-US" sz="900" i="1" dirty="0">
                                        <a:latin typeface="Cambria Math" panose="02040503050406030204" pitchFamily="18" charset="0"/>
                                      </a:rPr>
                                      <m:t>𝑝𝑎𝑐𝑘𝑒𝑡𝑠</m:t>
                                    </m:r>
                                    <m:r>
                                      <a:rPr lang="en-US" sz="900" i="1" dirty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900" i="1" dirty="0" err="1">
                                        <a:latin typeface="Cambria Math" panose="02040503050406030204" pitchFamily="18" charset="0"/>
                                      </a:rPr>
                                      <m:t>𝑤𝑖𝑡ℎ</m:t>
                                    </m:r>
                                    <m:r>
                                      <a:rPr lang="en-US" sz="900" i="1" dirty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900" i="1" dirty="0" err="1">
                                        <a:latin typeface="Cambria Math" panose="02040503050406030204" pitchFamily="18" charset="0"/>
                                      </a:rPr>
                                      <m:t>𝑡ℎ𝑖𝑠</m:t>
                                    </m:r>
                                    <m:r>
                                      <a:rPr lang="en-US" sz="900" i="1" dirty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900" i="1" dirty="0" err="1">
                                        <a:latin typeface="Cambria Math" panose="02040503050406030204" pitchFamily="18" charset="0"/>
                                      </a:rPr>
                                      <m:t>𝑓𝑖𝑛𝑔𝑒𝑟𝑝𝑟𝑖𝑛𝑡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oMath>
                    </m:oMathPara>
                  </a14:m>
                  <a:endParaRPr lang="en-US" sz="900" dirty="0"/>
                </a:p>
                <a:p>
                  <a:endParaRPr lang="en-US" sz="700" dirty="0">
                    <a:solidFill>
                      <a:srgbClr val="4A5568"/>
                    </a:solidFill>
                    <a:latin typeface="IBM Plex Mono" pitchFamily="34" charset="0"/>
                  </a:endParaRPr>
                </a:p>
              </p:txBody>
            </p:sp>
          </mc:Choice>
          <mc:Fallback>
            <p:sp>
              <p:nvSpPr>
                <p:cNvPr id="6" name="Text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2998" y="1932938"/>
                  <a:ext cx="2624902" cy="1775459"/>
                </a:xfrm>
                <a:prstGeom prst="rect">
                  <a:avLst/>
                </a:prstGeom>
                <a:blipFill>
                  <a:blip r:embed="rId3"/>
                  <a:stretch>
                    <a:fillRect l="-2784" t="-2465"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1909381-D6C3-5E19-4AFC-72D3B3A8C5C6}"/>
              </a:ext>
            </a:extLst>
          </p:cNvPr>
          <p:cNvGrpSpPr/>
          <p:nvPr/>
        </p:nvGrpSpPr>
        <p:grpSpPr>
          <a:xfrm>
            <a:off x="3492500" y="1534161"/>
            <a:ext cx="2527300" cy="1979929"/>
            <a:chOff x="3492500" y="1534161"/>
            <a:chExt cx="2527300" cy="1979929"/>
          </a:xfrm>
        </p:grpSpPr>
        <p:sp>
          <p:nvSpPr>
            <p:cNvPr id="7" name="Shape 5"/>
            <p:cNvSpPr/>
            <p:nvPr/>
          </p:nvSpPr>
          <p:spPr>
            <a:xfrm>
              <a:off x="3492500" y="1534161"/>
              <a:ext cx="2527300" cy="1927860"/>
            </a:xfrm>
            <a:prstGeom prst="roundRect">
              <a:avLst>
                <a:gd name="adj" fmla="val 2635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3492500" y="1534161"/>
              <a:ext cx="2527300" cy="1927860"/>
            </a:xfrm>
            <a:custGeom>
              <a:avLst/>
              <a:gdLst/>
              <a:ahLst/>
              <a:cxnLst/>
              <a:rect l="l" t="t" r="r" b="b"/>
              <a:pathLst>
                <a:path w="2527300" h="1927860">
                  <a:moveTo>
                    <a:pt x="0" y="50800"/>
                  </a:moveTo>
                  <a:lnTo>
                    <a:pt x="0" y="50800"/>
                  </a:lnTo>
                  <a:arcTo wR="50800" hR="50800" stAng="10800000" swAng="5400000"/>
                  <a:lnTo>
                    <a:pt x="2476500" y="0"/>
                  </a:lnTo>
                  <a:arcTo wR="50800" hR="50800" stAng="16200000" swAng="5400000"/>
                  <a:lnTo>
                    <a:pt x="2527300" y="50800"/>
                  </a:lnTo>
                  <a:arcTo wR="50800" hR="25400" stAng="0" swAng="-5400000"/>
                  <a:lnTo>
                    <a:pt x="50800" y="25400"/>
                  </a:lnTo>
                  <a:arcTo wR="50800" hR="25400" stAng="16200000" swAng="-5400000"/>
                  <a:close/>
                </a:path>
              </a:pathLst>
            </a:custGeom>
            <a:solidFill>
              <a:srgbClr val="8E44AD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7"/>
            <p:cNvSpPr/>
            <p:nvPr/>
          </p:nvSpPr>
          <p:spPr>
            <a:xfrm>
              <a:off x="3670300" y="1737361"/>
              <a:ext cx="2236851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540"/>
                </a:lnSpc>
                <a:buNone/>
              </a:pPr>
              <a:r>
                <a:rPr lang="en-US" sz="1100" b="1" dirty="0">
                  <a:solidFill>
                    <a:srgbClr val="8E44AD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Per-protocol Z-scores</a:t>
              </a:r>
              <a:endParaRPr lang="en-US" sz="11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670300" y="1932938"/>
              <a:ext cx="2236851" cy="15811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r>
                <a:rPr lang="en-US" sz="900" dirty="0">
                  <a:solidFill>
                    <a:srgbClr val="4A5568"/>
                  </a:solidFill>
                  <a:latin typeface="IBM Plex Mono" pitchFamily="34" charset="0"/>
                </a:rPr>
                <a:t>Is this cluster statistically unusual compared to other clusters of the same protocol?</a:t>
              </a:r>
            </a:p>
            <a:p>
              <a:endParaRPr lang="en-US" sz="900" dirty="0">
                <a:solidFill>
                  <a:srgbClr val="4A5568"/>
                </a:solidFill>
                <a:latin typeface="IBM Plex Mono" pitchFamily="34" charset="0"/>
              </a:endParaRPr>
            </a:p>
            <a:p>
              <a:r>
                <a:rPr lang="en-US" sz="900" dirty="0">
                  <a:solidFill>
                    <a:srgbClr val="4A5568"/>
                  </a:solidFill>
                  <a:latin typeface="IBM Plex Mono" pitchFamily="34" charset="0"/>
                </a:rPr>
                <a:t>For example, for all TCP clusters we compute packet rate for each, take the median and MAD, score each cluster by how far it deviates from that within-group baseline.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E155965-E406-A9E1-29AF-04E5D68839D2}"/>
              </a:ext>
            </a:extLst>
          </p:cNvPr>
          <p:cNvGrpSpPr/>
          <p:nvPr/>
        </p:nvGrpSpPr>
        <p:grpSpPr>
          <a:xfrm>
            <a:off x="6172200" y="1534161"/>
            <a:ext cx="2527300" cy="1927860"/>
            <a:chOff x="6172200" y="1534161"/>
            <a:chExt cx="2527300" cy="1927860"/>
          </a:xfrm>
        </p:grpSpPr>
        <p:sp>
          <p:nvSpPr>
            <p:cNvPr id="11" name="Shape 9"/>
            <p:cNvSpPr/>
            <p:nvPr/>
          </p:nvSpPr>
          <p:spPr>
            <a:xfrm>
              <a:off x="6172200" y="1534161"/>
              <a:ext cx="2527300" cy="1927860"/>
            </a:xfrm>
            <a:prstGeom prst="roundRect">
              <a:avLst>
                <a:gd name="adj" fmla="val 2635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10"/>
            <p:cNvSpPr/>
            <p:nvPr/>
          </p:nvSpPr>
          <p:spPr>
            <a:xfrm>
              <a:off x="6172200" y="1534161"/>
              <a:ext cx="2527300" cy="1927860"/>
            </a:xfrm>
            <a:custGeom>
              <a:avLst/>
              <a:gdLst/>
              <a:ahLst/>
              <a:cxnLst/>
              <a:rect l="l" t="t" r="r" b="b"/>
              <a:pathLst>
                <a:path w="2527300" h="1927860">
                  <a:moveTo>
                    <a:pt x="0" y="50800"/>
                  </a:moveTo>
                  <a:lnTo>
                    <a:pt x="0" y="50800"/>
                  </a:lnTo>
                  <a:arcTo wR="50800" hR="50800" stAng="10800000" swAng="5400000"/>
                  <a:lnTo>
                    <a:pt x="2476500" y="0"/>
                  </a:lnTo>
                  <a:arcTo wR="50800" hR="50800" stAng="16200000" swAng="5400000"/>
                  <a:lnTo>
                    <a:pt x="2527300" y="50800"/>
                  </a:lnTo>
                  <a:arcTo wR="50800" hR="25400" stAng="0" swAng="-5400000"/>
                  <a:lnTo>
                    <a:pt x="50800" y="25400"/>
                  </a:lnTo>
                  <a:arcTo wR="50800" hR="25400" stAng="16200000" swAng="-5400000"/>
                  <a:close/>
                </a:path>
              </a:pathLst>
            </a:custGeom>
            <a:solidFill>
              <a:srgbClr val="00897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6350000" y="1737361"/>
              <a:ext cx="2236851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540"/>
                </a:lnSpc>
                <a:buNone/>
              </a:pPr>
              <a:r>
                <a:rPr lang="en-US" sz="1100" b="1" dirty="0">
                  <a:solidFill>
                    <a:srgbClr val="00897B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IP summary</a:t>
              </a:r>
              <a:endParaRPr lang="en-US" sz="11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6350000" y="1932939"/>
              <a:ext cx="2236851" cy="14617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520"/>
                </a:lnSpc>
                <a:buNone/>
              </a:pPr>
              <a:r>
                <a:rPr lang="en-US" sz="950" dirty="0">
                  <a:solidFill>
                    <a:srgbClr val="4A5568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Per-IP structural profile: traffic volume, fanout cardinality, top fingerprints, anomaly involvement, timestamp-ordered sample packets.</a:t>
              </a:r>
              <a:endParaRPr lang="en-US" sz="95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87D02C9-1020-174E-D677-C9CA949C3B54}"/>
              </a:ext>
            </a:extLst>
          </p:cNvPr>
          <p:cNvGrpSpPr/>
          <p:nvPr/>
        </p:nvGrpSpPr>
        <p:grpSpPr>
          <a:xfrm>
            <a:off x="8851900" y="1534161"/>
            <a:ext cx="2527300" cy="1927860"/>
            <a:chOff x="8851900" y="1534161"/>
            <a:chExt cx="2527300" cy="1927860"/>
          </a:xfrm>
        </p:grpSpPr>
        <p:sp>
          <p:nvSpPr>
            <p:cNvPr id="15" name="Shape 13"/>
            <p:cNvSpPr/>
            <p:nvPr/>
          </p:nvSpPr>
          <p:spPr>
            <a:xfrm>
              <a:off x="8851900" y="1534161"/>
              <a:ext cx="2527300" cy="1927860"/>
            </a:xfrm>
            <a:prstGeom prst="roundRect">
              <a:avLst>
                <a:gd name="adj" fmla="val 2635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Shape 14"/>
            <p:cNvSpPr/>
            <p:nvPr/>
          </p:nvSpPr>
          <p:spPr>
            <a:xfrm>
              <a:off x="8851900" y="1534161"/>
              <a:ext cx="2527300" cy="1927860"/>
            </a:xfrm>
            <a:custGeom>
              <a:avLst/>
              <a:gdLst/>
              <a:ahLst/>
              <a:cxnLst/>
              <a:rect l="l" t="t" r="r" b="b"/>
              <a:pathLst>
                <a:path w="2527300" h="1927860">
                  <a:moveTo>
                    <a:pt x="0" y="50800"/>
                  </a:moveTo>
                  <a:lnTo>
                    <a:pt x="0" y="50800"/>
                  </a:lnTo>
                  <a:arcTo wR="50800" hR="50800" stAng="10800000" swAng="5400000"/>
                  <a:lnTo>
                    <a:pt x="2476500" y="0"/>
                  </a:lnTo>
                  <a:arcTo wR="50800" hR="50800" stAng="16200000" swAng="5400000"/>
                  <a:lnTo>
                    <a:pt x="2527300" y="50800"/>
                  </a:lnTo>
                  <a:arcTo wR="50800" hR="25400" stAng="0" swAng="-5400000"/>
                  <a:lnTo>
                    <a:pt x="50800" y="25400"/>
                  </a:lnTo>
                  <a:arcTo wR="50800" hR="25400" stAng="16200000" swAng="-5400000"/>
                  <a:close/>
                </a:path>
              </a:pathLst>
            </a:custGeom>
            <a:solidFill>
              <a:srgbClr val="E67E2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15"/>
            <p:cNvSpPr/>
            <p:nvPr/>
          </p:nvSpPr>
          <p:spPr>
            <a:xfrm>
              <a:off x="9029700" y="1737361"/>
              <a:ext cx="2236851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540"/>
                </a:lnSpc>
                <a:buNone/>
              </a:pPr>
              <a:r>
                <a:rPr lang="en-US" sz="1100" b="1" dirty="0">
                  <a:solidFill>
                    <a:srgbClr val="E67E22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Anomaly detection</a:t>
              </a:r>
              <a:endParaRPr lang="en-US" sz="11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9029700" y="1932939"/>
              <a:ext cx="2236851" cy="1376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520"/>
                </a:lnSpc>
                <a:buNone/>
              </a:pPr>
              <a:r>
                <a:rPr lang="en-US" sz="950" dirty="0">
                  <a:solidFill>
                    <a:srgbClr val="4A5568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Per-protocol cardinality fanout vs within-protocol median baseline. Mirrors evidence_matcher logic, now computed upstream where the full cluster context is available.</a:t>
              </a:r>
              <a:endParaRPr lang="en-US" sz="95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AE28FE1-90FD-A627-5629-417BB7F57319}"/>
              </a:ext>
            </a:extLst>
          </p:cNvPr>
          <p:cNvGrpSpPr/>
          <p:nvPr/>
        </p:nvGrpSpPr>
        <p:grpSpPr>
          <a:xfrm>
            <a:off x="4612728" y="3657598"/>
            <a:ext cx="6858000" cy="1541780"/>
            <a:chOff x="776224" y="3547110"/>
            <a:chExt cx="6858000" cy="1541780"/>
          </a:xfrm>
        </p:grpSpPr>
        <p:sp>
          <p:nvSpPr>
            <p:cNvPr id="19" name="Shape 17"/>
            <p:cNvSpPr/>
            <p:nvPr/>
          </p:nvSpPr>
          <p:spPr>
            <a:xfrm>
              <a:off x="776224" y="3547110"/>
              <a:ext cx="6858000" cy="1541780"/>
            </a:xfrm>
            <a:prstGeom prst="roundRect">
              <a:avLst>
                <a:gd name="adj" fmla="val 3295"/>
              </a:avLst>
            </a:prstGeom>
            <a:ln w="28575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Text 18"/>
            <p:cNvSpPr/>
            <p:nvPr/>
          </p:nvSpPr>
          <p:spPr>
            <a:xfrm>
              <a:off x="1041400" y="3779520"/>
              <a:ext cx="6592824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540"/>
                </a:lnSpc>
                <a:buNone/>
              </a:pPr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Tag Assignment</a:t>
              </a:r>
              <a:endParaRPr lang="en-US" sz="14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1041400" y="4089400"/>
              <a:ext cx="2065814" cy="734060"/>
            </a:xfrm>
            <a:prstGeom prst="roundRect">
              <a:avLst>
                <a:gd name="adj" fmla="val 5190"/>
              </a:avLst>
            </a:prstGeom>
            <a:noFill/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20"/>
            <p:cNvSpPr/>
            <p:nvPr/>
          </p:nvSpPr>
          <p:spPr>
            <a:xfrm>
              <a:off x="1041400" y="4089400"/>
              <a:ext cx="2065814" cy="734060"/>
            </a:xfrm>
            <a:custGeom>
              <a:avLst/>
              <a:gdLst/>
              <a:ahLst/>
              <a:cxnLst/>
              <a:rect l="l" t="t" r="r" b="b"/>
              <a:pathLst>
                <a:path w="2065814" h="734060">
                  <a:moveTo>
                    <a:pt x="38100" y="734060"/>
                  </a:moveTo>
                  <a:lnTo>
                    <a:pt x="38100" y="734060"/>
                  </a:lnTo>
                  <a:arcTo wR="38100" hR="38100" stAng="5400000" swAng="5400000"/>
                  <a:lnTo>
                    <a:pt x="0" y="38100"/>
                  </a:lnTo>
                  <a:arcTo wR="38100" hR="38100" stAng="10800000" swAng="5400000"/>
                  <a:lnTo>
                    <a:pt x="38100" y="0"/>
                  </a:lnTo>
                  <a:arcTo wR="12700" hR="38100" stAng="16200000" swAng="-5400000"/>
                  <a:lnTo>
                    <a:pt x="25400" y="695960"/>
                  </a:lnTo>
                  <a:arcTo wR="12700" hR="38100" stAng="10800000" swAng="-5400000"/>
                  <a:close/>
                </a:path>
              </a:pathLst>
            </a:custGeom>
            <a:solidFill>
              <a:srgbClr val="00C8B4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21"/>
            <p:cNvSpPr/>
            <p:nvPr/>
          </p:nvSpPr>
          <p:spPr>
            <a:xfrm>
              <a:off x="1193800" y="4216400"/>
              <a:ext cx="1840006" cy="203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1000" b="1" dirty="0">
                  <a:solidFill>
                    <a:srgbClr val="00C8B4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PRIMARY</a:t>
              </a:r>
              <a:endParaRPr lang="en-US" sz="10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1193800" y="4394200"/>
              <a:ext cx="1840006" cy="327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190"/>
                </a:lnSpc>
                <a:buNone/>
              </a:pPr>
              <a:r>
                <a:rPr lang="en-US" sz="850" dirty="0">
                  <a:solidFill>
                    <a:srgbClr val="8AA0B8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High TF-IDF or anomalous Z-score AND context match</a:t>
              </a:r>
              <a:endParaRPr lang="en-US" sz="85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3208814" y="4089400"/>
              <a:ext cx="2065893" cy="734060"/>
            </a:xfrm>
            <a:prstGeom prst="roundRect">
              <a:avLst>
                <a:gd name="adj" fmla="val 5190"/>
              </a:avLst>
            </a:prstGeom>
            <a:noFill/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24"/>
            <p:cNvSpPr/>
            <p:nvPr/>
          </p:nvSpPr>
          <p:spPr>
            <a:xfrm>
              <a:off x="3208814" y="4089400"/>
              <a:ext cx="2065893" cy="734060"/>
            </a:xfrm>
            <a:custGeom>
              <a:avLst/>
              <a:gdLst/>
              <a:ahLst/>
              <a:cxnLst/>
              <a:rect l="l" t="t" r="r" b="b"/>
              <a:pathLst>
                <a:path w="2065893" h="734060">
                  <a:moveTo>
                    <a:pt x="38100" y="734060"/>
                  </a:moveTo>
                  <a:lnTo>
                    <a:pt x="38100" y="734060"/>
                  </a:lnTo>
                  <a:arcTo wR="38100" hR="38100" stAng="5400000" swAng="5400000"/>
                  <a:lnTo>
                    <a:pt x="0" y="38100"/>
                  </a:lnTo>
                  <a:arcTo wR="38100" hR="38100" stAng="10800000" swAng="5400000"/>
                  <a:lnTo>
                    <a:pt x="38100" y="0"/>
                  </a:lnTo>
                  <a:arcTo wR="12700" hR="38100" stAng="16200000" swAng="-5400000"/>
                  <a:lnTo>
                    <a:pt x="25400" y="695960"/>
                  </a:lnTo>
                  <a:arcTo wR="12700" hR="38100" stAng="10800000" swAng="-5400000"/>
                  <a:close/>
                </a:path>
              </a:pathLst>
            </a:custGeom>
            <a:solidFill>
              <a:srgbClr val="E67E2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25"/>
            <p:cNvSpPr/>
            <p:nvPr/>
          </p:nvSpPr>
          <p:spPr>
            <a:xfrm>
              <a:off x="3361214" y="4216400"/>
              <a:ext cx="1840088" cy="203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1000" b="1" dirty="0">
                  <a:solidFill>
                    <a:srgbClr val="E67E22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SECONDARY</a:t>
              </a:r>
              <a:endParaRPr lang="en-US" sz="10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3361214" y="4394200"/>
              <a:ext cx="1840088" cy="327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190"/>
                </a:lnSpc>
                <a:buNone/>
              </a:pPr>
              <a:r>
                <a:rPr lang="en-US" sz="850" dirty="0">
                  <a:solidFill>
                    <a:srgbClr val="8AA0B8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Anomalous but moderate signal</a:t>
              </a:r>
              <a:endParaRPr lang="en-US" sz="85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5376307" y="4089400"/>
              <a:ext cx="2065893" cy="734060"/>
            </a:xfrm>
            <a:prstGeom prst="roundRect">
              <a:avLst>
                <a:gd name="adj" fmla="val 5190"/>
              </a:avLst>
            </a:prstGeom>
            <a:noFill/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28"/>
            <p:cNvSpPr/>
            <p:nvPr/>
          </p:nvSpPr>
          <p:spPr>
            <a:xfrm>
              <a:off x="5376307" y="4089400"/>
              <a:ext cx="2065893" cy="734060"/>
            </a:xfrm>
            <a:custGeom>
              <a:avLst/>
              <a:gdLst/>
              <a:ahLst/>
              <a:cxnLst/>
              <a:rect l="l" t="t" r="r" b="b"/>
              <a:pathLst>
                <a:path w="2065893" h="734060">
                  <a:moveTo>
                    <a:pt x="38100" y="734060"/>
                  </a:moveTo>
                  <a:lnTo>
                    <a:pt x="38100" y="734060"/>
                  </a:lnTo>
                  <a:arcTo wR="38100" hR="38100" stAng="5400000" swAng="5400000"/>
                  <a:lnTo>
                    <a:pt x="0" y="38100"/>
                  </a:lnTo>
                  <a:arcTo wR="38100" hR="38100" stAng="10800000" swAng="5400000"/>
                  <a:lnTo>
                    <a:pt x="38100" y="0"/>
                  </a:lnTo>
                  <a:arcTo wR="12700" hR="38100" stAng="16200000" swAng="-5400000"/>
                  <a:lnTo>
                    <a:pt x="25400" y="695960"/>
                  </a:lnTo>
                  <a:arcTo wR="12700" hR="38100" stAng="10800000" swAng="-5400000"/>
                  <a:close/>
                </a:path>
              </a:pathLst>
            </a:custGeom>
            <a:solidFill>
              <a:srgbClr val="4A648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29"/>
            <p:cNvSpPr/>
            <p:nvPr/>
          </p:nvSpPr>
          <p:spPr>
            <a:xfrm>
              <a:off x="5528707" y="4216400"/>
              <a:ext cx="1840088" cy="203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1000" b="1" dirty="0">
                  <a:solidFill>
                    <a:srgbClr val="4A6480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REMNANT</a:t>
              </a:r>
              <a:endParaRPr lang="en-US" sz="10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5528707" y="4394200"/>
              <a:ext cx="1840088" cy="327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190"/>
                </a:lnSpc>
                <a:buNone/>
              </a:pPr>
              <a:r>
                <a:rPr lang="en-US" sz="850" dirty="0">
                  <a:solidFill>
                    <a:srgbClr val="8AA0B8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Low TF-IDF, no anomalies, no context match</a:t>
              </a:r>
              <a:endParaRPr lang="en-US" sz="850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38BC331-B268-AE6A-5EB7-4EC4E935F9E6}"/>
              </a:ext>
            </a:extLst>
          </p:cNvPr>
          <p:cNvGrpSpPr/>
          <p:nvPr/>
        </p:nvGrpSpPr>
        <p:grpSpPr>
          <a:xfrm>
            <a:off x="715198" y="3657598"/>
            <a:ext cx="3556000" cy="1541780"/>
            <a:chOff x="7823200" y="3716021"/>
            <a:chExt cx="3556000" cy="1541780"/>
          </a:xfrm>
        </p:grpSpPr>
        <p:sp>
          <p:nvSpPr>
            <p:cNvPr id="33" name="Shape 31"/>
            <p:cNvSpPr/>
            <p:nvPr/>
          </p:nvSpPr>
          <p:spPr>
            <a:xfrm>
              <a:off x="7823200" y="3716021"/>
              <a:ext cx="3556000" cy="1541780"/>
            </a:xfrm>
            <a:prstGeom prst="roundRect">
              <a:avLst>
                <a:gd name="adj" fmla="val 3295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Shape 32"/>
            <p:cNvSpPr/>
            <p:nvPr/>
          </p:nvSpPr>
          <p:spPr>
            <a:xfrm>
              <a:off x="7823200" y="3716021"/>
              <a:ext cx="3556000" cy="1541780"/>
            </a:xfrm>
            <a:custGeom>
              <a:avLst/>
              <a:gdLst/>
              <a:ahLst/>
              <a:cxnLst/>
              <a:rect l="l" t="t" r="r" b="b"/>
              <a:pathLst>
                <a:path w="3556000" h="1541780">
                  <a:moveTo>
                    <a:pt x="0" y="50800"/>
                  </a:moveTo>
                  <a:lnTo>
                    <a:pt x="0" y="50800"/>
                  </a:lnTo>
                  <a:arcTo wR="50800" hR="50800" stAng="10800000" swAng="5400000"/>
                  <a:lnTo>
                    <a:pt x="3505200" y="0"/>
                  </a:lnTo>
                  <a:arcTo wR="50800" hR="50800" stAng="16200000" swAng="5400000"/>
                  <a:lnTo>
                    <a:pt x="3556000" y="50800"/>
                  </a:lnTo>
                  <a:arcTo wR="50800" hR="25400" stAng="0" swAng="-5400000"/>
                  <a:lnTo>
                    <a:pt x="50800" y="25400"/>
                  </a:lnTo>
                  <a:arcTo wR="50800" hR="25400" stAng="16200000" swAng="-5400000"/>
                  <a:close/>
                </a:path>
              </a:pathLst>
            </a:custGeom>
            <a:solidFill>
              <a:srgbClr val="1A243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33"/>
            <p:cNvSpPr/>
            <p:nvPr/>
          </p:nvSpPr>
          <p:spPr>
            <a:xfrm>
              <a:off x="8001000" y="3919221"/>
              <a:ext cx="3296412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540"/>
                </a:lnSpc>
                <a:buNone/>
              </a:pPr>
              <a:r>
                <a:rPr lang="en-US" sz="1100" b="1" dirty="0">
                  <a:solidFill>
                    <a:srgbClr val="1A2433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Context match</a:t>
              </a:r>
              <a:endParaRPr lang="en-US" sz="11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8001000" y="4114800"/>
              <a:ext cx="3296412" cy="990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520"/>
                </a:lnSpc>
                <a:buNone/>
              </a:pPr>
              <a:r>
                <a:rPr lang="en-US" sz="950" dirty="0">
                  <a:solidFill>
                    <a:srgbClr val="4A5568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AttackContext.suspected_protocols cross-referenced against cluster L4/L7 proto. </a:t>
              </a:r>
            </a:p>
            <a:p>
              <a:pPr marL="0" indent="0" algn="l">
                <a:lnSpc>
                  <a:spcPts val="1520"/>
                </a:lnSpc>
                <a:buNone/>
              </a:pPr>
              <a:r>
                <a:rPr lang="en-US" sz="950" dirty="0">
                  <a:solidFill>
                    <a:srgbClr val="4A5568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For example, ICMP clusters score high in a ping flood, low in a SYN flood.</a:t>
              </a:r>
              <a:endParaRPr lang="en-US" sz="95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D8D42-012F-E705-D29B-53F07B11F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2EFD8-9FD4-C7E9-822C-5D0ECC35D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IBM Plex Mono" panose="020B0509050203000203" pitchFamily="49" charset="0"/>
              </a:rPr>
              <a:t>Preprocessor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46E3427-0933-08B4-CD3C-7F3FC5102690}"/>
              </a:ext>
            </a:extLst>
          </p:cNvPr>
          <p:cNvGrpSpPr/>
          <p:nvPr/>
        </p:nvGrpSpPr>
        <p:grpSpPr>
          <a:xfrm>
            <a:off x="5619087" y="184726"/>
            <a:ext cx="4190034" cy="1474021"/>
            <a:chOff x="6226175" y="1964057"/>
            <a:chExt cx="5149850" cy="2454910"/>
          </a:xfrm>
        </p:grpSpPr>
        <p:sp>
          <p:nvSpPr>
            <p:cNvPr id="5" name="Shape 7">
              <a:extLst>
                <a:ext uri="{FF2B5EF4-FFF2-40B4-BE49-F238E27FC236}">
                  <a16:creationId xmlns:a16="http://schemas.microsoft.com/office/drawing/2014/main" id="{C64855C3-D368-022E-6C0C-E5D88D42DCB2}"/>
                </a:ext>
              </a:extLst>
            </p:cNvPr>
            <p:cNvSpPr/>
            <p:nvPr/>
          </p:nvSpPr>
          <p:spPr>
            <a:xfrm>
              <a:off x="6226175" y="1964057"/>
              <a:ext cx="5149850" cy="2454910"/>
            </a:xfrm>
            <a:prstGeom prst="roundRect">
              <a:avLst>
                <a:gd name="adj" fmla="val 1940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accent2">
                  <a:lumMod val="75000"/>
                </a:scheme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8">
              <a:extLst>
                <a:ext uri="{FF2B5EF4-FFF2-40B4-BE49-F238E27FC236}">
                  <a16:creationId xmlns:a16="http://schemas.microsoft.com/office/drawing/2014/main" id="{CDB58D77-4C2D-4EE3-7A94-DFC2BD2489D7}"/>
                </a:ext>
              </a:extLst>
            </p:cNvPr>
            <p:cNvSpPr/>
            <p:nvPr/>
          </p:nvSpPr>
          <p:spPr>
            <a:xfrm>
              <a:off x="6405880" y="2143760"/>
              <a:ext cx="4790440" cy="2097695"/>
            </a:xfrm>
            <a:prstGeom prst="roundRect">
              <a:avLst>
                <a:gd name="adj" fmla="val 3119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9">
              <a:extLst>
                <a:ext uri="{FF2B5EF4-FFF2-40B4-BE49-F238E27FC236}">
                  <a16:creationId xmlns:a16="http://schemas.microsoft.com/office/drawing/2014/main" id="{45A4319A-FA19-4D51-9601-B959AEE8DD3E}"/>
                </a:ext>
              </a:extLst>
            </p:cNvPr>
            <p:cNvSpPr/>
            <p:nvPr/>
          </p:nvSpPr>
          <p:spPr>
            <a:xfrm>
              <a:off x="6532880" y="2270760"/>
              <a:ext cx="4672533" cy="44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540"/>
                </a:lnSpc>
                <a:buNone/>
              </a:pPr>
              <a:r>
                <a:rPr lang="en-US" sz="2000" b="1" dirty="0">
                  <a:solidFill>
                    <a:schemeClr val="accent2">
                      <a:lumMod val="50000"/>
                    </a:schemeClr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Cluster</a:t>
              </a:r>
              <a:endParaRPr lang="en-US" sz="2000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8" name="Text 10">
              <a:extLst>
                <a:ext uri="{FF2B5EF4-FFF2-40B4-BE49-F238E27FC236}">
                  <a16:creationId xmlns:a16="http://schemas.microsoft.com/office/drawing/2014/main" id="{802FE752-87E5-C33A-1B0C-7D85C477560B}"/>
                </a:ext>
              </a:extLst>
            </p:cNvPr>
            <p:cNvSpPr/>
            <p:nvPr/>
          </p:nvSpPr>
          <p:spPr>
            <a:xfrm>
              <a:off x="6532880" y="2466339"/>
              <a:ext cx="4672533" cy="16061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520"/>
                </a:lnSpc>
                <a:buNone/>
              </a:pPr>
              <a:endParaRPr lang="en-US" sz="11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endParaRPr>
            </a:p>
            <a:p>
              <a:pPr marL="0" indent="0" algn="l">
                <a:lnSpc>
                  <a:spcPts val="1520"/>
                </a:lnSpc>
                <a:buNone/>
              </a:pPr>
              <a:r>
                <a:rPr lang="en-US" sz="1100" dirty="0" err="1">
                  <a:solidFill>
                    <a:srgbClr val="4A5568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fingerprint_key</a:t>
              </a:r>
              <a:endParaRPr lang="en-US" sz="1100" dirty="0"/>
            </a:p>
            <a:p>
              <a:pPr marL="0" indent="0" algn="l">
                <a:lnSpc>
                  <a:spcPts val="1520"/>
                </a:lnSpc>
                <a:buNone/>
              </a:pPr>
              <a:r>
                <a:rPr lang="en-US" sz="1100" dirty="0">
                  <a:solidFill>
                    <a:srgbClr val="4A5568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representative_items: list[ReducedItem]</a:t>
              </a:r>
              <a:endParaRPr lang="en-US" sz="1100" dirty="0"/>
            </a:p>
            <a:p>
              <a:pPr marL="0" indent="0" algn="l">
                <a:lnSpc>
                  <a:spcPts val="1520"/>
                </a:lnSpc>
                <a:buNone/>
              </a:pPr>
              <a:r>
                <a:rPr lang="en-US" sz="1100" dirty="0">
                  <a:solidFill>
                    <a:srgbClr val="4A5568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aggregate: </a:t>
              </a:r>
              <a:r>
                <a:rPr lang="en-US" sz="1100" dirty="0" err="1">
                  <a:solidFill>
                    <a:srgbClr val="4A5568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AggregateStats</a:t>
              </a:r>
              <a:endParaRPr lang="en-US" sz="1100" b="1" dirty="0">
                <a:solidFill>
                  <a:schemeClr val="accent2">
                    <a:lumMod val="75000"/>
                  </a:schemeClr>
                </a:solidFill>
              </a:endParaRPr>
            </a:p>
            <a:p>
              <a:pPr marL="0" indent="0" algn="l">
                <a:lnSpc>
                  <a:spcPts val="1520"/>
                </a:lnSpc>
                <a:buNone/>
              </a:pPr>
              <a:r>
                <a:rPr lang="en-US" sz="1100" dirty="0">
                  <a:solidFill>
                    <a:srgbClr val="4A5568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metadata: </a:t>
              </a:r>
              <a:r>
                <a:rPr lang="en-US" sz="1100" dirty="0" err="1">
                  <a:solidFill>
                    <a:srgbClr val="4A5568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ClusterMetadata</a:t>
              </a:r>
              <a:endParaRPr lang="en-US" sz="11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61EF371-17BA-A773-39A2-AE32ECF8E55C}"/>
              </a:ext>
            </a:extLst>
          </p:cNvPr>
          <p:cNvGrpSpPr/>
          <p:nvPr/>
        </p:nvGrpSpPr>
        <p:grpSpPr>
          <a:xfrm>
            <a:off x="756896" y="3016134"/>
            <a:ext cx="2643680" cy="3601958"/>
            <a:chOff x="6226175" y="1964057"/>
            <a:chExt cx="5149850" cy="2454910"/>
          </a:xfrm>
        </p:grpSpPr>
        <p:sp>
          <p:nvSpPr>
            <p:cNvPr id="15" name="Shape 7">
              <a:extLst>
                <a:ext uri="{FF2B5EF4-FFF2-40B4-BE49-F238E27FC236}">
                  <a16:creationId xmlns:a16="http://schemas.microsoft.com/office/drawing/2014/main" id="{5DAA4E13-CE61-CD22-FA60-ADD74A611CF7}"/>
                </a:ext>
              </a:extLst>
            </p:cNvPr>
            <p:cNvSpPr/>
            <p:nvPr/>
          </p:nvSpPr>
          <p:spPr>
            <a:xfrm>
              <a:off x="6226175" y="1964057"/>
              <a:ext cx="5149850" cy="2454910"/>
            </a:xfrm>
            <a:prstGeom prst="roundRect">
              <a:avLst>
                <a:gd name="adj" fmla="val 1940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accent2">
                  <a:lumMod val="75000"/>
                </a:scheme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Shape 8">
              <a:extLst>
                <a:ext uri="{FF2B5EF4-FFF2-40B4-BE49-F238E27FC236}">
                  <a16:creationId xmlns:a16="http://schemas.microsoft.com/office/drawing/2014/main" id="{B0B6DF90-8DAE-95DF-43D8-DF2741E42CBA}"/>
                </a:ext>
              </a:extLst>
            </p:cNvPr>
            <p:cNvSpPr/>
            <p:nvPr/>
          </p:nvSpPr>
          <p:spPr>
            <a:xfrm>
              <a:off x="6405880" y="2153002"/>
              <a:ext cx="4790441" cy="2097695"/>
            </a:xfrm>
            <a:prstGeom prst="roundRect">
              <a:avLst>
                <a:gd name="adj" fmla="val 3119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9">
              <a:extLst>
                <a:ext uri="{FF2B5EF4-FFF2-40B4-BE49-F238E27FC236}">
                  <a16:creationId xmlns:a16="http://schemas.microsoft.com/office/drawing/2014/main" id="{767AE07C-99AC-1C58-65CE-B76920AB8BF9}"/>
                </a:ext>
              </a:extLst>
            </p:cNvPr>
            <p:cNvSpPr/>
            <p:nvPr/>
          </p:nvSpPr>
          <p:spPr>
            <a:xfrm>
              <a:off x="6532881" y="2153003"/>
              <a:ext cx="4663442" cy="2450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62500" lnSpcReduction="20000"/>
            </a:bodyPr>
            <a:lstStyle/>
            <a:p>
              <a:pPr>
                <a:lnSpc>
                  <a:spcPct val="100000"/>
                </a:lnSpc>
              </a:pPr>
              <a:endParaRPr lang="en-US" sz="1400" dirty="0">
                <a:solidFill>
                  <a:schemeClr val="accent2"/>
                </a:solidFill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2900" dirty="0">
                  <a:solidFill>
                    <a:schemeClr val="accent2"/>
                  </a:solidFill>
                </a:rPr>
                <a:t> SYN flood </a:t>
              </a:r>
            </a:p>
          </p:txBody>
        </p:sp>
        <p:sp>
          <p:nvSpPr>
            <p:cNvPr id="18" name="Text 10">
              <a:extLst>
                <a:ext uri="{FF2B5EF4-FFF2-40B4-BE49-F238E27FC236}">
                  <a16:creationId xmlns:a16="http://schemas.microsoft.com/office/drawing/2014/main" id="{63E7222C-E150-9490-FED1-C21BE71ED33A}"/>
                </a:ext>
              </a:extLst>
            </p:cNvPr>
            <p:cNvSpPr/>
            <p:nvPr/>
          </p:nvSpPr>
          <p:spPr>
            <a:xfrm>
              <a:off x="6532879" y="2398037"/>
              <a:ext cx="4672533" cy="16061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r>
                <a:rPr lang="en-US" sz="1100" dirty="0">
                  <a:solidFill>
                    <a:schemeClr val="accent2"/>
                  </a:solidFill>
                </a:rPr>
                <a:t>Finger print: ["TCP", "SYN", null, 53, null, 0]</a:t>
              </a:r>
            </a:p>
            <a:p>
              <a:endParaRPr lang="en-US" sz="1100" dirty="0">
                <a:latin typeface="IBM Plex Mono" panose="020B0509050203000203" pitchFamily="49" charset="0"/>
              </a:endParaRPr>
            </a:p>
            <a:p>
              <a:r>
                <a:rPr lang="en-US" sz="1100" dirty="0">
                  <a:latin typeface="IBM Plex Mono" panose="020B0509050203000203" pitchFamily="49" charset="0"/>
                </a:rPr>
                <a:t>representative: #1, #2  </a:t>
              </a:r>
            </a:p>
            <a:p>
              <a:r>
                <a:rPr lang="en-US" sz="1100" dirty="0">
                  <a:latin typeface="IBM Plex Mono" panose="020B0509050203000203" pitchFamily="49" charset="0"/>
                </a:rPr>
                <a:t>aggregate: count = 4 (pkts #1,2,3,4) </a:t>
              </a:r>
              <a:r>
                <a:rPr lang="en-US" sz="1100" dirty="0" err="1">
                  <a:latin typeface="IBM Plex Mono" panose="020B0509050203000203" pitchFamily="49" charset="0"/>
                </a:rPr>
                <a:t>unique_srcs</a:t>
              </a:r>
              <a:r>
                <a:rPr lang="en-US" sz="1100" dirty="0">
                  <a:latin typeface="IBM Plex Mono" panose="020B0509050203000203" pitchFamily="49" charset="0"/>
                </a:rPr>
                <a:t> = 5 (10.0.0.1 → 10.0.0.4) </a:t>
              </a:r>
              <a:r>
                <a:rPr lang="en-US" sz="1100" dirty="0" err="1">
                  <a:latin typeface="IBM Plex Mono" panose="020B0509050203000203" pitchFamily="49" charset="0"/>
                </a:rPr>
                <a:t>unique_dsts</a:t>
              </a:r>
              <a:r>
                <a:rPr lang="en-US" sz="1100" dirty="0">
                  <a:latin typeface="IBM Plex Mono" panose="020B0509050203000203" pitchFamily="49" charset="0"/>
                </a:rPr>
                <a:t> = 1 (192.168.1.5) </a:t>
              </a:r>
            </a:p>
            <a:p>
              <a:r>
                <a:rPr lang="en-US" sz="1100" dirty="0">
                  <a:latin typeface="IBM Plex Mono" panose="020B0509050203000203" pitchFamily="49" charset="0"/>
                </a:rPr>
                <a:t>IAT mean = 0.0008s</a:t>
              </a:r>
            </a:p>
            <a:p>
              <a:r>
                <a:rPr lang="en-US" sz="1100" dirty="0">
                  <a:latin typeface="IBM Plex Mono" panose="020B0509050203000203" pitchFamily="49" charset="0"/>
                </a:rPr>
                <a:t>IAT std = 0.000001s</a:t>
              </a:r>
            </a:p>
          </p:txBody>
        </p:sp>
      </p:grpSp>
      <p:sp>
        <p:nvSpPr>
          <p:cNvPr id="23" name="Packet 1">
            <a:extLst>
              <a:ext uri="{FF2B5EF4-FFF2-40B4-BE49-F238E27FC236}">
                <a16:creationId xmlns:a16="http://schemas.microsoft.com/office/drawing/2014/main" id="{DFF034FA-7D1E-CCBA-BB8D-73E7A30DD076}"/>
              </a:ext>
            </a:extLst>
          </p:cNvPr>
          <p:cNvSpPr/>
          <p:nvPr/>
        </p:nvSpPr>
        <p:spPr>
          <a:xfrm>
            <a:off x="528365" y="1815060"/>
            <a:ext cx="1447800" cy="88783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TCP SYN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SRC: 10.0.0.1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DST: 192.168.1.5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Port 53 Flags=0x02</a:t>
            </a:r>
          </a:p>
        </p:txBody>
      </p:sp>
      <p:sp>
        <p:nvSpPr>
          <p:cNvPr id="38" name="Packet 1">
            <a:extLst>
              <a:ext uri="{FF2B5EF4-FFF2-40B4-BE49-F238E27FC236}">
                <a16:creationId xmlns:a16="http://schemas.microsoft.com/office/drawing/2014/main" id="{27657D87-FC3D-EDD8-A194-FC84209DFBBE}"/>
              </a:ext>
            </a:extLst>
          </p:cNvPr>
          <p:cNvSpPr/>
          <p:nvPr/>
        </p:nvSpPr>
        <p:spPr>
          <a:xfrm>
            <a:off x="2122377" y="1829529"/>
            <a:ext cx="1447800" cy="87336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TCP SYN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SRC: 10.0.0.2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DST: 192.168.1.5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Port 53 Flags=0x02</a:t>
            </a:r>
          </a:p>
        </p:txBody>
      </p:sp>
      <p:sp>
        <p:nvSpPr>
          <p:cNvPr id="39" name="Packet 1">
            <a:extLst>
              <a:ext uri="{FF2B5EF4-FFF2-40B4-BE49-F238E27FC236}">
                <a16:creationId xmlns:a16="http://schemas.microsoft.com/office/drawing/2014/main" id="{E92093DB-8C10-47F0-B6E3-43BB0C7648D6}"/>
              </a:ext>
            </a:extLst>
          </p:cNvPr>
          <p:cNvSpPr/>
          <p:nvPr/>
        </p:nvSpPr>
        <p:spPr>
          <a:xfrm>
            <a:off x="3759850" y="1829530"/>
            <a:ext cx="1447800" cy="87336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TCP SYN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SRC: 10.0.0.3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DST: 192.168.1.5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Port 53 Flags=0x02</a:t>
            </a:r>
          </a:p>
        </p:txBody>
      </p:sp>
      <p:sp>
        <p:nvSpPr>
          <p:cNvPr id="40" name="Packet 1">
            <a:extLst>
              <a:ext uri="{FF2B5EF4-FFF2-40B4-BE49-F238E27FC236}">
                <a16:creationId xmlns:a16="http://schemas.microsoft.com/office/drawing/2014/main" id="{E7296861-CC7E-0FFA-3B62-FD339DF46900}"/>
              </a:ext>
            </a:extLst>
          </p:cNvPr>
          <p:cNvSpPr/>
          <p:nvPr/>
        </p:nvSpPr>
        <p:spPr>
          <a:xfrm>
            <a:off x="5360050" y="1829530"/>
            <a:ext cx="1447800" cy="87336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UDP DNS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SRC: 10.0.0.9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DST: 192.168.1.5</a:t>
            </a:r>
          </a:p>
          <a:p>
            <a:pPr marL="0" indent="0" algn="ctr">
              <a:buNone/>
            </a:pPr>
            <a:r>
              <a:rPr lang="en-US" sz="1050" dirty="0" err="1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Query:”google.com</a:t>
            </a: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”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Entropy low</a:t>
            </a:r>
          </a:p>
        </p:txBody>
      </p:sp>
      <p:sp>
        <p:nvSpPr>
          <p:cNvPr id="41" name="Packet 1">
            <a:extLst>
              <a:ext uri="{FF2B5EF4-FFF2-40B4-BE49-F238E27FC236}">
                <a16:creationId xmlns:a16="http://schemas.microsoft.com/office/drawing/2014/main" id="{2E5689B4-AEB7-99E6-578B-E5A6EAB0A248}"/>
              </a:ext>
            </a:extLst>
          </p:cNvPr>
          <p:cNvSpPr/>
          <p:nvPr/>
        </p:nvSpPr>
        <p:spPr>
          <a:xfrm>
            <a:off x="6990204" y="1813013"/>
            <a:ext cx="1447800" cy="88988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ARP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SRC: 10.0.0.9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DST: 192.168.1.1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Op=1 </a:t>
            </a:r>
            <a:r>
              <a:rPr lang="en-US" sz="1050" dirty="0" err="1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MAC:aa:bb:CC</a:t>
            </a:r>
            <a:endParaRPr lang="en-US" sz="1050" dirty="0">
              <a:solidFill>
                <a:srgbClr val="FFFFFF"/>
              </a:solidFill>
              <a:latin typeface="IBM Plex Mono" pitchFamily="34" charset="0"/>
              <a:ea typeface="IBM Plex Mono" pitchFamily="34" charset="-122"/>
              <a:cs typeface="IBM Plex Mono" pitchFamily="34" charset="-120"/>
            </a:endParaRPr>
          </a:p>
        </p:txBody>
      </p:sp>
      <p:sp>
        <p:nvSpPr>
          <p:cNvPr id="43" name="Packet 1">
            <a:extLst>
              <a:ext uri="{FF2B5EF4-FFF2-40B4-BE49-F238E27FC236}">
                <a16:creationId xmlns:a16="http://schemas.microsoft.com/office/drawing/2014/main" id="{133C80BF-4E76-2B21-1B15-D88C85A485BA}"/>
              </a:ext>
            </a:extLst>
          </p:cNvPr>
          <p:cNvSpPr/>
          <p:nvPr/>
        </p:nvSpPr>
        <p:spPr>
          <a:xfrm>
            <a:off x="8627677" y="1820734"/>
            <a:ext cx="1447800" cy="87336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TCP SYN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SRC: 10.0.0.4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DST: 192.168.1.5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Port 53 Flags=0x02</a:t>
            </a:r>
          </a:p>
        </p:txBody>
      </p:sp>
      <p:sp>
        <p:nvSpPr>
          <p:cNvPr id="44" name="Packet 1">
            <a:extLst>
              <a:ext uri="{FF2B5EF4-FFF2-40B4-BE49-F238E27FC236}">
                <a16:creationId xmlns:a16="http://schemas.microsoft.com/office/drawing/2014/main" id="{BF382154-3782-5407-D235-6321A812D011}"/>
              </a:ext>
            </a:extLst>
          </p:cNvPr>
          <p:cNvSpPr/>
          <p:nvPr/>
        </p:nvSpPr>
        <p:spPr>
          <a:xfrm>
            <a:off x="10410231" y="1815060"/>
            <a:ext cx="1447800" cy="87336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TCP SYNACK</a:t>
            </a:r>
          </a:p>
          <a:p>
            <a:pPr algn="ctr"/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SRC: 192.168.1.5 </a:t>
            </a:r>
          </a:p>
          <a:p>
            <a:pPr algn="ctr"/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DST: 10.0.0.2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Port 53 Flags=0x12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A9C3455-D811-3644-A787-5C7E026F9898}"/>
              </a:ext>
            </a:extLst>
          </p:cNvPr>
          <p:cNvGrpSpPr/>
          <p:nvPr/>
        </p:nvGrpSpPr>
        <p:grpSpPr>
          <a:xfrm>
            <a:off x="3670662" y="3020845"/>
            <a:ext cx="2465998" cy="3597247"/>
            <a:chOff x="6226175" y="1964057"/>
            <a:chExt cx="5149850" cy="2454910"/>
          </a:xfrm>
        </p:grpSpPr>
        <p:sp>
          <p:nvSpPr>
            <p:cNvPr id="46" name="Shape 7">
              <a:extLst>
                <a:ext uri="{FF2B5EF4-FFF2-40B4-BE49-F238E27FC236}">
                  <a16:creationId xmlns:a16="http://schemas.microsoft.com/office/drawing/2014/main" id="{ADE70DDB-0C11-CB30-1B28-D4C6BDE26F7F}"/>
                </a:ext>
              </a:extLst>
            </p:cNvPr>
            <p:cNvSpPr/>
            <p:nvPr/>
          </p:nvSpPr>
          <p:spPr>
            <a:xfrm>
              <a:off x="6226175" y="1964057"/>
              <a:ext cx="5149850" cy="2454910"/>
            </a:xfrm>
            <a:prstGeom prst="roundRect">
              <a:avLst>
                <a:gd name="adj" fmla="val 1940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accent2">
                  <a:lumMod val="75000"/>
                </a:scheme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Shape 8">
              <a:extLst>
                <a:ext uri="{FF2B5EF4-FFF2-40B4-BE49-F238E27FC236}">
                  <a16:creationId xmlns:a16="http://schemas.microsoft.com/office/drawing/2014/main" id="{1346E153-C367-AE8F-1675-5CED1BE983FD}"/>
                </a:ext>
              </a:extLst>
            </p:cNvPr>
            <p:cNvSpPr/>
            <p:nvPr/>
          </p:nvSpPr>
          <p:spPr>
            <a:xfrm>
              <a:off x="6404098" y="2142665"/>
              <a:ext cx="4843145" cy="2108033"/>
            </a:xfrm>
            <a:prstGeom prst="roundRect">
              <a:avLst>
                <a:gd name="adj" fmla="val 3119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 9">
              <a:extLst>
                <a:ext uri="{FF2B5EF4-FFF2-40B4-BE49-F238E27FC236}">
                  <a16:creationId xmlns:a16="http://schemas.microsoft.com/office/drawing/2014/main" id="{63B8A0DF-8B90-380F-72C0-7EF23203ED41}"/>
                </a:ext>
              </a:extLst>
            </p:cNvPr>
            <p:cNvSpPr/>
            <p:nvPr/>
          </p:nvSpPr>
          <p:spPr>
            <a:xfrm>
              <a:off x="6417075" y="2178141"/>
              <a:ext cx="4843145" cy="44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85000" lnSpcReduction="20000"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100" dirty="0">
                  <a:solidFill>
                    <a:schemeClr val="accent2"/>
                  </a:solidFill>
                </a:rPr>
                <a:t>ARP Request </a:t>
              </a:r>
            </a:p>
            <a:p>
              <a:pPr>
                <a:lnSpc>
                  <a:spcPct val="100000"/>
                </a:lnSpc>
              </a:pPr>
              <a:endParaRPr lang="en-US" sz="1300" dirty="0">
                <a:solidFill>
                  <a:schemeClr val="accent2"/>
                </a:solidFill>
              </a:endParaRPr>
            </a:p>
            <a:p>
              <a:pPr>
                <a:lnSpc>
                  <a:spcPct val="100000"/>
                </a:lnSpc>
              </a:pPr>
              <a:r>
                <a:rPr lang="en-US" sz="1300" dirty="0">
                  <a:solidFill>
                    <a:schemeClr val="accent2"/>
                  </a:solidFill>
                </a:rPr>
                <a:t>Fingerprint: ["ARP", "ARP:1:aa:bb:cc", null, null, null, 0] </a:t>
              </a:r>
            </a:p>
          </p:txBody>
        </p:sp>
        <p:sp>
          <p:nvSpPr>
            <p:cNvPr id="49" name="Text 10">
              <a:extLst>
                <a:ext uri="{FF2B5EF4-FFF2-40B4-BE49-F238E27FC236}">
                  <a16:creationId xmlns:a16="http://schemas.microsoft.com/office/drawing/2014/main" id="{F7A44E1B-3C97-EA28-FE1D-D2FD9C772F68}"/>
                </a:ext>
              </a:extLst>
            </p:cNvPr>
            <p:cNvSpPr/>
            <p:nvPr/>
          </p:nvSpPr>
          <p:spPr>
            <a:xfrm>
              <a:off x="6532880" y="2466339"/>
              <a:ext cx="4672533" cy="16061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endParaRPr lang="en-US" sz="1100" dirty="0">
                <a:latin typeface="IBM Plex Mono" panose="020B0509050203000203" pitchFamily="49" charset="0"/>
              </a:endParaRPr>
            </a:p>
            <a:p>
              <a:endParaRPr lang="en-US" sz="1100" dirty="0">
                <a:latin typeface="IBM Plex Mono" panose="020B0509050203000203" pitchFamily="49" charset="0"/>
              </a:endParaRPr>
            </a:p>
            <a:p>
              <a:r>
                <a:rPr lang="en-US" sz="1100" dirty="0">
                  <a:latin typeface="IBM Plex Mono" panose="020B0509050203000203" pitchFamily="49" charset="0"/>
                </a:rPr>
                <a:t>Count = 1</a:t>
              </a:r>
            </a:p>
            <a:p>
              <a:r>
                <a:rPr lang="en-US" sz="1100" dirty="0" err="1">
                  <a:latin typeface="IBM Plex Mono" panose="020B0509050203000203" pitchFamily="49" charset="0"/>
                </a:rPr>
                <a:t>unique_srcs</a:t>
              </a:r>
              <a:r>
                <a:rPr lang="en-US" sz="1100" dirty="0">
                  <a:latin typeface="IBM Plex Mono" panose="020B0509050203000203" pitchFamily="49" charset="0"/>
                </a:rPr>
                <a:t> = 1 (10.0.0.9)</a:t>
              </a:r>
            </a:p>
            <a:p>
              <a:r>
                <a:rPr lang="en-US" sz="1100" dirty="0" err="1">
                  <a:latin typeface="IBM Plex Mono" panose="020B0509050203000203" pitchFamily="49" charset="0"/>
                </a:rPr>
                <a:t>unique_dsts</a:t>
              </a:r>
              <a:r>
                <a:rPr lang="en-US" sz="1100" dirty="0">
                  <a:latin typeface="IBM Plex Mono" panose="020B0509050203000203" pitchFamily="49" charset="0"/>
                </a:rPr>
                <a:t> = 1 (192.168.1.1)</a:t>
              </a:r>
              <a:endParaRPr lang="en-US" sz="1100" b="1" dirty="0">
                <a:solidFill>
                  <a:schemeClr val="accent2">
                    <a:lumMod val="75000"/>
                  </a:schemeClr>
                </a:solidFill>
                <a:latin typeface="IBM Plex Mono" panose="020B0509050203000203" pitchFamily="49" charset="0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8F2BF10-CD1A-ADD9-0845-4CFB2DDC9607}"/>
              </a:ext>
            </a:extLst>
          </p:cNvPr>
          <p:cNvGrpSpPr/>
          <p:nvPr/>
        </p:nvGrpSpPr>
        <p:grpSpPr>
          <a:xfrm>
            <a:off x="6404267" y="3020844"/>
            <a:ext cx="2471487" cy="3597247"/>
            <a:chOff x="6226175" y="1964057"/>
            <a:chExt cx="5149850" cy="2454910"/>
          </a:xfrm>
        </p:grpSpPr>
        <p:sp>
          <p:nvSpPr>
            <p:cNvPr id="56" name="Shape 7">
              <a:extLst>
                <a:ext uri="{FF2B5EF4-FFF2-40B4-BE49-F238E27FC236}">
                  <a16:creationId xmlns:a16="http://schemas.microsoft.com/office/drawing/2014/main" id="{8B9A3BFC-27E3-A72A-6CFD-D3247CF411F5}"/>
                </a:ext>
              </a:extLst>
            </p:cNvPr>
            <p:cNvSpPr/>
            <p:nvPr/>
          </p:nvSpPr>
          <p:spPr>
            <a:xfrm>
              <a:off x="6226175" y="1964057"/>
              <a:ext cx="5149850" cy="2454910"/>
            </a:xfrm>
            <a:prstGeom prst="roundRect">
              <a:avLst>
                <a:gd name="adj" fmla="val 1940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accent2">
                  <a:lumMod val="75000"/>
                </a:scheme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Shape 8">
              <a:extLst>
                <a:ext uri="{FF2B5EF4-FFF2-40B4-BE49-F238E27FC236}">
                  <a16:creationId xmlns:a16="http://schemas.microsoft.com/office/drawing/2014/main" id="{73F2E702-8634-3685-35DB-0E2A169939EC}"/>
                </a:ext>
              </a:extLst>
            </p:cNvPr>
            <p:cNvSpPr/>
            <p:nvPr/>
          </p:nvSpPr>
          <p:spPr>
            <a:xfrm>
              <a:off x="6405879" y="2153002"/>
              <a:ext cx="4799533" cy="2097695"/>
            </a:xfrm>
            <a:prstGeom prst="roundRect">
              <a:avLst>
                <a:gd name="adj" fmla="val 3119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 9">
              <a:extLst>
                <a:ext uri="{FF2B5EF4-FFF2-40B4-BE49-F238E27FC236}">
                  <a16:creationId xmlns:a16="http://schemas.microsoft.com/office/drawing/2014/main" id="{F37EF550-06A1-4A7D-8752-B5BF83329D07}"/>
                </a:ext>
              </a:extLst>
            </p:cNvPr>
            <p:cNvSpPr/>
            <p:nvPr/>
          </p:nvSpPr>
          <p:spPr>
            <a:xfrm>
              <a:off x="6447573" y="2194501"/>
              <a:ext cx="4843145" cy="44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70000" lnSpcReduction="20000"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600" dirty="0">
                  <a:solidFill>
                    <a:schemeClr val="accent2"/>
                  </a:solidFill>
                </a:rPr>
                <a:t>Legitimate DNS Query</a:t>
              </a:r>
            </a:p>
            <a:p>
              <a:pPr>
                <a:lnSpc>
                  <a:spcPct val="100000"/>
                </a:lnSpc>
              </a:pPr>
              <a:endParaRPr lang="en-US" sz="1600" dirty="0">
                <a:solidFill>
                  <a:schemeClr val="accent2"/>
                </a:solidFill>
              </a:endParaRPr>
            </a:p>
            <a:p>
              <a:pPr>
                <a:lnSpc>
                  <a:spcPct val="100000"/>
                </a:lnSpc>
              </a:pPr>
              <a:r>
                <a:rPr lang="en-US" sz="1600" dirty="0">
                  <a:solidFill>
                    <a:schemeClr val="accent2"/>
                  </a:solidFill>
                </a:rPr>
                <a:t>Fingerprint: ["TCP", "SYN-ACK", null, 53, null, 0] </a:t>
              </a:r>
            </a:p>
          </p:txBody>
        </p:sp>
        <p:sp>
          <p:nvSpPr>
            <p:cNvPr id="59" name="Text 10">
              <a:extLst>
                <a:ext uri="{FF2B5EF4-FFF2-40B4-BE49-F238E27FC236}">
                  <a16:creationId xmlns:a16="http://schemas.microsoft.com/office/drawing/2014/main" id="{0BB0F790-414A-21E3-1B6A-96E86076F5D2}"/>
                </a:ext>
              </a:extLst>
            </p:cNvPr>
            <p:cNvSpPr/>
            <p:nvPr/>
          </p:nvSpPr>
          <p:spPr>
            <a:xfrm>
              <a:off x="6532880" y="2466339"/>
              <a:ext cx="4672533" cy="16061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endParaRPr lang="en-US" sz="1100" dirty="0">
                <a:latin typeface="IBM Plex Mono" panose="020B0509050203000203" pitchFamily="49" charset="0"/>
              </a:endParaRPr>
            </a:p>
            <a:p>
              <a:endParaRPr lang="en-US" sz="1100" dirty="0">
                <a:latin typeface="IBM Plex Mono" panose="020B0509050203000203" pitchFamily="49" charset="0"/>
              </a:endParaRPr>
            </a:p>
            <a:p>
              <a:r>
                <a:rPr lang="en-US" sz="1100" dirty="0">
                  <a:latin typeface="IBM Plex Mono" panose="020B0509050203000203" pitchFamily="49" charset="0"/>
                </a:rPr>
                <a:t>Count = 1</a:t>
              </a:r>
            </a:p>
            <a:p>
              <a:r>
                <a:rPr lang="en-US" sz="1100" dirty="0" err="1">
                  <a:latin typeface="IBM Plex Mono" panose="020B0509050203000203" pitchFamily="49" charset="0"/>
                </a:rPr>
                <a:t>unique_srcs</a:t>
              </a:r>
              <a:r>
                <a:rPr lang="en-US" sz="1100" dirty="0">
                  <a:latin typeface="IBM Plex Mono" panose="020B0509050203000203" pitchFamily="49" charset="0"/>
                </a:rPr>
                <a:t> = 1 (10.0.0.9)</a:t>
              </a:r>
            </a:p>
            <a:p>
              <a:r>
                <a:rPr lang="en-US" sz="1100" dirty="0" err="1">
                  <a:latin typeface="IBM Plex Mono" panose="020B0509050203000203" pitchFamily="49" charset="0"/>
                </a:rPr>
                <a:t>unique_dsts</a:t>
              </a:r>
              <a:r>
                <a:rPr lang="en-US" sz="1100" dirty="0">
                  <a:latin typeface="IBM Plex Mono" panose="020B0509050203000203" pitchFamily="49" charset="0"/>
                </a:rPr>
                <a:t> = 1 (192.168.1.5) </a:t>
              </a:r>
              <a:endParaRPr lang="en-US" sz="1100" b="1" dirty="0">
                <a:solidFill>
                  <a:schemeClr val="accent2">
                    <a:lumMod val="75000"/>
                  </a:schemeClr>
                </a:solidFill>
                <a:latin typeface="IBM Plex Mono" panose="020B0509050203000203" pitchFamily="49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93BF966-D10B-6B68-6EF8-C0B90CD585B1}"/>
              </a:ext>
            </a:extLst>
          </p:cNvPr>
          <p:cNvGrpSpPr/>
          <p:nvPr/>
        </p:nvGrpSpPr>
        <p:grpSpPr>
          <a:xfrm>
            <a:off x="9128926" y="3010767"/>
            <a:ext cx="2471487" cy="3607324"/>
            <a:chOff x="9128926" y="3010767"/>
            <a:chExt cx="2471487" cy="3607324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4060320-5A3F-E768-5C51-17D09279DD9A}"/>
                </a:ext>
              </a:extLst>
            </p:cNvPr>
            <p:cNvGrpSpPr/>
            <p:nvPr/>
          </p:nvGrpSpPr>
          <p:grpSpPr>
            <a:xfrm>
              <a:off x="9128926" y="3010767"/>
              <a:ext cx="2471487" cy="3607324"/>
              <a:chOff x="6226175" y="1964057"/>
              <a:chExt cx="5149850" cy="2454910"/>
            </a:xfrm>
          </p:grpSpPr>
          <p:sp>
            <p:nvSpPr>
              <p:cNvPr id="51" name="Shape 7">
                <a:extLst>
                  <a:ext uri="{FF2B5EF4-FFF2-40B4-BE49-F238E27FC236}">
                    <a16:creationId xmlns:a16="http://schemas.microsoft.com/office/drawing/2014/main" id="{163BBAD6-FB98-72B7-2B24-3EC59B1C977C}"/>
                  </a:ext>
                </a:extLst>
              </p:cNvPr>
              <p:cNvSpPr/>
              <p:nvPr/>
            </p:nvSpPr>
            <p:spPr>
              <a:xfrm>
                <a:off x="6226175" y="1964057"/>
                <a:ext cx="5149850" cy="2454910"/>
              </a:xfrm>
              <a:prstGeom prst="roundRect">
                <a:avLst>
                  <a:gd name="adj" fmla="val 1940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Shape 8">
                <a:extLst>
                  <a:ext uri="{FF2B5EF4-FFF2-40B4-BE49-F238E27FC236}">
                    <a16:creationId xmlns:a16="http://schemas.microsoft.com/office/drawing/2014/main" id="{AAFC370C-30BD-D309-4B14-168C99D15663}"/>
                  </a:ext>
                </a:extLst>
              </p:cNvPr>
              <p:cNvSpPr/>
              <p:nvPr/>
            </p:nvSpPr>
            <p:spPr>
              <a:xfrm>
                <a:off x="6405879" y="2153002"/>
                <a:ext cx="4799533" cy="2097695"/>
              </a:xfrm>
              <a:prstGeom prst="roundRect">
                <a:avLst>
                  <a:gd name="adj" fmla="val 3119"/>
                </a:avLst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Text 10">
                <a:extLst>
                  <a:ext uri="{FF2B5EF4-FFF2-40B4-BE49-F238E27FC236}">
                    <a16:creationId xmlns:a16="http://schemas.microsoft.com/office/drawing/2014/main" id="{F5E80C90-5F9A-0B2B-76D2-768D569C2627}"/>
                  </a:ext>
                </a:extLst>
              </p:cNvPr>
              <p:cNvSpPr/>
              <p:nvPr/>
            </p:nvSpPr>
            <p:spPr>
              <a:xfrm>
                <a:off x="6532880" y="2466339"/>
                <a:ext cx="4672533" cy="160615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endParaRPr lang="en-US" sz="1100" dirty="0">
                  <a:latin typeface="IBM Plex Mono" panose="020B0509050203000203" pitchFamily="49" charset="0"/>
                </a:endParaRPr>
              </a:p>
              <a:p>
                <a:endParaRPr lang="en-US" sz="1100" dirty="0">
                  <a:latin typeface="IBM Plex Mono" panose="020B0509050203000203" pitchFamily="49" charset="0"/>
                </a:endParaRPr>
              </a:p>
              <a:p>
                <a:r>
                  <a:rPr lang="en-US" sz="1100" dirty="0">
                    <a:latin typeface="IBM Plex Mono" panose="020B0509050203000203" pitchFamily="49" charset="0"/>
                  </a:rPr>
                  <a:t>Count = 1</a:t>
                </a:r>
              </a:p>
              <a:p>
                <a:r>
                  <a:rPr lang="en-US" sz="1100" dirty="0" err="1">
                    <a:latin typeface="IBM Plex Mono" panose="020B0509050203000203" pitchFamily="49" charset="0"/>
                  </a:rPr>
                  <a:t>unique_srcs</a:t>
                </a:r>
                <a:r>
                  <a:rPr lang="en-US" sz="1100" dirty="0">
                    <a:latin typeface="IBM Plex Mono" panose="020B0509050203000203" pitchFamily="49" charset="0"/>
                  </a:rPr>
                  <a:t> = 1 (192.168.1.5)</a:t>
                </a:r>
              </a:p>
              <a:p>
                <a:r>
                  <a:rPr lang="en-US" sz="1100" dirty="0" err="1">
                    <a:latin typeface="IBM Plex Mono" panose="020B0509050203000203" pitchFamily="49" charset="0"/>
                  </a:rPr>
                  <a:t>unique_dsts</a:t>
                </a:r>
                <a:r>
                  <a:rPr lang="en-US" sz="1100" dirty="0">
                    <a:latin typeface="IBM Plex Mono" panose="020B0509050203000203" pitchFamily="49" charset="0"/>
                  </a:rPr>
                  <a:t> = 1 (10.0.0.2) </a:t>
                </a:r>
                <a:endParaRPr lang="en-US" sz="1100" b="1" dirty="0">
                  <a:solidFill>
                    <a:schemeClr val="accent2">
                      <a:lumMod val="75000"/>
                    </a:schemeClr>
                  </a:solidFill>
                  <a:latin typeface="IBM Plex Mono" panose="020B0509050203000203" pitchFamily="49" charset="0"/>
                </a:endParaRPr>
              </a:p>
            </p:txBody>
          </p:sp>
        </p:grpSp>
        <p:sp>
          <p:nvSpPr>
            <p:cNvPr id="61" name="Text 9">
              <a:extLst>
                <a:ext uri="{FF2B5EF4-FFF2-40B4-BE49-F238E27FC236}">
                  <a16:creationId xmlns:a16="http://schemas.microsoft.com/office/drawing/2014/main" id="{FDF6DF0D-7046-2AB6-D31B-30E5F7DAA806}"/>
                </a:ext>
              </a:extLst>
            </p:cNvPr>
            <p:cNvSpPr/>
            <p:nvPr/>
          </p:nvSpPr>
          <p:spPr>
            <a:xfrm>
              <a:off x="9276118" y="3377988"/>
              <a:ext cx="2324295" cy="6624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70000" lnSpcReduction="20000"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600" dirty="0">
                  <a:solidFill>
                    <a:schemeClr val="accent2"/>
                  </a:solidFill>
                </a:rPr>
                <a:t>TCP SYN ACK</a:t>
              </a:r>
            </a:p>
            <a:p>
              <a:pPr>
                <a:lnSpc>
                  <a:spcPct val="100000"/>
                </a:lnSpc>
              </a:pPr>
              <a:endParaRPr lang="en-US" sz="1600" dirty="0">
                <a:solidFill>
                  <a:schemeClr val="accent2"/>
                </a:solidFill>
              </a:endParaRPr>
            </a:p>
            <a:p>
              <a:pPr>
                <a:lnSpc>
                  <a:spcPct val="100000"/>
                </a:lnSpc>
              </a:pPr>
              <a:r>
                <a:rPr lang="en-US" sz="1600" dirty="0">
                  <a:solidFill>
                    <a:schemeClr val="accent2"/>
                  </a:solidFill>
                </a:rPr>
                <a:t>Fingerprint: ["TCP", "SYN-ACK", null, 53, null, 0]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7440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8" grpId="0" animBg="1"/>
      <p:bldP spid="39" grpId="0" animBg="1"/>
      <p:bldP spid="40" grpId="0" animBg="1"/>
      <p:bldP spid="41" grpId="0" animBg="1"/>
      <p:bldP spid="43" grpId="0" animBg="1"/>
      <p:bldP spid="4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1F779-63BE-8847-C97C-A0DF89CA0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22E79-6F57-BC34-B9DB-E6ECC82E6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IBM Plex Mono" panose="020B0509050203000203" pitchFamily="49" charset="0"/>
              </a:rPr>
              <a:t>Preprocessor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04CCEF8-7E81-FE64-A0A4-E25C2B971EDF}"/>
              </a:ext>
            </a:extLst>
          </p:cNvPr>
          <p:cNvGrpSpPr/>
          <p:nvPr/>
        </p:nvGrpSpPr>
        <p:grpSpPr>
          <a:xfrm>
            <a:off x="5619087" y="184726"/>
            <a:ext cx="4190034" cy="1474021"/>
            <a:chOff x="6226175" y="1964057"/>
            <a:chExt cx="5149850" cy="2454910"/>
          </a:xfrm>
        </p:grpSpPr>
        <p:sp>
          <p:nvSpPr>
            <p:cNvPr id="5" name="Shape 7">
              <a:extLst>
                <a:ext uri="{FF2B5EF4-FFF2-40B4-BE49-F238E27FC236}">
                  <a16:creationId xmlns:a16="http://schemas.microsoft.com/office/drawing/2014/main" id="{60AEA058-6B10-87AB-6853-35DB7BE366B7}"/>
                </a:ext>
              </a:extLst>
            </p:cNvPr>
            <p:cNvSpPr/>
            <p:nvPr/>
          </p:nvSpPr>
          <p:spPr>
            <a:xfrm>
              <a:off x="6226175" y="1964057"/>
              <a:ext cx="5149850" cy="2454910"/>
            </a:xfrm>
            <a:prstGeom prst="roundRect">
              <a:avLst>
                <a:gd name="adj" fmla="val 1940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accent2">
                  <a:lumMod val="75000"/>
                </a:scheme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8">
              <a:extLst>
                <a:ext uri="{FF2B5EF4-FFF2-40B4-BE49-F238E27FC236}">
                  <a16:creationId xmlns:a16="http://schemas.microsoft.com/office/drawing/2014/main" id="{E85DF072-ADE4-C4FE-725C-CFE0E6AF97EA}"/>
                </a:ext>
              </a:extLst>
            </p:cNvPr>
            <p:cNvSpPr/>
            <p:nvPr/>
          </p:nvSpPr>
          <p:spPr>
            <a:xfrm>
              <a:off x="6405880" y="2143760"/>
              <a:ext cx="4790440" cy="2097695"/>
            </a:xfrm>
            <a:prstGeom prst="roundRect">
              <a:avLst>
                <a:gd name="adj" fmla="val 3119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9">
              <a:extLst>
                <a:ext uri="{FF2B5EF4-FFF2-40B4-BE49-F238E27FC236}">
                  <a16:creationId xmlns:a16="http://schemas.microsoft.com/office/drawing/2014/main" id="{4F4A842D-B272-E895-BDE8-C2FF9CC480DB}"/>
                </a:ext>
              </a:extLst>
            </p:cNvPr>
            <p:cNvSpPr/>
            <p:nvPr/>
          </p:nvSpPr>
          <p:spPr>
            <a:xfrm>
              <a:off x="6532880" y="2270760"/>
              <a:ext cx="4672533" cy="44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540"/>
                </a:lnSpc>
                <a:buNone/>
              </a:pPr>
              <a:r>
                <a:rPr lang="en-US" sz="2000" b="1" dirty="0">
                  <a:solidFill>
                    <a:schemeClr val="accent2">
                      <a:lumMod val="50000"/>
                    </a:schemeClr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Cluster</a:t>
              </a:r>
              <a:endParaRPr lang="en-US" sz="2000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8" name="Text 10">
              <a:extLst>
                <a:ext uri="{FF2B5EF4-FFF2-40B4-BE49-F238E27FC236}">
                  <a16:creationId xmlns:a16="http://schemas.microsoft.com/office/drawing/2014/main" id="{CF4A67B9-7911-E8E8-73E8-1EAE619739B5}"/>
                </a:ext>
              </a:extLst>
            </p:cNvPr>
            <p:cNvSpPr/>
            <p:nvPr/>
          </p:nvSpPr>
          <p:spPr>
            <a:xfrm>
              <a:off x="6532880" y="2466339"/>
              <a:ext cx="4672533" cy="16061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520"/>
                </a:lnSpc>
                <a:buNone/>
              </a:pPr>
              <a:endParaRPr lang="en-US" sz="11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endParaRPr>
            </a:p>
            <a:p>
              <a:pPr marL="0" indent="0" algn="l">
                <a:lnSpc>
                  <a:spcPts val="1520"/>
                </a:lnSpc>
                <a:buNone/>
              </a:pPr>
              <a:r>
                <a:rPr lang="en-US" sz="1100" dirty="0" err="1">
                  <a:solidFill>
                    <a:srgbClr val="4A5568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fingerprint_key</a:t>
              </a:r>
              <a:endParaRPr lang="en-US" sz="1100" dirty="0"/>
            </a:p>
            <a:p>
              <a:pPr marL="0" indent="0" algn="l">
                <a:lnSpc>
                  <a:spcPts val="1520"/>
                </a:lnSpc>
                <a:buNone/>
              </a:pPr>
              <a:r>
                <a:rPr lang="en-US" sz="1100" dirty="0">
                  <a:solidFill>
                    <a:srgbClr val="4A5568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representative_items: list[ReducedItem]</a:t>
              </a:r>
              <a:endParaRPr lang="en-US" sz="1100" dirty="0"/>
            </a:p>
            <a:p>
              <a:pPr marL="0" indent="0" algn="l">
                <a:lnSpc>
                  <a:spcPts val="1520"/>
                </a:lnSpc>
                <a:buNone/>
              </a:pPr>
              <a:r>
                <a:rPr lang="en-US" sz="1100" dirty="0">
                  <a:solidFill>
                    <a:srgbClr val="4A5568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aggregate: </a:t>
              </a:r>
              <a:r>
                <a:rPr lang="en-US" sz="1100" dirty="0" err="1">
                  <a:solidFill>
                    <a:srgbClr val="4A5568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AggregateStats</a:t>
              </a:r>
              <a:endParaRPr lang="en-US" sz="1100" b="1" dirty="0">
                <a:solidFill>
                  <a:schemeClr val="accent2">
                    <a:lumMod val="75000"/>
                  </a:schemeClr>
                </a:solidFill>
              </a:endParaRPr>
            </a:p>
            <a:p>
              <a:pPr marL="0" indent="0" algn="l">
                <a:lnSpc>
                  <a:spcPts val="1520"/>
                </a:lnSpc>
                <a:buNone/>
              </a:pPr>
              <a:r>
                <a:rPr lang="en-US" sz="1100" dirty="0">
                  <a:solidFill>
                    <a:srgbClr val="4A5568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metadata: </a:t>
              </a:r>
              <a:r>
                <a:rPr lang="en-US" sz="1100" dirty="0" err="1">
                  <a:solidFill>
                    <a:srgbClr val="4A5568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ClusterMetadata</a:t>
              </a:r>
              <a:endParaRPr lang="en-US" sz="11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1E9DC94-F59E-BC8C-DBEB-3B236A4D3522}"/>
              </a:ext>
            </a:extLst>
          </p:cNvPr>
          <p:cNvGrpSpPr/>
          <p:nvPr/>
        </p:nvGrpSpPr>
        <p:grpSpPr>
          <a:xfrm>
            <a:off x="756896" y="3016134"/>
            <a:ext cx="2643680" cy="3601958"/>
            <a:chOff x="6226175" y="1964057"/>
            <a:chExt cx="5149850" cy="2454910"/>
          </a:xfrm>
        </p:grpSpPr>
        <p:sp>
          <p:nvSpPr>
            <p:cNvPr id="15" name="Shape 7">
              <a:extLst>
                <a:ext uri="{FF2B5EF4-FFF2-40B4-BE49-F238E27FC236}">
                  <a16:creationId xmlns:a16="http://schemas.microsoft.com/office/drawing/2014/main" id="{C8264C6B-386F-E349-D8C4-858D0414EC58}"/>
                </a:ext>
              </a:extLst>
            </p:cNvPr>
            <p:cNvSpPr/>
            <p:nvPr/>
          </p:nvSpPr>
          <p:spPr>
            <a:xfrm>
              <a:off x="6226175" y="1964057"/>
              <a:ext cx="5149850" cy="2454910"/>
            </a:xfrm>
            <a:prstGeom prst="roundRect">
              <a:avLst>
                <a:gd name="adj" fmla="val 1940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accent2">
                  <a:lumMod val="75000"/>
                </a:scheme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Shape 8">
              <a:extLst>
                <a:ext uri="{FF2B5EF4-FFF2-40B4-BE49-F238E27FC236}">
                  <a16:creationId xmlns:a16="http://schemas.microsoft.com/office/drawing/2014/main" id="{179552E6-07AE-6828-18E0-4A85434C6F27}"/>
                </a:ext>
              </a:extLst>
            </p:cNvPr>
            <p:cNvSpPr/>
            <p:nvPr/>
          </p:nvSpPr>
          <p:spPr>
            <a:xfrm>
              <a:off x="6405880" y="2153002"/>
              <a:ext cx="4790441" cy="2097695"/>
            </a:xfrm>
            <a:prstGeom prst="roundRect">
              <a:avLst>
                <a:gd name="adj" fmla="val 3119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9">
              <a:extLst>
                <a:ext uri="{FF2B5EF4-FFF2-40B4-BE49-F238E27FC236}">
                  <a16:creationId xmlns:a16="http://schemas.microsoft.com/office/drawing/2014/main" id="{6BCFA9E9-DB21-B564-0BB9-C8CF30B5BCAF}"/>
                </a:ext>
              </a:extLst>
            </p:cNvPr>
            <p:cNvSpPr/>
            <p:nvPr/>
          </p:nvSpPr>
          <p:spPr>
            <a:xfrm>
              <a:off x="6532881" y="2153003"/>
              <a:ext cx="4663442" cy="2450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62500" lnSpcReduction="20000"/>
            </a:bodyPr>
            <a:lstStyle/>
            <a:p>
              <a:pPr>
                <a:lnSpc>
                  <a:spcPct val="100000"/>
                </a:lnSpc>
              </a:pPr>
              <a:endParaRPr lang="en-US" sz="1400" dirty="0">
                <a:solidFill>
                  <a:schemeClr val="accent2"/>
                </a:solidFill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2900" dirty="0">
                  <a:solidFill>
                    <a:schemeClr val="accent2"/>
                  </a:solidFill>
                </a:rPr>
                <a:t> SYN flood </a:t>
              </a:r>
            </a:p>
          </p:txBody>
        </p:sp>
      </p:grpSp>
      <p:sp>
        <p:nvSpPr>
          <p:cNvPr id="23" name="Packet 1">
            <a:extLst>
              <a:ext uri="{FF2B5EF4-FFF2-40B4-BE49-F238E27FC236}">
                <a16:creationId xmlns:a16="http://schemas.microsoft.com/office/drawing/2014/main" id="{C86A1518-F032-719B-3329-9E8B74DFF85A}"/>
              </a:ext>
            </a:extLst>
          </p:cNvPr>
          <p:cNvSpPr/>
          <p:nvPr/>
        </p:nvSpPr>
        <p:spPr>
          <a:xfrm>
            <a:off x="528365" y="1815060"/>
            <a:ext cx="1447800" cy="88783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TCP SYN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SRC: 10.0.0.1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DST: 192.168.1.5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Port 53 Flags=0x02</a:t>
            </a:r>
          </a:p>
        </p:txBody>
      </p:sp>
      <p:sp>
        <p:nvSpPr>
          <p:cNvPr id="38" name="Packet 1">
            <a:extLst>
              <a:ext uri="{FF2B5EF4-FFF2-40B4-BE49-F238E27FC236}">
                <a16:creationId xmlns:a16="http://schemas.microsoft.com/office/drawing/2014/main" id="{DB548B9A-5F39-0A1C-6435-E668698F6BFE}"/>
              </a:ext>
            </a:extLst>
          </p:cNvPr>
          <p:cNvSpPr/>
          <p:nvPr/>
        </p:nvSpPr>
        <p:spPr>
          <a:xfrm>
            <a:off x="2122377" y="1829529"/>
            <a:ext cx="1447800" cy="87336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TCP SYN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SRC: 10.0.0.2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DST: 192.168.1.5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Port 53 Flags=0x02</a:t>
            </a:r>
          </a:p>
        </p:txBody>
      </p:sp>
      <p:sp>
        <p:nvSpPr>
          <p:cNvPr id="39" name="Packet 1">
            <a:extLst>
              <a:ext uri="{FF2B5EF4-FFF2-40B4-BE49-F238E27FC236}">
                <a16:creationId xmlns:a16="http://schemas.microsoft.com/office/drawing/2014/main" id="{39C3EDDE-7A56-05E9-1C2C-BF064FC2D4EA}"/>
              </a:ext>
            </a:extLst>
          </p:cNvPr>
          <p:cNvSpPr/>
          <p:nvPr/>
        </p:nvSpPr>
        <p:spPr>
          <a:xfrm>
            <a:off x="3759850" y="1829530"/>
            <a:ext cx="1447800" cy="87336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TCP SYN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SRC: 10.0.0.3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DST: 192.168.1.5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Port 53 Flags=0x02</a:t>
            </a:r>
          </a:p>
        </p:txBody>
      </p:sp>
      <p:sp>
        <p:nvSpPr>
          <p:cNvPr id="43" name="Packet 1">
            <a:extLst>
              <a:ext uri="{FF2B5EF4-FFF2-40B4-BE49-F238E27FC236}">
                <a16:creationId xmlns:a16="http://schemas.microsoft.com/office/drawing/2014/main" id="{F62BF245-A350-D3FF-58BE-43A3FCFE9417}"/>
              </a:ext>
            </a:extLst>
          </p:cNvPr>
          <p:cNvSpPr/>
          <p:nvPr/>
        </p:nvSpPr>
        <p:spPr>
          <a:xfrm>
            <a:off x="8627677" y="1820734"/>
            <a:ext cx="1447800" cy="87336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TCP SYN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SRC: 10.0.0.4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DST: 192.168.1.5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Port 53 Flags=0x02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E0203E0-4377-BFAF-4941-C8D021DCDF9E}"/>
              </a:ext>
            </a:extLst>
          </p:cNvPr>
          <p:cNvGrpSpPr/>
          <p:nvPr/>
        </p:nvGrpSpPr>
        <p:grpSpPr>
          <a:xfrm>
            <a:off x="3670662" y="3020845"/>
            <a:ext cx="2465998" cy="3597247"/>
            <a:chOff x="6226175" y="1964057"/>
            <a:chExt cx="5149850" cy="2454910"/>
          </a:xfrm>
        </p:grpSpPr>
        <p:sp>
          <p:nvSpPr>
            <p:cNvPr id="46" name="Shape 7">
              <a:extLst>
                <a:ext uri="{FF2B5EF4-FFF2-40B4-BE49-F238E27FC236}">
                  <a16:creationId xmlns:a16="http://schemas.microsoft.com/office/drawing/2014/main" id="{0A88AC87-BB97-1209-3F15-BC593EB36693}"/>
                </a:ext>
              </a:extLst>
            </p:cNvPr>
            <p:cNvSpPr/>
            <p:nvPr/>
          </p:nvSpPr>
          <p:spPr>
            <a:xfrm>
              <a:off x="6226175" y="1964057"/>
              <a:ext cx="5149850" cy="2454910"/>
            </a:xfrm>
            <a:prstGeom prst="roundRect">
              <a:avLst>
                <a:gd name="adj" fmla="val 1940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accent2">
                  <a:lumMod val="75000"/>
                </a:scheme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Shape 8">
              <a:extLst>
                <a:ext uri="{FF2B5EF4-FFF2-40B4-BE49-F238E27FC236}">
                  <a16:creationId xmlns:a16="http://schemas.microsoft.com/office/drawing/2014/main" id="{0EB48F09-E9B9-1023-F243-09EE2BA13081}"/>
                </a:ext>
              </a:extLst>
            </p:cNvPr>
            <p:cNvSpPr/>
            <p:nvPr/>
          </p:nvSpPr>
          <p:spPr>
            <a:xfrm>
              <a:off x="6404098" y="2142665"/>
              <a:ext cx="4843145" cy="2108033"/>
            </a:xfrm>
            <a:prstGeom prst="roundRect">
              <a:avLst>
                <a:gd name="adj" fmla="val 3119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 9">
              <a:extLst>
                <a:ext uri="{FF2B5EF4-FFF2-40B4-BE49-F238E27FC236}">
                  <a16:creationId xmlns:a16="http://schemas.microsoft.com/office/drawing/2014/main" id="{CAE02800-18BD-405B-2DE8-AAB948D0A238}"/>
                </a:ext>
              </a:extLst>
            </p:cNvPr>
            <p:cNvSpPr/>
            <p:nvPr/>
          </p:nvSpPr>
          <p:spPr>
            <a:xfrm>
              <a:off x="6417075" y="2178141"/>
              <a:ext cx="4843145" cy="2172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dirty="0">
                  <a:solidFill>
                    <a:schemeClr val="accent2"/>
                  </a:solidFill>
                </a:rPr>
                <a:t>ARP Request </a:t>
              </a:r>
            </a:p>
            <a:p>
              <a:pPr>
                <a:lnSpc>
                  <a:spcPct val="100000"/>
                </a:lnSpc>
              </a:pPr>
              <a:endParaRPr lang="en-US" sz="1300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3C2B93B-685C-06B0-5864-C1EB5CA629AE}"/>
              </a:ext>
            </a:extLst>
          </p:cNvPr>
          <p:cNvGrpSpPr/>
          <p:nvPr/>
        </p:nvGrpSpPr>
        <p:grpSpPr>
          <a:xfrm>
            <a:off x="6404267" y="3020844"/>
            <a:ext cx="2471487" cy="3597247"/>
            <a:chOff x="6226175" y="1964057"/>
            <a:chExt cx="5149850" cy="2454910"/>
          </a:xfrm>
        </p:grpSpPr>
        <p:sp>
          <p:nvSpPr>
            <p:cNvPr id="56" name="Shape 7">
              <a:extLst>
                <a:ext uri="{FF2B5EF4-FFF2-40B4-BE49-F238E27FC236}">
                  <a16:creationId xmlns:a16="http://schemas.microsoft.com/office/drawing/2014/main" id="{34D3E879-C40F-1133-12E0-12A4A2CA196A}"/>
                </a:ext>
              </a:extLst>
            </p:cNvPr>
            <p:cNvSpPr/>
            <p:nvPr/>
          </p:nvSpPr>
          <p:spPr>
            <a:xfrm>
              <a:off x="6226175" y="1964057"/>
              <a:ext cx="5149850" cy="2454910"/>
            </a:xfrm>
            <a:prstGeom prst="roundRect">
              <a:avLst>
                <a:gd name="adj" fmla="val 1940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accent2">
                  <a:lumMod val="75000"/>
                </a:scheme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Shape 8">
              <a:extLst>
                <a:ext uri="{FF2B5EF4-FFF2-40B4-BE49-F238E27FC236}">
                  <a16:creationId xmlns:a16="http://schemas.microsoft.com/office/drawing/2014/main" id="{32E8D446-C19A-DDAA-C40B-B0181CD3FB2B}"/>
                </a:ext>
              </a:extLst>
            </p:cNvPr>
            <p:cNvSpPr/>
            <p:nvPr/>
          </p:nvSpPr>
          <p:spPr>
            <a:xfrm>
              <a:off x="6405879" y="2153002"/>
              <a:ext cx="4799533" cy="2097695"/>
            </a:xfrm>
            <a:prstGeom prst="roundRect">
              <a:avLst>
                <a:gd name="adj" fmla="val 3119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 9">
              <a:extLst>
                <a:ext uri="{FF2B5EF4-FFF2-40B4-BE49-F238E27FC236}">
                  <a16:creationId xmlns:a16="http://schemas.microsoft.com/office/drawing/2014/main" id="{20EC9F4D-7FCF-3F8B-733E-F139CE1FAD5B}"/>
                </a:ext>
              </a:extLst>
            </p:cNvPr>
            <p:cNvSpPr/>
            <p:nvPr/>
          </p:nvSpPr>
          <p:spPr>
            <a:xfrm>
              <a:off x="6447573" y="2194501"/>
              <a:ext cx="4843145" cy="44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900" dirty="0">
                  <a:solidFill>
                    <a:schemeClr val="accent2"/>
                  </a:solidFill>
                </a:rPr>
                <a:t>Legitimate DNS Query</a:t>
              </a:r>
            </a:p>
            <a:p>
              <a:pPr>
                <a:lnSpc>
                  <a:spcPct val="100000"/>
                </a:lnSpc>
              </a:pPr>
              <a:endParaRPr lang="en-US" sz="1600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A1E3D0D-32AD-F758-8AB0-F04C22C4D443}"/>
              </a:ext>
            </a:extLst>
          </p:cNvPr>
          <p:cNvGrpSpPr/>
          <p:nvPr/>
        </p:nvGrpSpPr>
        <p:grpSpPr>
          <a:xfrm>
            <a:off x="9128926" y="3010767"/>
            <a:ext cx="2471487" cy="3607324"/>
            <a:chOff x="9128926" y="3010767"/>
            <a:chExt cx="2471487" cy="3607324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59DABE5A-1A7C-4F9D-6694-18001A572D67}"/>
                </a:ext>
              </a:extLst>
            </p:cNvPr>
            <p:cNvGrpSpPr/>
            <p:nvPr/>
          </p:nvGrpSpPr>
          <p:grpSpPr>
            <a:xfrm>
              <a:off x="9128926" y="3010767"/>
              <a:ext cx="2471487" cy="3607324"/>
              <a:chOff x="6226175" y="1964057"/>
              <a:chExt cx="5149850" cy="2454910"/>
            </a:xfrm>
          </p:grpSpPr>
          <p:sp>
            <p:nvSpPr>
              <p:cNvPr id="51" name="Shape 7">
                <a:extLst>
                  <a:ext uri="{FF2B5EF4-FFF2-40B4-BE49-F238E27FC236}">
                    <a16:creationId xmlns:a16="http://schemas.microsoft.com/office/drawing/2014/main" id="{7376034C-CFD3-F467-8BAB-C90100230835}"/>
                  </a:ext>
                </a:extLst>
              </p:cNvPr>
              <p:cNvSpPr/>
              <p:nvPr/>
            </p:nvSpPr>
            <p:spPr>
              <a:xfrm>
                <a:off x="6226175" y="1964057"/>
                <a:ext cx="5149850" cy="2454910"/>
              </a:xfrm>
              <a:prstGeom prst="roundRect">
                <a:avLst>
                  <a:gd name="adj" fmla="val 1940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Shape 8">
                <a:extLst>
                  <a:ext uri="{FF2B5EF4-FFF2-40B4-BE49-F238E27FC236}">
                    <a16:creationId xmlns:a16="http://schemas.microsoft.com/office/drawing/2014/main" id="{A86894DA-ECF5-8C05-8798-3478E71847A4}"/>
                  </a:ext>
                </a:extLst>
              </p:cNvPr>
              <p:cNvSpPr/>
              <p:nvPr/>
            </p:nvSpPr>
            <p:spPr>
              <a:xfrm>
                <a:off x="6405879" y="2153002"/>
                <a:ext cx="4799533" cy="2097695"/>
              </a:xfrm>
              <a:prstGeom prst="roundRect">
                <a:avLst>
                  <a:gd name="adj" fmla="val 3119"/>
                </a:avLst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1" name="Text 9">
              <a:extLst>
                <a:ext uri="{FF2B5EF4-FFF2-40B4-BE49-F238E27FC236}">
                  <a16:creationId xmlns:a16="http://schemas.microsoft.com/office/drawing/2014/main" id="{6B27F6C6-85D3-B446-B83E-694B2619BE24}"/>
                </a:ext>
              </a:extLst>
            </p:cNvPr>
            <p:cNvSpPr/>
            <p:nvPr/>
          </p:nvSpPr>
          <p:spPr>
            <a:xfrm>
              <a:off x="9276118" y="3377988"/>
              <a:ext cx="2324295" cy="6624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dirty="0">
                  <a:solidFill>
                    <a:schemeClr val="accent2"/>
                  </a:solidFill>
                </a:rPr>
                <a:t>TCP SYN ACK</a:t>
              </a:r>
            </a:p>
          </p:txBody>
        </p:sp>
      </p:grpSp>
      <p:sp>
        <p:nvSpPr>
          <p:cNvPr id="40" name="Packet 1">
            <a:extLst>
              <a:ext uri="{FF2B5EF4-FFF2-40B4-BE49-F238E27FC236}">
                <a16:creationId xmlns:a16="http://schemas.microsoft.com/office/drawing/2014/main" id="{1F89B1EE-C1C2-8D50-39C6-E46330C2E20D}"/>
              </a:ext>
            </a:extLst>
          </p:cNvPr>
          <p:cNvSpPr/>
          <p:nvPr/>
        </p:nvSpPr>
        <p:spPr>
          <a:xfrm>
            <a:off x="5360050" y="1829530"/>
            <a:ext cx="1447800" cy="87336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UDP DNS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SRC: 10.0.0.9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DST: 192.168.1.5</a:t>
            </a:r>
          </a:p>
          <a:p>
            <a:pPr marL="0" indent="0" algn="ctr">
              <a:buNone/>
            </a:pPr>
            <a:r>
              <a:rPr lang="en-US" sz="1050" dirty="0" err="1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Query:”google.com</a:t>
            </a: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”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Entropy low</a:t>
            </a:r>
          </a:p>
        </p:txBody>
      </p:sp>
      <p:sp>
        <p:nvSpPr>
          <p:cNvPr id="44" name="Packet 1">
            <a:extLst>
              <a:ext uri="{FF2B5EF4-FFF2-40B4-BE49-F238E27FC236}">
                <a16:creationId xmlns:a16="http://schemas.microsoft.com/office/drawing/2014/main" id="{2889EBCB-F4F9-E3D9-399B-7D8A96DEF99E}"/>
              </a:ext>
            </a:extLst>
          </p:cNvPr>
          <p:cNvSpPr/>
          <p:nvPr/>
        </p:nvSpPr>
        <p:spPr>
          <a:xfrm>
            <a:off x="10410231" y="1815060"/>
            <a:ext cx="1447800" cy="87336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TCP SYNACK</a:t>
            </a:r>
          </a:p>
          <a:p>
            <a:pPr algn="ctr"/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SRC: 192.168.1.5 </a:t>
            </a:r>
          </a:p>
          <a:p>
            <a:pPr algn="ctr"/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DST: 10.0.0.2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Port 53 Flags=0x12</a:t>
            </a:r>
          </a:p>
        </p:txBody>
      </p:sp>
      <p:sp>
        <p:nvSpPr>
          <p:cNvPr id="41" name="Packet 1">
            <a:extLst>
              <a:ext uri="{FF2B5EF4-FFF2-40B4-BE49-F238E27FC236}">
                <a16:creationId xmlns:a16="http://schemas.microsoft.com/office/drawing/2014/main" id="{F8AE5788-8143-C596-752F-A65255A7DA87}"/>
              </a:ext>
            </a:extLst>
          </p:cNvPr>
          <p:cNvSpPr/>
          <p:nvPr/>
        </p:nvSpPr>
        <p:spPr>
          <a:xfrm>
            <a:off x="6990204" y="1813013"/>
            <a:ext cx="1447800" cy="88988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ARP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SRC: 10.0.0.9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DST: 192.168.1.1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Op=1 </a:t>
            </a:r>
            <a:r>
              <a:rPr lang="en-US" sz="1050" dirty="0" err="1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MAC:aa:bb:CC</a:t>
            </a:r>
            <a:endParaRPr lang="en-US" sz="1050" dirty="0">
              <a:solidFill>
                <a:srgbClr val="FFFFFF"/>
              </a:solidFill>
              <a:latin typeface="IBM Plex Mono" pitchFamily="34" charset="0"/>
              <a:ea typeface="IBM Plex Mono" pitchFamily="34" charset="-122"/>
              <a:cs typeface="IBM Plex Mono" pitchFamily="34" charset="-12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A5CE2E-9330-86AD-8F16-9A0FB7AF0115}"/>
              </a:ext>
            </a:extLst>
          </p:cNvPr>
          <p:cNvSpPr txBox="1"/>
          <p:nvPr/>
        </p:nvSpPr>
        <p:spPr>
          <a:xfrm>
            <a:off x="983226" y="5753568"/>
            <a:ext cx="21827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Primary</a:t>
            </a:r>
          </a:p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D503BB-476E-7E42-92CC-58CEA3967156}"/>
              </a:ext>
            </a:extLst>
          </p:cNvPr>
          <p:cNvSpPr txBox="1"/>
          <p:nvPr/>
        </p:nvSpPr>
        <p:spPr>
          <a:xfrm>
            <a:off x="3820440" y="5706745"/>
            <a:ext cx="21827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REMNANT</a:t>
            </a:r>
          </a:p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FAE69D-3792-B093-4E04-61E3E85EEF48}"/>
              </a:ext>
            </a:extLst>
          </p:cNvPr>
          <p:cNvSpPr txBox="1"/>
          <p:nvPr/>
        </p:nvSpPr>
        <p:spPr>
          <a:xfrm>
            <a:off x="6548629" y="5659922"/>
            <a:ext cx="21827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REMNANT</a:t>
            </a:r>
          </a:p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A707EC-0EA5-651B-6F38-8A651ED0B96B}"/>
              </a:ext>
            </a:extLst>
          </p:cNvPr>
          <p:cNvSpPr txBox="1"/>
          <p:nvPr/>
        </p:nvSpPr>
        <p:spPr>
          <a:xfrm>
            <a:off x="9215169" y="5647473"/>
            <a:ext cx="21827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SECONDARY</a:t>
            </a:r>
          </a:p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0331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1.85185E-6 L 0.04726 0.28264 L 0.04492 0.28079 " pathEditMode="relative" rAng="0" ptsTypes="AAA">
                                      <p:cBhvr>
                                        <p:cTn id="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57" y="141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95 -0.00717 L -0.05664 0.42037 L -0.05742 0.41875 " pathEditMode="relative" ptsTypes="AAA">
                                      <p:cBhvr>
                                        <p:cTn id="10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7.40741E-7 L 0.12878 0.35625 L 0.12878 0.35648 L 0.12552 0.35208 " pathEditMode="relative" rAng="0" ptsTypes="AAAA">
                                      <p:cBhvr>
                                        <p:cTn id="19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32" y="178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729 -0.02477 L -0.23971 0.35486 L -0.23971 0.35486 " pathEditMode="relative" ptsTypes="AAA">
                                      <p:cBhvr>
                                        <p:cTn id="23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3.7037E-7 L -0.05547 0.35486 L -0.05547 0.35509 " pathEditMode="relative" rAng="0" ptsTypes="AAA">
                                      <p:cBhvr>
                                        <p:cTn id="32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73" y="177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8" grpId="0" animBg="1"/>
      <p:bldP spid="39" grpId="0" animBg="1"/>
      <p:bldP spid="43" grpId="0" animBg="1"/>
      <p:bldP spid="40" grpId="0" animBg="1"/>
      <p:bldP spid="44" grpId="0" animBg="1"/>
      <p:bldP spid="41" grpId="0" animBg="1"/>
      <p:bldP spid="9" grpId="0"/>
      <p:bldP spid="10" grpId="0"/>
      <p:bldP spid="11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6BE7A-FFFE-E5B6-93AF-30A614633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9FBD8-63C6-3B4C-651F-8F608E95D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IBM Plex Mono" panose="020B0509050203000203" pitchFamily="49" charset="0"/>
              </a:rPr>
              <a:t>Grounder: Follow up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0F351-F998-500B-DB9F-05C49E1AD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757" y="1605037"/>
            <a:ext cx="10515600" cy="4351338"/>
          </a:xfrm>
        </p:spPr>
        <p:txBody>
          <a:bodyPr/>
          <a:lstStyle/>
          <a:p>
            <a:r>
              <a:rPr lang="en-US" dirty="0">
                <a:latin typeface="IBM Plex Mono" panose="020B0509050203000203" pitchFamily="49" charset="0"/>
              </a:rPr>
              <a:t>Before</a:t>
            </a:r>
            <a:r>
              <a:rPr lang="en-US" dirty="0"/>
              <a:t>:</a:t>
            </a:r>
            <a:endParaRPr lang="he-IL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latin typeface="IBM Plex Mono" panose="020B0509050203000203" pitchFamily="49" charset="0"/>
              </a:rPr>
              <a:t>After: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26FFFB3-CF84-AFC3-17C1-D4A85795B623}"/>
              </a:ext>
            </a:extLst>
          </p:cNvPr>
          <p:cNvGrpSpPr/>
          <p:nvPr/>
        </p:nvGrpSpPr>
        <p:grpSpPr>
          <a:xfrm>
            <a:off x="1704340" y="2832989"/>
            <a:ext cx="9250680" cy="936614"/>
            <a:chOff x="1704340" y="2832989"/>
            <a:chExt cx="9250680" cy="93661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A4098F3-2C2C-2A6B-0062-9D731BDDAF9D}"/>
                </a:ext>
              </a:extLst>
            </p:cNvPr>
            <p:cNvSpPr txBox="1"/>
            <p:nvPr/>
          </p:nvSpPr>
          <p:spPr>
            <a:xfrm>
              <a:off x="4518660" y="3184828"/>
              <a:ext cx="9652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IBM Plex Mono" panose="020B0509050203000203" pitchFamily="49" charset="0"/>
                </a:rPr>
                <a:t>LLM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4157693B-E8AB-A7D3-9256-2AE9228D28A6}"/>
                </a:ext>
              </a:extLst>
            </p:cNvPr>
            <p:cNvCxnSpPr/>
            <p:nvPr/>
          </p:nvCxnSpPr>
          <p:spPr>
            <a:xfrm>
              <a:off x="5717540" y="3494709"/>
              <a:ext cx="1463040" cy="0"/>
            </a:xfrm>
            <a:prstGeom prst="straightConnector1">
              <a:avLst/>
            </a:prstGeom>
            <a:ln w="5715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7EDD5BE7-E05E-BA12-D4C4-84A05F612234}"/>
                </a:ext>
              </a:extLst>
            </p:cNvPr>
            <p:cNvCxnSpPr/>
            <p:nvPr/>
          </p:nvCxnSpPr>
          <p:spPr>
            <a:xfrm>
              <a:off x="2842260" y="3477215"/>
              <a:ext cx="1463040" cy="0"/>
            </a:xfrm>
            <a:prstGeom prst="straightConnector1">
              <a:avLst/>
            </a:prstGeom>
            <a:ln w="5715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E446430-F699-3261-1D37-52514FB8AB8E}"/>
                </a:ext>
              </a:extLst>
            </p:cNvPr>
            <p:cNvSpPr txBox="1"/>
            <p:nvPr/>
          </p:nvSpPr>
          <p:spPr>
            <a:xfrm>
              <a:off x="1704340" y="3202321"/>
              <a:ext cx="9652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IBM Plex Mono" panose="020B0509050203000203" pitchFamily="49" charset="0"/>
                </a:rPr>
                <a:t>Reduced PCAP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07A79B1-2AB6-0B78-80CB-2A60E1B19435}"/>
                </a:ext>
              </a:extLst>
            </p:cNvPr>
            <p:cNvSpPr txBox="1"/>
            <p:nvPr/>
          </p:nvSpPr>
          <p:spPr>
            <a:xfrm>
              <a:off x="2730500" y="2886527"/>
              <a:ext cx="15544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accent2">
                      <a:lumMod val="75000"/>
                    </a:schemeClr>
                  </a:solidFill>
                  <a:latin typeface="IBM Plex Mono" panose="020B0509050203000203" pitchFamily="49" charset="0"/>
                </a:rPr>
                <a:t>Analyzed </a:t>
              </a:r>
            </a:p>
            <a:p>
              <a:pPr algn="ctr"/>
              <a:r>
                <a:rPr lang="en-US" sz="1400" dirty="0">
                  <a:solidFill>
                    <a:schemeClr val="accent2">
                      <a:lumMod val="75000"/>
                    </a:schemeClr>
                  </a:solidFill>
                  <a:latin typeface="IBM Plex Mono" panose="020B0509050203000203" pitchFamily="49" charset="0"/>
                </a:rPr>
                <a:t>Indicators 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EFFF06C-F228-F0E8-D185-7F723E87A4B1}"/>
                </a:ext>
              </a:extLst>
            </p:cNvPr>
            <p:cNvSpPr txBox="1"/>
            <p:nvPr/>
          </p:nvSpPr>
          <p:spPr>
            <a:xfrm>
              <a:off x="7353300" y="3280581"/>
              <a:ext cx="3561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  <a:latin typeface="IBM Plex Mono" panose="020B0509050203000203" pitchFamily="49" charset="0"/>
                </a:rPr>
                <a:t>Step x: Packets {#1, #3, #7}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95D443D-0B42-65FF-8A0F-755D133D0E22}"/>
                </a:ext>
              </a:extLst>
            </p:cNvPr>
            <p:cNvSpPr txBox="1"/>
            <p:nvPr/>
          </p:nvSpPr>
          <p:spPr>
            <a:xfrm>
              <a:off x="7393940" y="2832989"/>
              <a:ext cx="3561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IBM Plex Mono" panose="020B0509050203000203" pitchFamily="49" charset="0"/>
                </a:rPr>
                <a:t>Grounding Dictionary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F7A250A-45D3-49A1-7350-5647CBB96553}"/>
              </a:ext>
            </a:extLst>
          </p:cNvPr>
          <p:cNvGrpSpPr/>
          <p:nvPr/>
        </p:nvGrpSpPr>
        <p:grpSpPr>
          <a:xfrm>
            <a:off x="194131" y="4158904"/>
            <a:ext cx="11527845" cy="1075113"/>
            <a:chOff x="79624" y="4606929"/>
            <a:chExt cx="11527845" cy="107511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28A217F-BD86-4EE4-45FD-2597E09FA394}"/>
                </a:ext>
              </a:extLst>
            </p:cNvPr>
            <p:cNvSpPr txBox="1"/>
            <p:nvPr/>
          </p:nvSpPr>
          <p:spPr>
            <a:xfrm>
              <a:off x="5638027" y="4606929"/>
              <a:ext cx="15544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accent2">
                      <a:lumMod val="75000"/>
                    </a:schemeClr>
                  </a:solidFill>
                  <a:latin typeface="IBM Plex Mono" panose="020B0509050203000203" pitchFamily="49" charset="0"/>
                </a:rPr>
                <a:t>Ranking Score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24F3199-FD4D-2315-9066-723619235125}"/>
                </a:ext>
              </a:extLst>
            </p:cNvPr>
            <p:cNvGrpSpPr/>
            <p:nvPr/>
          </p:nvGrpSpPr>
          <p:grpSpPr>
            <a:xfrm>
              <a:off x="79624" y="4851045"/>
              <a:ext cx="11527845" cy="830997"/>
              <a:chOff x="725557" y="3009589"/>
              <a:chExt cx="11527845" cy="830997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0351A0B-C1F5-F257-EE16-19674BAD658A}"/>
                  </a:ext>
                </a:extLst>
              </p:cNvPr>
              <p:cNvSpPr txBox="1"/>
              <p:nvPr/>
            </p:nvSpPr>
            <p:spPr>
              <a:xfrm>
                <a:off x="4869843" y="3009589"/>
                <a:ext cx="233194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accent2"/>
                    </a:solidFill>
                    <a:latin typeface="IBM Plex Mono" panose="020B0509050203000203" pitchFamily="49" charset="0"/>
                  </a:rPr>
                  <a:t>Cross - Encoder</a:t>
                </a:r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014A753F-1F13-AFFF-370A-D51B854DB5C8}"/>
                  </a:ext>
                </a:extLst>
              </p:cNvPr>
              <p:cNvCxnSpPr/>
              <p:nvPr/>
            </p:nvCxnSpPr>
            <p:spPr>
              <a:xfrm>
                <a:off x="6329680" y="3429000"/>
                <a:ext cx="1463040" cy="0"/>
              </a:xfrm>
              <a:prstGeom prst="straightConnector1">
                <a:avLst/>
              </a:prstGeom>
              <a:ln w="57150">
                <a:solidFill>
                  <a:schemeClr val="accent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913452CE-E786-B46C-6BD2-A22946FE7122}"/>
                  </a:ext>
                </a:extLst>
              </p:cNvPr>
              <p:cNvCxnSpPr/>
              <p:nvPr/>
            </p:nvCxnSpPr>
            <p:spPr>
              <a:xfrm>
                <a:off x="3454400" y="3411506"/>
                <a:ext cx="1463040" cy="0"/>
              </a:xfrm>
              <a:prstGeom prst="straightConnector1">
                <a:avLst/>
              </a:prstGeom>
              <a:ln w="57150">
                <a:solidFill>
                  <a:schemeClr val="accent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9B367F1-10B5-8849-72D1-A7A640EF2F76}"/>
                  </a:ext>
                </a:extLst>
              </p:cNvPr>
              <p:cNvSpPr txBox="1"/>
              <p:nvPr/>
            </p:nvSpPr>
            <p:spPr>
              <a:xfrm>
                <a:off x="725557" y="3167390"/>
                <a:ext cx="304954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IBM Plex Mono" panose="020B0509050203000203" pitchFamily="49" charset="0"/>
                  </a:rPr>
                  <a:t>[Step Description, Clusters]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9B2CADC-98B9-DB63-E088-B23FFF1B743F}"/>
                  </a:ext>
                </a:extLst>
              </p:cNvPr>
              <p:cNvSpPr txBox="1"/>
              <p:nvPr/>
            </p:nvSpPr>
            <p:spPr>
              <a:xfrm>
                <a:off x="7965440" y="3275111"/>
                <a:ext cx="428796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chemeClr val="accent2">
                        <a:lumMod val="75000"/>
                      </a:schemeClr>
                    </a:solidFill>
                    <a:latin typeface="IBM Plex Mono" panose="020B0509050203000203" pitchFamily="49" charset="0"/>
                  </a:rPr>
                  <a:t>Fitting Cluster(s) grounding the step</a:t>
                </a:r>
              </a:p>
            </p:txBody>
          </p:sp>
        </p:grp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EBCB43BA-F373-1B54-C1FD-454C94F0D212}"/>
              </a:ext>
            </a:extLst>
          </p:cNvPr>
          <p:cNvSpPr txBox="1"/>
          <p:nvPr/>
        </p:nvSpPr>
        <p:spPr>
          <a:xfrm>
            <a:off x="194131" y="5833826"/>
            <a:ext cx="118037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No Hallucinations:</a:t>
            </a:r>
            <a:r>
              <a:rPr lang="en-US" sz="2400" dirty="0"/>
              <a:t> Deterministic similarity scoring replaces generative free-text parsing</a:t>
            </a:r>
          </a:p>
        </p:txBody>
      </p:sp>
    </p:spTree>
    <p:extLst>
      <p:ext uri="{BB962C8B-B14F-4D97-AF65-F5344CB8AC3E}">
        <p14:creationId xmlns:p14="http://schemas.microsoft.com/office/powerpoint/2010/main" val="2666218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6F0B5-B73C-C280-0347-0E107CD47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864F-B4AF-F3F0-63D8-09F6D2E95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IBM Plex Mono" panose="020B0509050203000203" pitchFamily="49" charset="0"/>
              </a:rPr>
              <a:t>Grounder: Follow up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6A021-52CD-3BA2-5251-D11B8F6F6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757" y="1605037"/>
            <a:ext cx="10515600" cy="4351338"/>
          </a:xfrm>
        </p:spPr>
        <p:txBody>
          <a:bodyPr/>
          <a:lstStyle/>
          <a:p>
            <a:r>
              <a:rPr lang="en-US" dirty="0">
                <a:latin typeface="IBM Plex Mono" panose="020B0509050203000203" pitchFamily="49" charset="0"/>
              </a:rPr>
              <a:t>Before</a:t>
            </a:r>
            <a:r>
              <a:rPr lang="en-US" dirty="0"/>
              <a:t>:</a:t>
            </a:r>
            <a:endParaRPr lang="he-IL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latin typeface="IBM Plex Mono" panose="020B0509050203000203" pitchFamily="49" charset="0"/>
              </a:rPr>
              <a:t>After: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1DEDABC-BE22-00AE-5A40-5935BF2F4827}"/>
              </a:ext>
            </a:extLst>
          </p:cNvPr>
          <p:cNvGrpSpPr/>
          <p:nvPr/>
        </p:nvGrpSpPr>
        <p:grpSpPr>
          <a:xfrm>
            <a:off x="1704340" y="2832989"/>
            <a:ext cx="9250680" cy="936614"/>
            <a:chOff x="1704340" y="2832989"/>
            <a:chExt cx="9250680" cy="93661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381B75F-BFF7-7A68-D8DE-E592FC936599}"/>
                </a:ext>
              </a:extLst>
            </p:cNvPr>
            <p:cNvSpPr txBox="1"/>
            <p:nvPr/>
          </p:nvSpPr>
          <p:spPr>
            <a:xfrm>
              <a:off x="4518660" y="3184828"/>
              <a:ext cx="9652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IBM Plex Mono" panose="020B0509050203000203" pitchFamily="49" charset="0"/>
                </a:rPr>
                <a:t>LLM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AFC4BFC-6DF7-6D73-FD47-8223B6EA5E08}"/>
                </a:ext>
              </a:extLst>
            </p:cNvPr>
            <p:cNvCxnSpPr/>
            <p:nvPr/>
          </p:nvCxnSpPr>
          <p:spPr>
            <a:xfrm>
              <a:off x="5717540" y="3494709"/>
              <a:ext cx="1463040" cy="0"/>
            </a:xfrm>
            <a:prstGeom prst="straightConnector1">
              <a:avLst/>
            </a:prstGeom>
            <a:ln w="5715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CBC96C3D-E573-CC77-317C-8E3E5C2BCEE6}"/>
                </a:ext>
              </a:extLst>
            </p:cNvPr>
            <p:cNvCxnSpPr/>
            <p:nvPr/>
          </p:nvCxnSpPr>
          <p:spPr>
            <a:xfrm>
              <a:off x="2842260" y="3477215"/>
              <a:ext cx="1463040" cy="0"/>
            </a:xfrm>
            <a:prstGeom prst="straightConnector1">
              <a:avLst/>
            </a:prstGeom>
            <a:ln w="5715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C45BAB9-BAA8-F643-F6B3-045B188EC0EE}"/>
                </a:ext>
              </a:extLst>
            </p:cNvPr>
            <p:cNvSpPr txBox="1"/>
            <p:nvPr/>
          </p:nvSpPr>
          <p:spPr>
            <a:xfrm>
              <a:off x="1704340" y="3202321"/>
              <a:ext cx="9652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IBM Plex Mono" panose="020B0509050203000203" pitchFamily="49" charset="0"/>
                </a:rPr>
                <a:t>Reduced PCAP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32B3A1C-FF4A-A328-5868-39CD5B1FC8A8}"/>
                </a:ext>
              </a:extLst>
            </p:cNvPr>
            <p:cNvSpPr txBox="1"/>
            <p:nvPr/>
          </p:nvSpPr>
          <p:spPr>
            <a:xfrm>
              <a:off x="2730500" y="2886527"/>
              <a:ext cx="15544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accent2">
                      <a:lumMod val="75000"/>
                    </a:schemeClr>
                  </a:solidFill>
                  <a:latin typeface="IBM Plex Mono" panose="020B0509050203000203" pitchFamily="49" charset="0"/>
                </a:rPr>
                <a:t>Analyzed </a:t>
              </a:r>
            </a:p>
            <a:p>
              <a:pPr algn="ctr"/>
              <a:r>
                <a:rPr lang="en-US" sz="1400" dirty="0">
                  <a:solidFill>
                    <a:schemeClr val="accent2">
                      <a:lumMod val="75000"/>
                    </a:schemeClr>
                  </a:solidFill>
                  <a:latin typeface="IBM Plex Mono" panose="020B0509050203000203" pitchFamily="49" charset="0"/>
                </a:rPr>
                <a:t>Indicators 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870B2A3-4998-6030-80CF-3A288B36C026}"/>
                </a:ext>
              </a:extLst>
            </p:cNvPr>
            <p:cNvSpPr txBox="1"/>
            <p:nvPr/>
          </p:nvSpPr>
          <p:spPr>
            <a:xfrm>
              <a:off x="7353300" y="3280581"/>
              <a:ext cx="3561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  <a:latin typeface="IBM Plex Mono" panose="020B0509050203000203" pitchFamily="49" charset="0"/>
                </a:rPr>
                <a:t>Step x: Packets {#1, #3, #7}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7C3B5F5-FDE1-597B-0A2B-339583938D86}"/>
                </a:ext>
              </a:extLst>
            </p:cNvPr>
            <p:cNvSpPr txBox="1"/>
            <p:nvPr/>
          </p:nvSpPr>
          <p:spPr>
            <a:xfrm>
              <a:off x="7393940" y="2832989"/>
              <a:ext cx="3561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IBM Plex Mono" panose="020B0509050203000203" pitchFamily="49" charset="0"/>
                </a:rPr>
                <a:t>Grounding Dictionary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F13D31C-50AA-7305-27DC-568283649B57}"/>
              </a:ext>
            </a:extLst>
          </p:cNvPr>
          <p:cNvGrpSpPr/>
          <p:nvPr/>
        </p:nvGrpSpPr>
        <p:grpSpPr>
          <a:xfrm>
            <a:off x="194131" y="4158904"/>
            <a:ext cx="11527845" cy="1075113"/>
            <a:chOff x="79624" y="4606929"/>
            <a:chExt cx="11527845" cy="107511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945A080-4E47-2118-5BDA-CDEE0FACFE58}"/>
                </a:ext>
              </a:extLst>
            </p:cNvPr>
            <p:cNvSpPr txBox="1"/>
            <p:nvPr/>
          </p:nvSpPr>
          <p:spPr>
            <a:xfrm>
              <a:off x="5638027" y="4606929"/>
              <a:ext cx="15544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accent2">
                      <a:lumMod val="75000"/>
                    </a:schemeClr>
                  </a:solidFill>
                  <a:latin typeface="IBM Plex Mono" panose="020B0509050203000203" pitchFamily="49" charset="0"/>
                </a:rPr>
                <a:t>Ranking Score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86ADD54-5B05-85B6-B316-A5C5E6F1FE4C}"/>
                </a:ext>
              </a:extLst>
            </p:cNvPr>
            <p:cNvGrpSpPr/>
            <p:nvPr/>
          </p:nvGrpSpPr>
          <p:grpSpPr>
            <a:xfrm>
              <a:off x="79624" y="4851045"/>
              <a:ext cx="11527845" cy="830997"/>
              <a:chOff x="725557" y="3009589"/>
              <a:chExt cx="11527845" cy="830997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2612731-F064-0F3D-9CF0-963CDDCEDBCD}"/>
                  </a:ext>
                </a:extLst>
              </p:cNvPr>
              <p:cNvSpPr txBox="1"/>
              <p:nvPr/>
            </p:nvSpPr>
            <p:spPr>
              <a:xfrm>
                <a:off x="4869843" y="3009589"/>
                <a:ext cx="233194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accent2"/>
                    </a:solidFill>
                    <a:latin typeface="IBM Plex Mono" panose="020B0509050203000203" pitchFamily="49" charset="0"/>
                  </a:rPr>
                  <a:t>Cross - Encoder</a:t>
                </a:r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AC0DA81B-44C4-4029-2B8D-1C6FE549E634}"/>
                  </a:ext>
                </a:extLst>
              </p:cNvPr>
              <p:cNvCxnSpPr/>
              <p:nvPr/>
            </p:nvCxnSpPr>
            <p:spPr>
              <a:xfrm>
                <a:off x="6329680" y="3429000"/>
                <a:ext cx="1463040" cy="0"/>
              </a:xfrm>
              <a:prstGeom prst="straightConnector1">
                <a:avLst/>
              </a:prstGeom>
              <a:ln w="57150">
                <a:solidFill>
                  <a:schemeClr val="accent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0C17C15B-BCCF-E200-C8E7-0FD10A64A51B}"/>
                  </a:ext>
                </a:extLst>
              </p:cNvPr>
              <p:cNvCxnSpPr/>
              <p:nvPr/>
            </p:nvCxnSpPr>
            <p:spPr>
              <a:xfrm>
                <a:off x="3454400" y="3411506"/>
                <a:ext cx="1463040" cy="0"/>
              </a:xfrm>
              <a:prstGeom prst="straightConnector1">
                <a:avLst/>
              </a:prstGeom>
              <a:ln w="57150">
                <a:solidFill>
                  <a:schemeClr val="accent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1CBDEFD-5AFF-68FF-0F11-9265880236FE}"/>
                  </a:ext>
                </a:extLst>
              </p:cNvPr>
              <p:cNvSpPr txBox="1"/>
              <p:nvPr/>
            </p:nvSpPr>
            <p:spPr>
              <a:xfrm>
                <a:off x="725557" y="3167390"/>
                <a:ext cx="304954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IBM Plex Mono" panose="020B0509050203000203" pitchFamily="49" charset="0"/>
                  </a:rPr>
                  <a:t>[Step Description, Clusters]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336217B-7556-6776-55D9-05C4446460C7}"/>
                  </a:ext>
                </a:extLst>
              </p:cNvPr>
              <p:cNvSpPr txBox="1"/>
              <p:nvPr/>
            </p:nvSpPr>
            <p:spPr>
              <a:xfrm>
                <a:off x="7965440" y="3275111"/>
                <a:ext cx="428796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chemeClr val="accent2">
                        <a:lumMod val="75000"/>
                      </a:schemeClr>
                    </a:solidFill>
                    <a:latin typeface="IBM Plex Mono" panose="020B0509050203000203" pitchFamily="49" charset="0"/>
                  </a:rPr>
                  <a:t>Fitting Cluster(s) grounding the step</a:t>
                </a:r>
              </a:p>
            </p:txBody>
          </p:sp>
        </p:grp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D3728353-B175-831D-8808-EB30E47969CD}"/>
              </a:ext>
            </a:extLst>
          </p:cNvPr>
          <p:cNvSpPr txBox="1"/>
          <p:nvPr/>
        </p:nvSpPr>
        <p:spPr>
          <a:xfrm>
            <a:off x="194131" y="5833826"/>
            <a:ext cx="118037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Error Detection&amp; Reproducibility:</a:t>
            </a:r>
            <a:r>
              <a:rPr lang="en-US" sz="2400" dirty="0"/>
              <a:t> Misclassification errors are easier to find than to track down if the model hallucinated an answer.</a:t>
            </a:r>
          </a:p>
        </p:txBody>
      </p:sp>
    </p:spTree>
    <p:extLst>
      <p:ext uri="{BB962C8B-B14F-4D97-AF65-F5344CB8AC3E}">
        <p14:creationId xmlns:p14="http://schemas.microsoft.com/office/powerpoint/2010/main" val="41199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3D58A-9837-E212-55F7-7839AD204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A72C2-4760-54A8-193B-C04886035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IBM Plex Mono" panose="020B0509050203000203" pitchFamily="49" charset="0"/>
              </a:rPr>
              <a:t>Grounder: Follow up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83120-E373-75E7-AFC5-EE20594D9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757" y="1605037"/>
            <a:ext cx="10515600" cy="4351338"/>
          </a:xfrm>
        </p:spPr>
        <p:txBody>
          <a:bodyPr/>
          <a:lstStyle/>
          <a:p>
            <a:r>
              <a:rPr lang="en-US" dirty="0">
                <a:latin typeface="IBM Plex Mono" panose="020B0509050203000203" pitchFamily="49" charset="0"/>
              </a:rPr>
              <a:t>Before</a:t>
            </a:r>
            <a:r>
              <a:rPr lang="en-US" dirty="0"/>
              <a:t>:</a:t>
            </a:r>
            <a:endParaRPr lang="he-IL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latin typeface="IBM Plex Mono" panose="020B0509050203000203" pitchFamily="49" charset="0"/>
              </a:rPr>
              <a:t>After: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FC42A62-FDE5-A20D-9491-F6CA9A0194E2}"/>
              </a:ext>
            </a:extLst>
          </p:cNvPr>
          <p:cNvGrpSpPr/>
          <p:nvPr/>
        </p:nvGrpSpPr>
        <p:grpSpPr>
          <a:xfrm>
            <a:off x="1704340" y="2832989"/>
            <a:ext cx="9250680" cy="936614"/>
            <a:chOff x="1704340" y="2832989"/>
            <a:chExt cx="9250680" cy="93661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DE97A49-85DE-F8F2-0B1F-8F07DC200CE5}"/>
                </a:ext>
              </a:extLst>
            </p:cNvPr>
            <p:cNvSpPr txBox="1"/>
            <p:nvPr/>
          </p:nvSpPr>
          <p:spPr>
            <a:xfrm>
              <a:off x="4518660" y="3184828"/>
              <a:ext cx="9652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IBM Plex Mono" panose="020B0509050203000203" pitchFamily="49" charset="0"/>
                </a:rPr>
                <a:t>LLM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955A5115-3FD4-396C-D320-B30CBDCD67C2}"/>
                </a:ext>
              </a:extLst>
            </p:cNvPr>
            <p:cNvCxnSpPr/>
            <p:nvPr/>
          </p:nvCxnSpPr>
          <p:spPr>
            <a:xfrm>
              <a:off x="5717540" y="3494709"/>
              <a:ext cx="1463040" cy="0"/>
            </a:xfrm>
            <a:prstGeom prst="straightConnector1">
              <a:avLst/>
            </a:prstGeom>
            <a:ln w="5715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8C0279D-AF03-400B-8140-D42332F71460}"/>
                </a:ext>
              </a:extLst>
            </p:cNvPr>
            <p:cNvCxnSpPr/>
            <p:nvPr/>
          </p:nvCxnSpPr>
          <p:spPr>
            <a:xfrm>
              <a:off x="2842260" y="3477215"/>
              <a:ext cx="1463040" cy="0"/>
            </a:xfrm>
            <a:prstGeom prst="straightConnector1">
              <a:avLst/>
            </a:prstGeom>
            <a:ln w="5715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CED65CE-9ED3-2443-4240-68E1777D32FE}"/>
                </a:ext>
              </a:extLst>
            </p:cNvPr>
            <p:cNvSpPr txBox="1"/>
            <p:nvPr/>
          </p:nvSpPr>
          <p:spPr>
            <a:xfrm>
              <a:off x="1704340" y="3202321"/>
              <a:ext cx="9652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IBM Plex Mono" panose="020B0509050203000203" pitchFamily="49" charset="0"/>
                </a:rPr>
                <a:t>Reduced PCAP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E2193FB-9F30-DC96-ACCF-54C3FB07E005}"/>
                </a:ext>
              </a:extLst>
            </p:cNvPr>
            <p:cNvSpPr txBox="1"/>
            <p:nvPr/>
          </p:nvSpPr>
          <p:spPr>
            <a:xfrm>
              <a:off x="2730500" y="2886527"/>
              <a:ext cx="15544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accent2">
                      <a:lumMod val="75000"/>
                    </a:schemeClr>
                  </a:solidFill>
                  <a:latin typeface="IBM Plex Mono" panose="020B0509050203000203" pitchFamily="49" charset="0"/>
                </a:rPr>
                <a:t>Analyzed </a:t>
              </a:r>
            </a:p>
            <a:p>
              <a:pPr algn="ctr"/>
              <a:r>
                <a:rPr lang="en-US" sz="1400" dirty="0">
                  <a:solidFill>
                    <a:schemeClr val="accent2">
                      <a:lumMod val="75000"/>
                    </a:schemeClr>
                  </a:solidFill>
                  <a:latin typeface="IBM Plex Mono" panose="020B0509050203000203" pitchFamily="49" charset="0"/>
                </a:rPr>
                <a:t>Indicators 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434655A-34D9-846E-7056-470DFABBA71F}"/>
                </a:ext>
              </a:extLst>
            </p:cNvPr>
            <p:cNvSpPr txBox="1"/>
            <p:nvPr/>
          </p:nvSpPr>
          <p:spPr>
            <a:xfrm>
              <a:off x="7353300" y="3280581"/>
              <a:ext cx="3561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  <a:latin typeface="IBM Plex Mono" panose="020B0509050203000203" pitchFamily="49" charset="0"/>
                </a:rPr>
                <a:t>Step x: Packets {#1, #3, #7}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6F0995C-96E9-40C9-8B37-ACF048CCB53A}"/>
                </a:ext>
              </a:extLst>
            </p:cNvPr>
            <p:cNvSpPr txBox="1"/>
            <p:nvPr/>
          </p:nvSpPr>
          <p:spPr>
            <a:xfrm>
              <a:off x="7393940" y="2832989"/>
              <a:ext cx="3561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IBM Plex Mono" panose="020B0509050203000203" pitchFamily="49" charset="0"/>
                </a:rPr>
                <a:t>Grounding Dictionary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30C2B2E-6FEC-5A97-FBB2-FB3BCF7878F7}"/>
              </a:ext>
            </a:extLst>
          </p:cNvPr>
          <p:cNvGrpSpPr/>
          <p:nvPr/>
        </p:nvGrpSpPr>
        <p:grpSpPr>
          <a:xfrm>
            <a:off x="194131" y="4158904"/>
            <a:ext cx="11527845" cy="1075113"/>
            <a:chOff x="79624" y="4606929"/>
            <a:chExt cx="11527845" cy="107511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BE57FD1-CBEC-E214-5ECE-5E810CCADAE3}"/>
                </a:ext>
              </a:extLst>
            </p:cNvPr>
            <p:cNvSpPr txBox="1"/>
            <p:nvPr/>
          </p:nvSpPr>
          <p:spPr>
            <a:xfrm>
              <a:off x="5638027" y="4606929"/>
              <a:ext cx="15544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accent2">
                      <a:lumMod val="75000"/>
                    </a:schemeClr>
                  </a:solidFill>
                  <a:latin typeface="IBM Plex Mono" panose="020B0509050203000203" pitchFamily="49" charset="0"/>
                </a:rPr>
                <a:t>Ranking Score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CB8076A-D69E-C468-4A2E-8251A9185570}"/>
                </a:ext>
              </a:extLst>
            </p:cNvPr>
            <p:cNvGrpSpPr/>
            <p:nvPr/>
          </p:nvGrpSpPr>
          <p:grpSpPr>
            <a:xfrm>
              <a:off x="79624" y="4851045"/>
              <a:ext cx="11527845" cy="830997"/>
              <a:chOff x="725557" y="3009589"/>
              <a:chExt cx="11527845" cy="830997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D3A0D97-FB06-7F58-62AE-15A6316BD658}"/>
                  </a:ext>
                </a:extLst>
              </p:cNvPr>
              <p:cNvSpPr txBox="1"/>
              <p:nvPr/>
            </p:nvSpPr>
            <p:spPr>
              <a:xfrm>
                <a:off x="4869843" y="3009589"/>
                <a:ext cx="233194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accent2"/>
                    </a:solidFill>
                    <a:latin typeface="IBM Plex Mono" panose="020B0509050203000203" pitchFamily="49" charset="0"/>
                  </a:rPr>
                  <a:t>Cross - Encoder</a:t>
                </a:r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7282D79E-A9BE-E195-E5F6-14688D82B034}"/>
                  </a:ext>
                </a:extLst>
              </p:cNvPr>
              <p:cNvCxnSpPr/>
              <p:nvPr/>
            </p:nvCxnSpPr>
            <p:spPr>
              <a:xfrm>
                <a:off x="6329680" y="3429000"/>
                <a:ext cx="1463040" cy="0"/>
              </a:xfrm>
              <a:prstGeom prst="straightConnector1">
                <a:avLst/>
              </a:prstGeom>
              <a:ln w="57150">
                <a:solidFill>
                  <a:schemeClr val="accent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48C837AA-7BA8-17F6-4979-75353B8699A3}"/>
                  </a:ext>
                </a:extLst>
              </p:cNvPr>
              <p:cNvCxnSpPr/>
              <p:nvPr/>
            </p:nvCxnSpPr>
            <p:spPr>
              <a:xfrm>
                <a:off x="3454400" y="3411506"/>
                <a:ext cx="1463040" cy="0"/>
              </a:xfrm>
              <a:prstGeom prst="straightConnector1">
                <a:avLst/>
              </a:prstGeom>
              <a:ln w="57150">
                <a:solidFill>
                  <a:schemeClr val="accent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2A8C2A2-1EF6-5759-2843-C88AF538613E}"/>
                  </a:ext>
                </a:extLst>
              </p:cNvPr>
              <p:cNvSpPr txBox="1"/>
              <p:nvPr/>
            </p:nvSpPr>
            <p:spPr>
              <a:xfrm>
                <a:off x="725557" y="3167390"/>
                <a:ext cx="304954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IBM Plex Mono" panose="020B0509050203000203" pitchFamily="49" charset="0"/>
                  </a:rPr>
                  <a:t>[Step Description, Clusters]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1FB3C33-8A7A-80F1-9F7C-8D405F51D98F}"/>
                  </a:ext>
                </a:extLst>
              </p:cNvPr>
              <p:cNvSpPr txBox="1"/>
              <p:nvPr/>
            </p:nvSpPr>
            <p:spPr>
              <a:xfrm>
                <a:off x="7965440" y="3275111"/>
                <a:ext cx="428796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chemeClr val="accent2">
                        <a:lumMod val="75000"/>
                      </a:schemeClr>
                    </a:solidFill>
                    <a:latin typeface="IBM Plex Mono" panose="020B0509050203000203" pitchFamily="49" charset="0"/>
                  </a:rPr>
                  <a:t>Fitting Cluster(s) grounding the step</a:t>
                </a:r>
              </a:p>
            </p:txBody>
          </p:sp>
        </p:grp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28A070C-E919-42B4-34D9-A23B337FFA5B}"/>
              </a:ext>
            </a:extLst>
          </p:cNvPr>
          <p:cNvSpPr txBox="1"/>
          <p:nvPr/>
        </p:nvSpPr>
        <p:spPr>
          <a:xfrm>
            <a:off x="194131" y="5833826"/>
            <a:ext cx="118037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Benchmarkable Performance:</a:t>
            </a:r>
            <a:r>
              <a:rPr lang="en-US" sz="2400" dirty="0"/>
              <a:t> Enables standard ranking metrics for evaluation against tagged-dataset</a:t>
            </a:r>
          </a:p>
        </p:txBody>
      </p:sp>
    </p:spTree>
    <p:extLst>
      <p:ext uri="{BB962C8B-B14F-4D97-AF65-F5344CB8AC3E}">
        <p14:creationId xmlns:p14="http://schemas.microsoft.com/office/powerpoint/2010/main" val="4070270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640E97C-7F6F-465E-8459-CB5995D86BA1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27707927-8642-42ec-bb36-6e564eb96be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19841</TotalTime>
  <Words>2182</Words>
  <Application>Microsoft Office PowerPoint</Application>
  <PresentationFormat>Widescreen</PresentationFormat>
  <Paragraphs>387</Paragraphs>
  <Slides>13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IBM Plex Mono</vt:lpstr>
      <vt:lpstr>Office Theme</vt:lpstr>
      <vt:lpstr>1_Office Theme</vt:lpstr>
      <vt:lpstr>PowerPoint Presentation</vt:lpstr>
      <vt:lpstr>Preprocessor</vt:lpstr>
      <vt:lpstr>Preprocessor</vt:lpstr>
      <vt:lpstr>Preprocessor</vt:lpstr>
      <vt:lpstr>PowerPoint Presentation</vt:lpstr>
      <vt:lpstr>PowerPoint Presentation</vt:lpstr>
      <vt:lpstr>PowerPoint Presentation</vt:lpstr>
      <vt:lpstr>PowerPoint Presentation</vt:lpstr>
      <vt:lpstr>Preprocessor</vt:lpstr>
      <vt:lpstr>Preprocessor</vt:lpstr>
      <vt:lpstr>Grounder: Follow up Changes</vt:lpstr>
      <vt:lpstr>Grounder: Follow up Changes</vt:lpstr>
      <vt:lpstr>Grounder: Follow up Changes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PAnGEA Preprocessor — Architecture Redesign</dc:title>
  <dc:subject>PptxGenJS Presentation</dc:subject>
  <dc:creator>PptxGenJS</dc:creator>
  <cp:lastModifiedBy>Shachar Gabbay</cp:lastModifiedBy>
  <cp:revision>12</cp:revision>
  <dcterms:created xsi:type="dcterms:W3CDTF">2026-09-27T16:21:23Z</dcterms:created>
  <dcterms:modified xsi:type="dcterms:W3CDTF">2026-10-11T11:03:18Z</dcterms:modified>
</cp:coreProperties>
</file>