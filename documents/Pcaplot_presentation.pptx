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12" r:id="rId3"/>
    <p:sldId id="311" r:id="rId4"/>
    <p:sldId id="341" r:id="rId5"/>
    <p:sldId id="319" r:id="rId6"/>
    <p:sldId id="338" r:id="rId7"/>
    <p:sldId id="316" r:id="rId8"/>
    <p:sldId id="280" r:id="rId9"/>
    <p:sldId id="327" r:id="rId10"/>
    <p:sldId id="309" r:id="rId11"/>
    <p:sldId id="340" r:id="rId12"/>
    <p:sldId id="303" r:id="rId13"/>
    <p:sldId id="339" r:id="rId14"/>
    <p:sldId id="335" r:id="rId15"/>
    <p:sldId id="332" r:id="rId16"/>
    <p:sldId id="318" r:id="rId17"/>
    <p:sldId id="342" r:id="rId18"/>
    <p:sldId id="333" r:id="rId19"/>
    <p:sldId id="282" r:id="rId20"/>
    <p:sldId id="337" r:id="rId21"/>
    <p:sldId id="323" r:id="rId22"/>
    <p:sldId id="326" r:id="rId23"/>
    <p:sldId id="336" r:id="rId24"/>
    <p:sldId id="334" r:id="rId25"/>
    <p:sldId id="279" r:id="rId26"/>
    <p:sldId id="29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B93"/>
    <a:srgbClr val="C836B7"/>
    <a:srgbClr val="FFFFFF"/>
    <a:srgbClr val="FF9CC5"/>
    <a:srgbClr val="601F77"/>
    <a:srgbClr val="FF9FCB"/>
    <a:srgbClr val="B698F2"/>
    <a:srgbClr val="9900CC"/>
    <a:srgbClr val="DDD98B"/>
    <a:srgbClr val="FFF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74644" autoAdjust="0"/>
  </p:normalViewPr>
  <p:slideViewPr>
    <p:cSldViewPr snapToGrid="0">
      <p:cViewPr varScale="1">
        <p:scale>
          <a:sx n="47" d="100"/>
          <a:sy n="47" d="100"/>
        </p:scale>
        <p:origin x="1408" y="44"/>
      </p:cViewPr>
      <p:guideLst/>
    </p:cSldViewPr>
  </p:slideViewPr>
  <p:notesTextViewPr>
    <p:cViewPr>
      <p:scale>
        <a:sx n="1" d="1"/>
        <a:sy n="1" d="1"/>
      </p:scale>
      <p:origin x="0" y="-28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143DDC-0CAF-4CF1-A961-CDBBE10868FD}" type="doc">
      <dgm:prSet loTypeId="urn:microsoft.com/office/officeart/2018/2/layout/IconCircleList" loCatId="icon" qsTypeId="urn:microsoft.com/office/officeart/2005/8/quickstyle/simple3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376249B6-9B5F-46FB-A97E-42D607137E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300" b="1" dirty="0">
              <a:solidFill>
                <a:schemeClr val="accent5"/>
              </a:solidFill>
            </a:rPr>
            <a:t>Avoiding Randomness</a:t>
          </a:r>
        </a:p>
        <a:p>
          <a:pPr>
            <a:lnSpc>
              <a:spcPct val="100000"/>
            </a:lnSpc>
          </a:pPr>
          <a:r>
            <a:rPr lang="en-US" sz="2300" dirty="0"/>
            <a:t>Fixing seeds and parameters to guarantee deterministic, reproducible execution.</a:t>
          </a:r>
        </a:p>
      </dgm:t>
    </dgm:pt>
    <dgm:pt modelId="{762F3174-4EB2-4A4F-BC16-258F4B97C25D}" type="parTrans" cxnId="{A7EBDBDF-B615-44D7-80EC-0C73C25DCFB0}">
      <dgm:prSet/>
      <dgm:spPr/>
      <dgm:t>
        <a:bodyPr/>
        <a:lstStyle/>
        <a:p>
          <a:endParaRPr lang="en-US"/>
        </a:p>
      </dgm:t>
    </dgm:pt>
    <dgm:pt modelId="{A9A7378D-AB5F-496A-B7CA-9A4628ADE7D6}" type="sibTrans" cxnId="{A7EBDBDF-B615-44D7-80EC-0C73C25DCF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D80C6E-7BB1-409D-B45B-210437AA78FB}">
      <dgm:prSet custT="1"/>
      <dgm:spPr>
        <a:ln>
          <a:solidFill>
            <a:schemeClr val="bg1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2300" b="1" dirty="0">
              <a:solidFill>
                <a:schemeClr val="accent5"/>
              </a:solidFill>
            </a:rPr>
            <a:t>Extracting</a:t>
          </a:r>
          <a:r>
            <a:rPr lang="en-US" sz="2300" dirty="0">
              <a:solidFill>
                <a:schemeClr val="accent5"/>
              </a:solidFill>
            </a:rPr>
            <a:t> </a:t>
          </a:r>
          <a:r>
            <a:rPr lang="en-US" sz="2300" b="1" dirty="0">
              <a:solidFill>
                <a:schemeClr val="accent5"/>
              </a:solidFill>
            </a:rPr>
            <a:t> Narrative </a:t>
          </a:r>
          <a:r>
            <a:rPr lang="en-US" sz="2300" dirty="0"/>
            <a:t>Breaking down network events into expected logical phases and identifying relevant network entities.</a:t>
          </a:r>
        </a:p>
      </dgm:t>
    </dgm:pt>
    <dgm:pt modelId="{672370A2-5611-451A-BC93-6A996E7CAC5B}" type="parTrans" cxnId="{C65FB021-8E19-4C26-A87E-FF6C97A29FC5}">
      <dgm:prSet/>
      <dgm:spPr/>
      <dgm:t>
        <a:bodyPr/>
        <a:lstStyle/>
        <a:p>
          <a:endParaRPr lang="en-US"/>
        </a:p>
      </dgm:t>
    </dgm:pt>
    <dgm:pt modelId="{FAC4A81C-CFE4-4D38-87EA-92A114ACFC37}" type="sibTrans" cxnId="{C65FB021-8E19-4C26-A87E-FF6C97A29F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3DCEF1-7431-4F06-9809-44B3FA9F22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300" b="1" dirty="0">
              <a:solidFill>
                <a:schemeClr val="accent5"/>
              </a:solidFill>
            </a:rPr>
            <a:t>Creating a syntactically correct D2 diagram</a:t>
          </a:r>
        </a:p>
        <a:p>
          <a:pPr>
            <a:lnSpc>
              <a:spcPct val="100000"/>
            </a:lnSpc>
          </a:pPr>
          <a:r>
            <a:rPr lang="en-US" sz="2300" dirty="0"/>
            <a:t>turns simple code into clean diagrams and support images and animations.</a:t>
          </a:r>
        </a:p>
      </dgm:t>
    </dgm:pt>
    <dgm:pt modelId="{5FE0EEAF-C82F-4238-8759-CB764744BE53}" type="parTrans" cxnId="{CBAE210E-C5E1-4E68-B428-84FE3EC0B6DA}">
      <dgm:prSet/>
      <dgm:spPr/>
      <dgm:t>
        <a:bodyPr/>
        <a:lstStyle/>
        <a:p>
          <a:endParaRPr lang="en-US"/>
        </a:p>
      </dgm:t>
    </dgm:pt>
    <dgm:pt modelId="{56821687-53A5-4A6C-998D-60BA3E2E598C}" type="sibTrans" cxnId="{CBAE210E-C5E1-4E68-B428-84FE3EC0B6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775E02-76B3-4FC7-884E-476375280F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accent5"/>
              </a:solidFill>
            </a:rPr>
            <a:t>Packet-Level Grounding</a:t>
          </a:r>
          <a:r>
            <a:rPr lang="en-US" dirty="0">
              <a:solidFill>
                <a:schemeClr val="accent5"/>
              </a:solidFill>
            </a:rPr>
            <a:t> </a:t>
          </a:r>
          <a:r>
            <a:rPr lang="en-US" dirty="0"/>
            <a:t>Linking logical steps directly to physical packets.</a:t>
          </a:r>
        </a:p>
      </dgm:t>
    </dgm:pt>
    <dgm:pt modelId="{D55F57E2-E503-4621-9C6C-57BE01D3B4AC}" type="parTrans" cxnId="{6664DB63-DD0B-4928-8B9F-F7B03EB4CC9F}">
      <dgm:prSet/>
      <dgm:spPr/>
      <dgm:t>
        <a:bodyPr/>
        <a:lstStyle/>
        <a:p>
          <a:endParaRPr lang="en-US"/>
        </a:p>
      </dgm:t>
    </dgm:pt>
    <dgm:pt modelId="{7FDFFE2B-4C0E-4F5E-A6C4-D1A8B1C92317}" type="sibTrans" cxnId="{6664DB63-DD0B-4928-8B9F-F7B03EB4CC9F}">
      <dgm:prSet/>
      <dgm:spPr/>
      <dgm:t>
        <a:bodyPr/>
        <a:lstStyle/>
        <a:p>
          <a:endParaRPr lang="en-US"/>
        </a:p>
      </dgm:t>
    </dgm:pt>
    <dgm:pt modelId="{B150B32D-8FA7-4E91-B62E-CD35C19B7542}" type="pres">
      <dgm:prSet presAssocID="{BB143DDC-0CAF-4CF1-A961-CDBBE10868FD}" presName="root" presStyleCnt="0">
        <dgm:presLayoutVars>
          <dgm:dir/>
          <dgm:resizeHandles val="exact"/>
        </dgm:presLayoutVars>
      </dgm:prSet>
      <dgm:spPr/>
    </dgm:pt>
    <dgm:pt modelId="{AEBC8394-2684-4EFA-8D38-1744EDE4A01A}" type="pres">
      <dgm:prSet presAssocID="{BB143DDC-0CAF-4CF1-A961-CDBBE10868FD}" presName="container" presStyleCnt="0">
        <dgm:presLayoutVars>
          <dgm:dir/>
          <dgm:resizeHandles val="exact"/>
        </dgm:presLayoutVars>
      </dgm:prSet>
      <dgm:spPr/>
    </dgm:pt>
    <dgm:pt modelId="{69D0924A-2A10-43EF-B24D-85417533F91F}" type="pres">
      <dgm:prSet presAssocID="{376249B6-9B5F-46FB-A97E-42D607137EF8}" presName="compNode" presStyleCnt="0"/>
      <dgm:spPr/>
    </dgm:pt>
    <dgm:pt modelId="{7AC1E326-E93B-458F-BD2F-8B0C7A4C9C82}" type="pres">
      <dgm:prSet presAssocID="{376249B6-9B5F-46FB-A97E-42D607137EF8}" presName="iconBgRect" presStyleLbl="bgShp" presStyleIdx="0" presStyleCnt="4"/>
      <dgm:spPr/>
    </dgm:pt>
    <dgm:pt modelId="{452E76C2-F2EF-48CA-AD0E-72977799B9F4}" type="pres">
      <dgm:prSet presAssocID="{376249B6-9B5F-46FB-A97E-42D607137EF8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  <dgm:pt modelId="{A81888C3-1109-46DF-9F88-F5CF0DAA4BEC}" type="pres">
      <dgm:prSet presAssocID="{376249B6-9B5F-46FB-A97E-42D607137EF8}" presName="spaceRect" presStyleCnt="0"/>
      <dgm:spPr/>
    </dgm:pt>
    <dgm:pt modelId="{8D20B706-C839-431C-AC61-119217E1BE37}" type="pres">
      <dgm:prSet presAssocID="{376249B6-9B5F-46FB-A97E-42D607137EF8}" presName="textRect" presStyleLbl="revTx" presStyleIdx="0" presStyleCnt="4">
        <dgm:presLayoutVars>
          <dgm:chMax val="1"/>
          <dgm:chPref val="1"/>
        </dgm:presLayoutVars>
      </dgm:prSet>
      <dgm:spPr/>
    </dgm:pt>
    <dgm:pt modelId="{11B67C63-2428-4978-9216-5A1F928A1B11}" type="pres">
      <dgm:prSet presAssocID="{A9A7378D-AB5F-496A-B7CA-9A4628ADE7D6}" presName="sibTrans" presStyleLbl="sibTrans2D1" presStyleIdx="0" presStyleCnt="0"/>
      <dgm:spPr/>
    </dgm:pt>
    <dgm:pt modelId="{C18731DB-96C8-4C62-B1E1-3881E8C9B498}" type="pres">
      <dgm:prSet presAssocID="{4ED80C6E-7BB1-409D-B45B-210437AA78FB}" presName="compNode" presStyleCnt="0"/>
      <dgm:spPr/>
    </dgm:pt>
    <dgm:pt modelId="{5F0389E6-1BA7-43F8-86A8-783B563A93FD}" type="pres">
      <dgm:prSet presAssocID="{4ED80C6E-7BB1-409D-B45B-210437AA78FB}" presName="iconBgRect" presStyleLbl="bgShp" presStyleIdx="1" presStyleCnt="4"/>
      <dgm:spPr/>
    </dgm:pt>
    <dgm:pt modelId="{FF80F7A4-0B2D-400E-A432-A85E11C8A703}" type="pres">
      <dgm:prSet presAssocID="{4ED80C6E-7BB1-409D-B45B-210437AA78FB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 outline"/>
        </a:ext>
      </dgm:extLst>
    </dgm:pt>
    <dgm:pt modelId="{0366A140-A96D-40A5-A20E-2048B7C8CC31}" type="pres">
      <dgm:prSet presAssocID="{4ED80C6E-7BB1-409D-B45B-210437AA78FB}" presName="spaceRect" presStyleCnt="0"/>
      <dgm:spPr/>
    </dgm:pt>
    <dgm:pt modelId="{DD1F1FDD-5C61-44D8-8B6C-5520F92260AA}" type="pres">
      <dgm:prSet presAssocID="{4ED80C6E-7BB1-409D-B45B-210437AA78FB}" presName="textRect" presStyleLbl="revTx" presStyleIdx="1" presStyleCnt="4">
        <dgm:presLayoutVars>
          <dgm:chMax val="1"/>
          <dgm:chPref val="1"/>
        </dgm:presLayoutVars>
      </dgm:prSet>
      <dgm:spPr/>
    </dgm:pt>
    <dgm:pt modelId="{A1058165-ECD9-44BA-83B3-A7DE374C0D3A}" type="pres">
      <dgm:prSet presAssocID="{FAC4A81C-CFE4-4D38-87EA-92A114ACFC37}" presName="sibTrans" presStyleLbl="sibTrans2D1" presStyleIdx="0" presStyleCnt="0"/>
      <dgm:spPr/>
    </dgm:pt>
    <dgm:pt modelId="{6F0D6158-1E53-4491-997D-C14087AAA9DA}" type="pres">
      <dgm:prSet presAssocID="{3E3DCEF1-7431-4F06-9809-44B3FA9F2226}" presName="compNode" presStyleCnt="0"/>
      <dgm:spPr/>
    </dgm:pt>
    <dgm:pt modelId="{0E8BE58B-171D-4834-89FE-12B6BAE38801}" type="pres">
      <dgm:prSet presAssocID="{3E3DCEF1-7431-4F06-9809-44B3FA9F2226}" presName="iconBgRect" presStyleLbl="bgShp" presStyleIdx="2" presStyleCnt="4"/>
      <dgm:spPr/>
    </dgm:pt>
    <dgm:pt modelId="{4094CA78-0DA6-40FC-B613-E5B4E37840CE}" type="pres">
      <dgm:prSet presAssocID="{3E3DCEF1-7431-4F06-9809-44B3FA9F2226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000" r="-1000"/>
          </a:stretch>
        </a:blipFill>
      </dgm:spPr>
    </dgm:pt>
    <dgm:pt modelId="{BB260312-F110-4202-B9B4-204999C75BBD}" type="pres">
      <dgm:prSet presAssocID="{3E3DCEF1-7431-4F06-9809-44B3FA9F2226}" presName="spaceRect" presStyleCnt="0"/>
      <dgm:spPr/>
    </dgm:pt>
    <dgm:pt modelId="{022E5445-DF8A-4CA2-9D09-417751E7AFD0}" type="pres">
      <dgm:prSet presAssocID="{3E3DCEF1-7431-4F06-9809-44B3FA9F2226}" presName="textRect" presStyleLbl="revTx" presStyleIdx="2" presStyleCnt="4">
        <dgm:presLayoutVars>
          <dgm:chMax val="1"/>
          <dgm:chPref val="1"/>
        </dgm:presLayoutVars>
      </dgm:prSet>
      <dgm:spPr/>
    </dgm:pt>
    <dgm:pt modelId="{707213CD-954E-407F-BD1F-AA398A2524FD}" type="pres">
      <dgm:prSet presAssocID="{56821687-53A5-4A6C-998D-60BA3E2E598C}" presName="sibTrans" presStyleLbl="sibTrans2D1" presStyleIdx="0" presStyleCnt="0"/>
      <dgm:spPr/>
    </dgm:pt>
    <dgm:pt modelId="{393E30F4-AC2D-42D4-AF16-9EE2824E9AB1}" type="pres">
      <dgm:prSet presAssocID="{31775E02-76B3-4FC7-884E-476375280F12}" presName="compNode" presStyleCnt="0"/>
      <dgm:spPr/>
    </dgm:pt>
    <dgm:pt modelId="{15737FBC-5615-43F5-8844-F90B57B934F3}" type="pres">
      <dgm:prSet presAssocID="{31775E02-76B3-4FC7-884E-476375280F12}" presName="iconBgRect" presStyleLbl="bgShp" presStyleIdx="3" presStyleCnt="4"/>
      <dgm:spPr/>
    </dgm:pt>
    <dgm:pt modelId="{2F7ED3E4-2704-465F-8C6D-D389ECC54AAC}" type="pres">
      <dgm:prSet presAssocID="{31775E02-76B3-4FC7-884E-476375280F12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cking Box Open outline"/>
        </a:ext>
      </dgm:extLst>
    </dgm:pt>
    <dgm:pt modelId="{653314C8-896E-4630-90B6-4B0D5FDE916A}" type="pres">
      <dgm:prSet presAssocID="{31775E02-76B3-4FC7-884E-476375280F12}" presName="spaceRect" presStyleCnt="0"/>
      <dgm:spPr/>
    </dgm:pt>
    <dgm:pt modelId="{9DA59610-229E-4121-B934-0B87E9807A4D}" type="pres">
      <dgm:prSet presAssocID="{31775E02-76B3-4FC7-884E-476375280F1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BAE210E-C5E1-4E68-B428-84FE3EC0B6DA}" srcId="{BB143DDC-0CAF-4CF1-A961-CDBBE10868FD}" destId="{3E3DCEF1-7431-4F06-9809-44B3FA9F2226}" srcOrd="2" destOrd="0" parTransId="{5FE0EEAF-C82F-4238-8759-CB764744BE53}" sibTransId="{56821687-53A5-4A6C-998D-60BA3E2E598C}"/>
    <dgm:cxn modelId="{C65FB021-8E19-4C26-A87E-FF6C97A29FC5}" srcId="{BB143DDC-0CAF-4CF1-A961-CDBBE10868FD}" destId="{4ED80C6E-7BB1-409D-B45B-210437AA78FB}" srcOrd="1" destOrd="0" parTransId="{672370A2-5611-451A-BC93-6A996E7CAC5B}" sibTransId="{FAC4A81C-CFE4-4D38-87EA-92A114ACFC37}"/>
    <dgm:cxn modelId="{02FE8030-C988-4140-B75F-038D8AB68C53}" type="presOf" srcId="{31775E02-76B3-4FC7-884E-476375280F12}" destId="{9DA59610-229E-4121-B934-0B87E9807A4D}" srcOrd="0" destOrd="0" presId="urn:microsoft.com/office/officeart/2018/2/layout/IconCircleList"/>
    <dgm:cxn modelId="{1C9C3137-3E6C-4E10-A706-6D7EEEA3BB76}" type="presOf" srcId="{BB143DDC-0CAF-4CF1-A961-CDBBE10868FD}" destId="{B150B32D-8FA7-4E91-B62E-CD35C19B7542}" srcOrd="0" destOrd="0" presId="urn:microsoft.com/office/officeart/2018/2/layout/IconCircleList"/>
    <dgm:cxn modelId="{6664DB63-DD0B-4928-8B9F-F7B03EB4CC9F}" srcId="{BB143DDC-0CAF-4CF1-A961-CDBBE10868FD}" destId="{31775E02-76B3-4FC7-884E-476375280F12}" srcOrd="3" destOrd="0" parTransId="{D55F57E2-E503-4621-9C6C-57BE01D3B4AC}" sibTransId="{7FDFFE2B-4C0E-4F5E-A6C4-D1A8B1C92317}"/>
    <dgm:cxn modelId="{B33C7182-1668-4331-B23D-DDED23219AE2}" type="presOf" srcId="{4ED80C6E-7BB1-409D-B45B-210437AA78FB}" destId="{DD1F1FDD-5C61-44D8-8B6C-5520F92260AA}" srcOrd="0" destOrd="0" presId="urn:microsoft.com/office/officeart/2018/2/layout/IconCircleList"/>
    <dgm:cxn modelId="{EF94B9C9-747F-42CB-B70F-D88C49A38A58}" type="presOf" srcId="{56821687-53A5-4A6C-998D-60BA3E2E598C}" destId="{707213CD-954E-407F-BD1F-AA398A2524FD}" srcOrd="0" destOrd="0" presId="urn:microsoft.com/office/officeart/2018/2/layout/IconCircleList"/>
    <dgm:cxn modelId="{3C490BCE-FB4E-4DD5-BDDE-CBE9A5A06140}" type="presOf" srcId="{376249B6-9B5F-46FB-A97E-42D607137EF8}" destId="{8D20B706-C839-431C-AC61-119217E1BE37}" srcOrd="0" destOrd="0" presId="urn:microsoft.com/office/officeart/2018/2/layout/IconCircleList"/>
    <dgm:cxn modelId="{4243AECF-7083-45B6-B68A-0CA944FFBD02}" type="presOf" srcId="{3E3DCEF1-7431-4F06-9809-44B3FA9F2226}" destId="{022E5445-DF8A-4CA2-9D09-417751E7AFD0}" srcOrd="0" destOrd="0" presId="urn:microsoft.com/office/officeart/2018/2/layout/IconCircleList"/>
    <dgm:cxn modelId="{A7EBDBDF-B615-44D7-80EC-0C73C25DCFB0}" srcId="{BB143DDC-0CAF-4CF1-A961-CDBBE10868FD}" destId="{376249B6-9B5F-46FB-A97E-42D607137EF8}" srcOrd="0" destOrd="0" parTransId="{762F3174-4EB2-4A4F-BC16-258F4B97C25D}" sibTransId="{A9A7378D-AB5F-496A-B7CA-9A4628ADE7D6}"/>
    <dgm:cxn modelId="{1E87ACEF-0F27-4902-B9AB-E929336654C5}" type="presOf" srcId="{FAC4A81C-CFE4-4D38-87EA-92A114ACFC37}" destId="{A1058165-ECD9-44BA-83B3-A7DE374C0D3A}" srcOrd="0" destOrd="0" presId="urn:microsoft.com/office/officeart/2018/2/layout/IconCircleList"/>
    <dgm:cxn modelId="{54C434F5-AD3F-449A-9FE1-8E00D55795D4}" type="presOf" srcId="{A9A7378D-AB5F-496A-B7CA-9A4628ADE7D6}" destId="{11B67C63-2428-4978-9216-5A1F928A1B11}" srcOrd="0" destOrd="0" presId="urn:microsoft.com/office/officeart/2018/2/layout/IconCircleList"/>
    <dgm:cxn modelId="{6F097C4C-C99F-4A8B-AA77-D255941E127F}" type="presParOf" srcId="{B150B32D-8FA7-4E91-B62E-CD35C19B7542}" destId="{AEBC8394-2684-4EFA-8D38-1744EDE4A01A}" srcOrd="0" destOrd="0" presId="urn:microsoft.com/office/officeart/2018/2/layout/IconCircleList"/>
    <dgm:cxn modelId="{A1B6C206-DA5B-4BA2-AC7A-F9C0601AD371}" type="presParOf" srcId="{AEBC8394-2684-4EFA-8D38-1744EDE4A01A}" destId="{69D0924A-2A10-43EF-B24D-85417533F91F}" srcOrd="0" destOrd="0" presId="urn:microsoft.com/office/officeart/2018/2/layout/IconCircleList"/>
    <dgm:cxn modelId="{F6EF7E27-E2C4-4156-B4B4-3138F666D7DE}" type="presParOf" srcId="{69D0924A-2A10-43EF-B24D-85417533F91F}" destId="{7AC1E326-E93B-458F-BD2F-8B0C7A4C9C82}" srcOrd="0" destOrd="0" presId="urn:microsoft.com/office/officeart/2018/2/layout/IconCircleList"/>
    <dgm:cxn modelId="{09FCB311-5E59-4B2F-A394-E100E1526B3D}" type="presParOf" srcId="{69D0924A-2A10-43EF-B24D-85417533F91F}" destId="{452E76C2-F2EF-48CA-AD0E-72977799B9F4}" srcOrd="1" destOrd="0" presId="urn:microsoft.com/office/officeart/2018/2/layout/IconCircleList"/>
    <dgm:cxn modelId="{9B9815BF-0DBC-4797-8AF6-DBD871A8DB97}" type="presParOf" srcId="{69D0924A-2A10-43EF-B24D-85417533F91F}" destId="{A81888C3-1109-46DF-9F88-F5CF0DAA4BEC}" srcOrd="2" destOrd="0" presId="urn:microsoft.com/office/officeart/2018/2/layout/IconCircleList"/>
    <dgm:cxn modelId="{A5577FEF-2F83-4245-B323-6E9567E751EB}" type="presParOf" srcId="{69D0924A-2A10-43EF-B24D-85417533F91F}" destId="{8D20B706-C839-431C-AC61-119217E1BE37}" srcOrd="3" destOrd="0" presId="urn:microsoft.com/office/officeart/2018/2/layout/IconCircleList"/>
    <dgm:cxn modelId="{A6157881-2246-4F52-A5BC-AE7CD618C369}" type="presParOf" srcId="{AEBC8394-2684-4EFA-8D38-1744EDE4A01A}" destId="{11B67C63-2428-4978-9216-5A1F928A1B11}" srcOrd="1" destOrd="0" presId="urn:microsoft.com/office/officeart/2018/2/layout/IconCircleList"/>
    <dgm:cxn modelId="{236C716B-3EA5-488C-8869-823744BE83A3}" type="presParOf" srcId="{AEBC8394-2684-4EFA-8D38-1744EDE4A01A}" destId="{C18731DB-96C8-4C62-B1E1-3881E8C9B498}" srcOrd="2" destOrd="0" presId="urn:microsoft.com/office/officeart/2018/2/layout/IconCircleList"/>
    <dgm:cxn modelId="{36C52F21-3F13-4B19-AF57-328EC3EF8858}" type="presParOf" srcId="{C18731DB-96C8-4C62-B1E1-3881E8C9B498}" destId="{5F0389E6-1BA7-43F8-86A8-783B563A93FD}" srcOrd="0" destOrd="0" presId="urn:microsoft.com/office/officeart/2018/2/layout/IconCircleList"/>
    <dgm:cxn modelId="{F9883F8D-FAE1-493D-A33C-D515BFC1794C}" type="presParOf" srcId="{C18731DB-96C8-4C62-B1E1-3881E8C9B498}" destId="{FF80F7A4-0B2D-400E-A432-A85E11C8A703}" srcOrd="1" destOrd="0" presId="urn:microsoft.com/office/officeart/2018/2/layout/IconCircleList"/>
    <dgm:cxn modelId="{D7CCB574-B44F-4882-BE4E-87CA0568C20B}" type="presParOf" srcId="{C18731DB-96C8-4C62-B1E1-3881E8C9B498}" destId="{0366A140-A96D-40A5-A20E-2048B7C8CC31}" srcOrd="2" destOrd="0" presId="urn:microsoft.com/office/officeart/2018/2/layout/IconCircleList"/>
    <dgm:cxn modelId="{9B729655-3D4F-417A-B04D-6B518AC1478C}" type="presParOf" srcId="{C18731DB-96C8-4C62-B1E1-3881E8C9B498}" destId="{DD1F1FDD-5C61-44D8-8B6C-5520F92260AA}" srcOrd="3" destOrd="0" presId="urn:microsoft.com/office/officeart/2018/2/layout/IconCircleList"/>
    <dgm:cxn modelId="{9807A933-F17B-4CBD-A5E8-3B02D0878415}" type="presParOf" srcId="{AEBC8394-2684-4EFA-8D38-1744EDE4A01A}" destId="{A1058165-ECD9-44BA-83B3-A7DE374C0D3A}" srcOrd="3" destOrd="0" presId="urn:microsoft.com/office/officeart/2018/2/layout/IconCircleList"/>
    <dgm:cxn modelId="{0EFB1C2C-EBF8-4128-B695-6BE63999A379}" type="presParOf" srcId="{AEBC8394-2684-4EFA-8D38-1744EDE4A01A}" destId="{6F0D6158-1E53-4491-997D-C14087AAA9DA}" srcOrd="4" destOrd="0" presId="urn:microsoft.com/office/officeart/2018/2/layout/IconCircleList"/>
    <dgm:cxn modelId="{92971246-368A-4B5A-8C4B-F85CF272FC6F}" type="presParOf" srcId="{6F0D6158-1E53-4491-997D-C14087AAA9DA}" destId="{0E8BE58B-171D-4834-89FE-12B6BAE38801}" srcOrd="0" destOrd="0" presId="urn:microsoft.com/office/officeart/2018/2/layout/IconCircleList"/>
    <dgm:cxn modelId="{CD03D13C-FA74-4776-AD4C-737594008A9A}" type="presParOf" srcId="{6F0D6158-1E53-4491-997D-C14087AAA9DA}" destId="{4094CA78-0DA6-40FC-B613-E5B4E37840CE}" srcOrd="1" destOrd="0" presId="urn:microsoft.com/office/officeart/2018/2/layout/IconCircleList"/>
    <dgm:cxn modelId="{D850EA31-ED50-4C00-8BC4-B6A16D69E411}" type="presParOf" srcId="{6F0D6158-1E53-4491-997D-C14087AAA9DA}" destId="{BB260312-F110-4202-B9B4-204999C75BBD}" srcOrd="2" destOrd="0" presId="urn:microsoft.com/office/officeart/2018/2/layout/IconCircleList"/>
    <dgm:cxn modelId="{1886B1FD-6DEE-47A8-905B-51828BB69D44}" type="presParOf" srcId="{6F0D6158-1E53-4491-997D-C14087AAA9DA}" destId="{022E5445-DF8A-4CA2-9D09-417751E7AFD0}" srcOrd="3" destOrd="0" presId="urn:microsoft.com/office/officeart/2018/2/layout/IconCircleList"/>
    <dgm:cxn modelId="{DC84DDE5-DF92-4384-A2B1-BE64ECE068E6}" type="presParOf" srcId="{AEBC8394-2684-4EFA-8D38-1744EDE4A01A}" destId="{707213CD-954E-407F-BD1F-AA398A2524FD}" srcOrd="5" destOrd="0" presId="urn:microsoft.com/office/officeart/2018/2/layout/IconCircleList"/>
    <dgm:cxn modelId="{91A30AFF-26D6-4A7F-B899-913A51C3E817}" type="presParOf" srcId="{AEBC8394-2684-4EFA-8D38-1744EDE4A01A}" destId="{393E30F4-AC2D-42D4-AF16-9EE2824E9AB1}" srcOrd="6" destOrd="0" presId="urn:microsoft.com/office/officeart/2018/2/layout/IconCircleList"/>
    <dgm:cxn modelId="{B49E85AD-73A0-4845-A16C-892E822A60DA}" type="presParOf" srcId="{393E30F4-AC2D-42D4-AF16-9EE2824E9AB1}" destId="{15737FBC-5615-43F5-8844-F90B57B934F3}" srcOrd="0" destOrd="0" presId="urn:microsoft.com/office/officeart/2018/2/layout/IconCircleList"/>
    <dgm:cxn modelId="{DE4DB282-39D9-4254-B79F-4A4BDA342829}" type="presParOf" srcId="{393E30F4-AC2D-42D4-AF16-9EE2824E9AB1}" destId="{2F7ED3E4-2704-465F-8C6D-D389ECC54AAC}" srcOrd="1" destOrd="0" presId="urn:microsoft.com/office/officeart/2018/2/layout/IconCircleList"/>
    <dgm:cxn modelId="{085B22B1-9DE8-4B1C-9E21-0E2EAD7F38BD}" type="presParOf" srcId="{393E30F4-AC2D-42D4-AF16-9EE2824E9AB1}" destId="{653314C8-896E-4630-90B6-4B0D5FDE916A}" srcOrd="2" destOrd="0" presId="urn:microsoft.com/office/officeart/2018/2/layout/IconCircleList"/>
    <dgm:cxn modelId="{DA3A41EB-65FD-4449-A851-C9A33E5B3029}" type="presParOf" srcId="{393E30F4-AC2D-42D4-AF16-9EE2824E9AB1}" destId="{9DA59610-229E-4121-B934-0B87E9807A4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71ECA-5902-45A1-BF8C-611A4B9CA55F}" type="doc">
      <dgm:prSet loTypeId="urn:microsoft.com/office/officeart/2024/layout/IconCircleLabelList" loCatId="picture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5EE96FFB-2566-4E69-9E22-981F4E273CB1}">
      <dgm:prSet phldrT="[Text]" custT="1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sz="2000" b="1" dirty="0"/>
            <a:t>D2 Syntax Validation</a:t>
          </a:r>
          <a:endParaRPr lang="he-IL" sz="2000" b="1" dirty="0"/>
        </a:p>
        <a:p>
          <a:pPr>
            <a:lnSpc>
              <a:spcPct val="100000"/>
            </a:lnSpc>
            <a:defRPr/>
          </a:pPr>
          <a:r>
            <a:rPr lang="en-US" sz="2000" dirty="0"/>
            <a:t>Algorithmic check to ensure the generated output is syntactically valid and error-free before rendering.</a:t>
          </a:r>
          <a:endParaRPr lang="en-US" sz="2000" b="1" dirty="0"/>
        </a:p>
      </dgm:t>
    </dgm:pt>
    <dgm:pt modelId="{0AF4ED89-6DD1-44BE-B989-CFAD5B240118}" type="parTrans" cxnId="{2796169D-CBC8-4543-97BC-FEDE858BAD8C}">
      <dgm:prSet/>
      <dgm:spPr/>
      <dgm:t>
        <a:bodyPr/>
        <a:lstStyle/>
        <a:p>
          <a:endParaRPr lang="en-US"/>
        </a:p>
      </dgm:t>
    </dgm:pt>
    <dgm:pt modelId="{3C923D31-822F-4E6D-B5B7-4F27BDBB353A}" type="sibTrans" cxnId="{2796169D-CBC8-4543-97BC-FEDE858BAD8C}">
      <dgm:prSet/>
      <dgm:spPr/>
      <dgm:t>
        <a:bodyPr/>
        <a:lstStyle/>
        <a:p>
          <a:endParaRPr lang="en-US"/>
        </a:p>
      </dgm:t>
    </dgm:pt>
    <dgm:pt modelId="{F3DF3EED-F6A3-4013-B57E-AEFB8CAF2BF3}">
      <dgm:prSet phldrT="[Text]" custT="1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sz="2000" b="1" dirty="0"/>
            <a:t>Using second agent to verify generator AI instructions</a:t>
          </a:r>
          <a:endParaRPr lang="he-IL" sz="2000" b="1" dirty="0"/>
        </a:p>
        <a:p>
          <a:pPr>
            <a:lnSpc>
              <a:spcPct val="100000"/>
            </a:lnSpc>
            <a:defRPr/>
          </a:pPr>
          <a:r>
            <a:rPr lang="en-US" sz="2000" dirty="0"/>
            <a:t>Utilizing a second, zero-temperature LLM reviewer to cross-examine the generator instructions</a:t>
          </a:r>
          <a:endParaRPr lang="en-US" sz="2000" b="1" dirty="0"/>
        </a:p>
        <a:p>
          <a:pPr>
            <a:lnSpc>
              <a:spcPct val="100000"/>
            </a:lnSpc>
            <a:defRPr/>
          </a:pPr>
          <a:endParaRPr lang="en-US" sz="2000" dirty="0"/>
        </a:p>
      </dgm:t>
    </dgm:pt>
    <dgm:pt modelId="{093AC35B-D004-4753-BF5D-F3B7C263CC16}" type="parTrans" cxnId="{0F39F3A0-A91E-4D28-822F-59A7A0B47860}">
      <dgm:prSet/>
      <dgm:spPr/>
      <dgm:t>
        <a:bodyPr/>
        <a:lstStyle/>
        <a:p>
          <a:endParaRPr lang="en-US"/>
        </a:p>
      </dgm:t>
    </dgm:pt>
    <dgm:pt modelId="{24E866A8-02B7-4C8B-BE9C-BD7E4CC6D117}" type="sibTrans" cxnId="{0F39F3A0-A91E-4D28-822F-59A7A0B47860}">
      <dgm:prSet/>
      <dgm:spPr/>
      <dgm:t>
        <a:bodyPr/>
        <a:lstStyle/>
        <a:p>
          <a:endParaRPr lang="en-US"/>
        </a:p>
      </dgm:t>
    </dgm:pt>
    <dgm:pt modelId="{7D952492-1423-4DF8-9D55-A7EB1465DF8B}">
      <dgm:prSet phldrT="[Text]" custT="1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sz="2000" b="1" dirty="0"/>
            <a:t>Cross-Matching</a:t>
          </a:r>
        </a:p>
        <a:p>
          <a:pPr>
            <a:lnSpc>
              <a:spcPct val="100000"/>
            </a:lnSpc>
            <a:defRPr/>
          </a:pPr>
          <a:r>
            <a:rPr lang="en-US" sz="2000" dirty="0"/>
            <a:t>Splitting steps into structured sets  (Source, Destination, Protocol) and matching them against packets to flag FPs and FN</a:t>
          </a:r>
        </a:p>
      </dgm:t>
    </dgm:pt>
    <dgm:pt modelId="{E7C0E9B1-4952-46FF-9601-9EB041AC06A9}" type="parTrans" cxnId="{A62B7A5F-35D9-495A-8B9A-AD91251506FF}">
      <dgm:prSet/>
      <dgm:spPr/>
      <dgm:t>
        <a:bodyPr/>
        <a:lstStyle/>
        <a:p>
          <a:endParaRPr lang="en-US"/>
        </a:p>
      </dgm:t>
    </dgm:pt>
    <dgm:pt modelId="{32124ADD-6151-4E3E-8C69-2B65D22FCD12}" type="sibTrans" cxnId="{A62B7A5F-35D9-495A-8B9A-AD91251506FF}">
      <dgm:prSet/>
      <dgm:spPr/>
      <dgm:t>
        <a:bodyPr/>
        <a:lstStyle/>
        <a:p>
          <a:endParaRPr lang="en-US"/>
        </a:p>
      </dgm:t>
    </dgm:pt>
    <dgm:pt modelId="{024CE791-60C7-4DB7-8D04-55597DBB32D1}" type="pres">
      <dgm:prSet presAssocID="{E6471ECA-5902-45A1-BF8C-611A4B9CA55F}" presName="root" presStyleCnt="0">
        <dgm:presLayoutVars>
          <dgm:dir/>
          <dgm:resizeHandles val="exact"/>
        </dgm:presLayoutVars>
      </dgm:prSet>
      <dgm:spPr/>
    </dgm:pt>
    <dgm:pt modelId="{C5677A43-C19B-49EF-AA00-AA517CE6F053}" type="pres">
      <dgm:prSet presAssocID="{5EE96FFB-2566-4E69-9E22-981F4E273CB1}" presName="compNode" presStyleCnt="0"/>
      <dgm:spPr/>
    </dgm:pt>
    <dgm:pt modelId="{03C94611-AFDA-4F5A-8D4A-7BDF55377732}" type="pres">
      <dgm:prSet presAssocID="{5EE96FFB-2566-4E69-9E22-981F4E273CB1}" presName="iconBgRect" presStyleLbl="node1" presStyleIdx="0" presStyleCnt="3"/>
      <dgm:spPr/>
    </dgm:pt>
    <dgm:pt modelId="{B7F761BC-8A66-4B6A-BA61-BE07CEF469FC}" type="pres">
      <dgm:prSet presAssocID="{5EE96FFB-2566-4E69-9E22-981F4E273CB1}" presName="iconRect" presStyleLbl="solidFgAcc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outline"/>
        </a:ext>
      </dgm:extLst>
    </dgm:pt>
    <dgm:pt modelId="{07BC8287-CF61-4875-8B6F-724E92C696E6}" type="pres">
      <dgm:prSet presAssocID="{5EE96FFB-2566-4E69-9E22-981F4E273CB1}" presName="spaceRect" presStyleCnt="0"/>
      <dgm:spPr/>
    </dgm:pt>
    <dgm:pt modelId="{84C1B2A6-766F-4861-B42B-B5C07034909C}" type="pres">
      <dgm:prSet presAssocID="{5EE96FFB-2566-4E69-9E22-981F4E273CB1}" presName="textRect" presStyleLbl="revTx" presStyleIdx="0" presStyleCnt="3">
        <dgm:presLayoutVars>
          <dgm:chMax val="1"/>
          <dgm:chPref val="1"/>
        </dgm:presLayoutVars>
      </dgm:prSet>
      <dgm:spPr/>
    </dgm:pt>
    <dgm:pt modelId="{326C7931-33F4-435E-B54D-38619320FE79}" type="pres">
      <dgm:prSet presAssocID="{3C923D31-822F-4E6D-B5B7-4F27BDBB353A}" presName="sibTrans" presStyleCnt="0"/>
      <dgm:spPr/>
    </dgm:pt>
    <dgm:pt modelId="{52D6F232-67F5-4082-9F7F-BF841A73B89B}" type="pres">
      <dgm:prSet presAssocID="{F3DF3EED-F6A3-4013-B57E-AEFB8CAF2BF3}" presName="compNode" presStyleCnt="0"/>
      <dgm:spPr/>
    </dgm:pt>
    <dgm:pt modelId="{900C4CE7-E9B1-45BA-B57F-FE2BA3A903F5}" type="pres">
      <dgm:prSet presAssocID="{F3DF3EED-F6A3-4013-B57E-AEFB8CAF2BF3}" presName="iconBgRect" presStyleLbl="node1" presStyleIdx="1" presStyleCnt="3"/>
      <dgm:spPr/>
    </dgm:pt>
    <dgm:pt modelId="{BBF701B2-2AD0-4C2E-98CC-1FB7F97FC0C2}" type="pres">
      <dgm:prSet presAssocID="{F3DF3EED-F6A3-4013-B57E-AEFB8CAF2BF3}" presName="iconRect" presStyleLbl="solidFgAcc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3394E34F-BFCD-47EB-80FD-1F8E9903E339}" type="pres">
      <dgm:prSet presAssocID="{F3DF3EED-F6A3-4013-B57E-AEFB8CAF2BF3}" presName="spaceRect" presStyleCnt="0"/>
      <dgm:spPr/>
    </dgm:pt>
    <dgm:pt modelId="{1F32B5D0-F50B-449D-9E3B-90882467BF02}" type="pres">
      <dgm:prSet presAssocID="{F3DF3EED-F6A3-4013-B57E-AEFB8CAF2BF3}" presName="textRect" presStyleLbl="revTx" presStyleIdx="1" presStyleCnt="3">
        <dgm:presLayoutVars>
          <dgm:chMax val="1"/>
          <dgm:chPref val="1"/>
        </dgm:presLayoutVars>
      </dgm:prSet>
      <dgm:spPr/>
    </dgm:pt>
    <dgm:pt modelId="{4806C8EA-472C-4705-88B8-3476AE3CFBFC}" type="pres">
      <dgm:prSet presAssocID="{24E866A8-02B7-4C8B-BE9C-BD7E4CC6D117}" presName="sibTrans" presStyleCnt="0"/>
      <dgm:spPr/>
    </dgm:pt>
    <dgm:pt modelId="{4B6FDA4D-075C-4FE4-88B0-8A61222C1424}" type="pres">
      <dgm:prSet presAssocID="{7D952492-1423-4DF8-9D55-A7EB1465DF8B}" presName="compNode" presStyleCnt="0"/>
      <dgm:spPr/>
    </dgm:pt>
    <dgm:pt modelId="{71F37C4C-9AF5-4DF3-BD59-D25AC8694E2B}" type="pres">
      <dgm:prSet presAssocID="{7D952492-1423-4DF8-9D55-A7EB1465DF8B}" presName="iconBgRect" presStyleLbl="node1" presStyleIdx="2" presStyleCnt="3"/>
      <dgm:spPr/>
    </dgm:pt>
    <dgm:pt modelId="{7B560110-029D-4584-8D9C-D10923A309BB}" type="pres">
      <dgm:prSet presAssocID="{7D952492-1423-4DF8-9D55-A7EB1465DF8B}" presName="iconRect" presStyleLbl="solidFgAcc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outline"/>
        </a:ext>
      </dgm:extLst>
    </dgm:pt>
    <dgm:pt modelId="{14B755A9-0A2D-403C-93FC-33FDAAEB0B4A}" type="pres">
      <dgm:prSet presAssocID="{7D952492-1423-4DF8-9D55-A7EB1465DF8B}" presName="spaceRect" presStyleCnt="0"/>
      <dgm:spPr/>
    </dgm:pt>
    <dgm:pt modelId="{9D49D680-72DC-4D55-BE4D-27521E747E9F}" type="pres">
      <dgm:prSet presAssocID="{7D952492-1423-4DF8-9D55-A7EB1465DF8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99DCA26-482C-4039-A512-6349D6A896A5}" type="presOf" srcId="{F3DF3EED-F6A3-4013-B57E-AEFB8CAF2BF3}" destId="{1F32B5D0-F50B-449D-9E3B-90882467BF02}" srcOrd="0" destOrd="0" presId="urn:microsoft.com/office/officeart/2024/layout/IconCircleLabelList"/>
    <dgm:cxn modelId="{A62B7A5F-35D9-495A-8B9A-AD91251506FF}" srcId="{E6471ECA-5902-45A1-BF8C-611A4B9CA55F}" destId="{7D952492-1423-4DF8-9D55-A7EB1465DF8B}" srcOrd="2" destOrd="0" parTransId="{E7C0E9B1-4952-46FF-9601-9EB041AC06A9}" sibTransId="{32124ADD-6151-4E3E-8C69-2B65D22FCD12}"/>
    <dgm:cxn modelId="{6A869172-0B4A-4E09-A60A-FD4C94CE4BA3}" type="presOf" srcId="{5EE96FFB-2566-4E69-9E22-981F4E273CB1}" destId="{84C1B2A6-766F-4861-B42B-B5C07034909C}" srcOrd="0" destOrd="0" presId="urn:microsoft.com/office/officeart/2024/layout/IconCircleLabelList"/>
    <dgm:cxn modelId="{2796169D-CBC8-4543-97BC-FEDE858BAD8C}" srcId="{E6471ECA-5902-45A1-BF8C-611A4B9CA55F}" destId="{5EE96FFB-2566-4E69-9E22-981F4E273CB1}" srcOrd="0" destOrd="0" parTransId="{0AF4ED89-6DD1-44BE-B989-CFAD5B240118}" sibTransId="{3C923D31-822F-4E6D-B5B7-4F27BDBB353A}"/>
    <dgm:cxn modelId="{0F39F3A0-A91E-4D28-822F-59A7A0B47860}" srcId="{E6471ECA-5902-45A1-BF8C-611A4B9CA55F}" destId="{F3DF3EED-F6A3-4013-B57E-AEFB8CAF2BF3}" srcOrd="1" destOrd="0" parTransId="{093AC35B-D004-4753-BF5D-F3B7C263CC16}" sibTransId="{24E866A8-02B7-4C8B-BE9C-BD7E4CC6D117}"/>
    <dgm:cxn modelId="{3675A8B7-6C40-41A9-B1B2-B08462C70673}" type="presOf" srcId="{E6471ECA-5902-45A1-BF8C-611A4B9CA55F}" destId="{024CE791-60C7-4DB7-8D04-55597DBB32D1}" srcOrd="0" destOrd="0" presId="urn:microsoft.com/office/officeart/2024/layout/IconCircleLabelList"/>
    <dgm:cxn modelId="{B0F73CF2-1B2E-43BB-9475-5AA8E62C190E}" type="presOf" srcId="{7D952492-1423-4DF8-9D55-A7EB1465DF8B}" destId="{9D49D680-72DC-4D55-BE4D-27521E747E9F}" srcOrd="0" destOrd="0" presId="urn:microsoft.com/office/officeart/2024/layout/IconCircleLabelList"/>
    <dgm:cxn modelId="{9EB3A92B-A8BB-4AAF-9118-D251E04D4FC2}" type="presParOf" srcId="{024CE791-60C7-4DB7-8D04-55597DBB32D1}" destId="{C5677A43-C19B-49EF-AA00-AA517CE6F053}" srcOrd="0" destOrd="0" presId="urn:microsoft.com/office/officeart/2024/layout/IconCircleLabelList"/>
    <dgm:cxn modelId="{C24A7A33-4931-486D-8CEF-D4D066F2FE9E}" type="presParOf" srcId="{C5677A43-C19B-49EF-AA00-AA517CE6F053}" destId="{03C94611-AFDA-4F5A-8D4A-7BDF55377732}" srcOrd="0" destOrd="0" presId="urn:microsoft.com/office/officeart/2024/layout/IconCircleLabelList"/>
    <dgm:cxn modelId="{5DCE7076-88B3-4369-A5CA-F6B0992BD059}" type="presParOf" srcId="{C5677A43-C19B-49EF-AA00-AA517CE6F053}" destId="{B7F761BC-8A66-4B6A-BA61-BE07CEF469FC}" srcOrd="1" destOrd="0" presId="urn:microsoft.com/office/officeart/2024/layout/IconCircleLabelList"/>
    <dgm:cxn modelId="{BB568D37-F7E6-478D-A1DD-3FA2D8792385}" type="presParOf" srcId="{C5677A43-C19B-49EF-AA00-AA517CE6F053}" destId="{07BC8287-CF61-4875-8B6F-724E92C696E6}" srcOrd="2" destOrd="0" presId="urn:microsoft.com/office/officeart/2024/layout/IconCircleLabelList"/>
    <dgm:cxn modelId="{3ACE9EBA-4FEB-4F2B-9118-E19B5C381DA4}" type="presParOf" srcId="{C5677A43-C19B-49EF-AA00-AA517CE6F053}" destId="{84C1B2A6-766F-4861-B42B-B5C07034909C}" srcOrd="3" destOrd="0" presId="urn:microsoft.com/office/officeart/2024/layout/IconCircleLabelList"/>
    <dgm:cxn modelId="{52F8FA7F-A6C1-4C81-BD92-59BB4E219FE0}" type="presParOf" srcId="{024CE791-60C7-4DB7-8D04-55597DBB32D1}" destId="{326C7931-33F4-435E-B54D-38619320FE79}" srcOrd="1" destOrd="0" presId="urn:microsoft.com/office/officeart/2024/layout/IconCircleLabelList"/>
    <dgm:cxn modelId="{F8ED5431-A0EF-4CF1-B970-CA15BCD24FBE}" type="presParOf" srcId="{024CE791-60C7-4DB7-8D04-55597DBB32D1}" destId="{52D6F232-67F5-4082-9F7F-BF841A73B89B}" srcOrd="2" destOrd="0" presId="urn:microsoft.com/office/officeart/2024/layout/IconCircleLabelList"/>
    <dgm:cxn modelId="{81EE9771-36C0-43C3-B4E8-2DDC04E752DC}" type="presParOf" srcId="{52D6F232-67F5-4082-9F7F-BF841A73B89B}" destId="{900C4CE7-E9B1-45BA-B57F-FE2BA3A903F5}" srcOrd="0" destOrd="0" presId="urn:microsoft.com/office/officeart/2024/layout/IconCircleLabelList"/>
    <dgm:cxn modelId="{414982C1-2527-455B-A4BC-3BBBFDBCB694}" type="presParOf" srcId="{52D6F232-67F5-4082-9F7F-BF841A73B89B}" destId="{BBF701B2-2AD0-4C2E-98CC-1FB7F97FC0C2}" srcOrd="1" destOrd="0" presId="urn:microsoft.com/office/officeart/2024/layout/IconCircleLabelList"/>
    <dgm:cxn modelId="{2B229494-5B60-408C-AFB8-016EE0BC0E6E}" type="presParOf" srcId="{52D6F232-67F5-4082-9F7F-BF841A73B89B}" destId="{3394E34F-BFCD-47EB-80FD-1F8E9903E339}" srcOrd="2" destOrd="0" presId="urn:microsoft.com/office/officeart/2024/layout/IconCircleLabelList"/>
    <dgm:cxn modelId="{5905D071-A302-45BC-992E-4D8D7D1C9BE7}" type="presParOf" srcId="{52D6F232-67F5-4082-9F7F-BF841A73B89B}" destId="{1F32B5D0-F50B-449D-9E3B-90882467BF02}" srcOrd="3" destOrd="0" presId="urn:microsoft.com/office/officeart/2024/layout/IconCircleLabelList"/>
    <dgm:cxn modelId="{373015D5-0A7F-4B99-A2D0-7F19D0727DEB}" type="presParOf" srcId="{024CE791-60C7-4DB7-8D04-55597DBB32D1}" destId="{4806C8EA-472C-4705-88B8-3476AE3CFBFC}" srcOrd="3" destOrd="0" presId="urn:microsoft.com/office/officeart/2024/layout/IconCircleLabelList"/>
    <dgm:cxn modelId="{B2D96339-7DA9-42CC-BC2E-3825A5EFDCF6}" type="presParOf" srcId="{024CE791-60C7-4DB7-8D04-55597DBB32D1}" destId="{4B6FDA4D-075C-4FE4-88B0-8A61222C1424}" srcOrd="4" destOrd="0" presId="urn:microsoft.com/office/officeart/2024/layout/IconCircleLabelList"/>
    <dgm:cxn modelId="{F5C91F62-7E08-43F6-927E-947C30ADBFBD}" type="presParOf" srcId="{4B6FDA4D-075C-4FE4-88B0-8A61222C1424}" destId="{71F37C4C-9AF5-4DF3-BD59-D25AC8694E2B}" srcOrd="0" destOrd="0" presId="urn:microsoft.com/office/officeart/2024/layout/IconCircleLabelList"/>
    <dgm:cxn modelId="{3D0DE216-4B36-4C61-940A-9F5AC89B253F}" type="presParOf" srcId="{4B6FDA4D-075C-4FE4-88B0-8A61222C1424}" destId="{7B560110-029D-4584-8D9C-D10923A309BB}" srcOrd="1" destOrd="0" presId="urn:microsoft.com/office/officeart/2024/layout/IconCircleLabelList"/>
    <dgm:cxn modelId="{99258915-9C1E-43BB-9374-EA690E89F5CE}" type="presParOf" srcId="{4B6FDA4D-075C-4FE4-88B0-8A61222C1424}" destId="{14B755A9-0A2D-403C-93FC-33FDAAEB0B4A}" srcOrd="2" destOrd="0" presId="urn:microsoft.com/office/officeart/2024/layout/IconCircleLabelList"/>
    <dgm:cxn modelId="{A78CD38F-D7EE-4ED0-B1C0-A6361D829BAE}" type="presParOf" srcId="{4B6FDA4D-075C-4FE4-88B0-8A61222C1424}" destId="{9D49D680-72DC-4D55-BE4D-27521E747E9F}" srcOrd="3" destOrd="0" presId="urn:microsoft.com/office/officeart/2024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5B516A-CC05-4F1C-B358-549F9BB44808}" type="doc">
      <dgm:prSet loTypeId="urn:microsoft.com/office/officeart/2005/8/layout/default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B3DE8A33-905A-4B44-9706-76F6D5CECBF1}">
      <dgm:prSet phldrT="[Text]"/>
      <dgm:spPr>
        <a:ln w="76200">
          <a:solidFill>
            <a:srgbClr val="A02B93"/>
          </a:solidFill>
        </a:ln>
      </dgm:spPr>
      <dgm:t>
        <a:bodyPr/>
        <a:lstStyle/>
        <a:p>
          <a:r>
            <a:rPr lang="en-US" b="1" dirty="0">
              <a:solidFill>
                <a:srgbClr val="A02B93"/>
              </a:solidFill>
            </a:rPr>
            <a:t>Scenario Compilation</a:t>
          </a:r>
          <a:r>
            <a:rPr lang="he-IL" b="1" dirty="0">
              <a:solidFill>
                <a:srgbClr val="A02B93"/>
              </a:solidFill>
            </a:rPr>
            <a:t>:</a:t>
          </a:r>
          <a:r>
            <a:rPr lang="en-US" dirty="0">
              <a:solidFill>
                <a:srgbClr val="A02B93"/>
              </a:solidFill>
            </a:rPr>
            <a:t> </a:t>
          </a:r>
          <a:r>
            <a:rPr lang="en-US" dirty="0"/>
            <a:t>Collecting 10 diverse attack PCAPs and building expert manual ground-truth reference diagrams.</a:t>
          </a:r>
        </a:p>
      </dgm:t>
    </dgm:pt>
    <dgm:pt modelId="{62E72872-6224-405B-9A04-99EDAE432784}" type="parTrans" cxnId="{9790446E-F955-4CFD-976E-A7D297214337}">
      <dgm:prSet/>
      <dgm:spPr/>
      <dgm:t>
        <a:bodyPr/>
        <a:lstStyle/>
        <a:p>
          <a:endParaRPr lang="en-US"/>
        </a:p>
      </dgm:t>
    </dgm:pt>
    <dgm:pt modelId="{F8AF202F-A049-4E16-8A3F-4EC18B02AA64}" type="sibTrans" cxnId="{9790446E-F955-4CFD-976E-A7D297214337}">
      <dgm:prSet/>
      <dgm:spPr/>
      <dgm:t>
        <a:bodyPr/>
        <a:lstStyle/>
        <a:p>
          <a:endParaRPr lang="en-US"/>
        </a:p>
      </dgm:t>
    </dgm:pt>
    <dgm:pt modelId="{20BBDE80-3655-4D41-B456-B293EEFBBE0C}">
      <dgm:prSet phldrT="[Text]"/>
      <dgm:spPr>
        <a:ln w="76200">
          <a:solidFill>
            <a:srgbClr val="A02B93"/>
          </a:solidFill>
        </a:ln>
      </dgm:spPr>
      <dgm:t>
        <a:bodyPr/>
        <a:lstStyle/>
        <a:p>
          <a:r>
            <a:rPr lang="en-US" b="1" dirty="0">
              <a:solidFill>
                <a:srgbClr val="A02B93"/>
              </a:solidFill>
            </a:rPr>
            <a:t>Paper Replication</a:t>
          </a:r>
          <a:r>
            <a:rPr lang="en-US" dirty="0">
              <a:solidFill>
                <a:srgbClr val="A02B93"/>
              </a:solidFill>
            </a:rPr>
            <a:t>: </a:t>
          </a:r>
          <a:r>
            <a:rPr lang="en-US" dirty="0"/>
            <a:t>Incorporating 2 real-world case studies from published cyber security literature.</a:t>
          </a:r>
        </a:p>
      </dgm:t>
    </dgm:pt>
    <dgm:pt modelId="{E3D12743-DBB9-4C40-892A-4D79CCA8C9A4}" type="parTrans" cxnId="{E3B2DCE1-3A95-4594-837A-89E410A9515A}">
      <dgm:prSet/>
      <dgm:spPr/>
      <dgm:t>
        <a:bodyPr/>
        <a:lstStyle/>
        <a:p>
          <a:endParaRPr lang="en-US"/>
        </a:p>
      </dgm:t>
    </dgm:pt>
    <dgm:pt modelId="{3AD22841-0225-479A-A0CD-38CC3DC68B9A}" type="sibTrans" cxnId="{E3B2DCE1-3A95-4594-837A-89E410A9515A}">
      <dgm:prSet/>
      <dgm:spPr/>
      <dgm:t>
        <a:bodyPr/>
        <a:lstStyle/>
        <a:p>
          <a:endParaRPr lang="en-US"/>
        </a:p>
      </dgm:t>
    </dgm:pt>
    <dgm:pt modelId="{4427791E-B619-4721-A7C2-E08A8735E9E6}">
      <dgm:prSet phldrT="[Text]"/>
      <dgm:spPr>
        <a:ln w="76200">
          <a:solidFill>
            <a:srgbClr val="A02B93"/>
          </a:solidFill>
        </a:ln>
      </dgm:spPr>
      <dgm:t>
        <a:bodyPr/>
        <a:lstStyle/>
        <a:p>
          <a:r>
            <a:rPr lang="en-US" b="1" dirty="0">
              <a:solidFill>
                <a:srgbClr val="A02B93"/>
              </a:solidFill>
            </a:rPr>
            <a:t>Metric Benchmarking:</a:t>
          </a:r>
          <a:r>
            <a:rPr lang="en-US" dirty="0">
              <a:solidFill>
                <a:srgbClr val="A02B93"/>
              </a:solidFill>
            </a:rPr>
            <a:t> </a:t>
          </a:r>
          <a:r>
            <a:rPr lang="en-US" dirty="0"/>
            <a:t>Mathematically auditing the Validator/Evaluator scores against manual expert verification</a:t>
          </a:r>
        </a:p>
      </dgm:t>
    </dgm:pt>
    <dgm:pt modelId="{98AB5CAF-42F9-4A6E-8C3B-903553136C37}" type="parTrans" cxnId="{C2D56438-35F4-4B29-B4AA-6099A42A40D0}">
      <dgm:prSet/>
      <dgm:spPr/>
      <dgm:t>
        <a:bodyPr/>
        <a:lstStyle/>
        <a:p>
          <a:endParaRPr lang="en-US"/>
        </a:p>
      </dgm:t>
    </dgm:pt>
    <dgm:pt modelId="{28CF809D-A9BF-4EB5-B090-E9B717FDE3FC}" type="sibTrans" cxnId="{C2D56438-35F4-4B29-B4AA-6099A42A40D0}">
      <dgm:prSet/>
      <dgm:spPr/>
      <dgm:t>
        <a:bodyPr/>
        <a:lstStyle/>
        <a:p>
          <a:endParaRPr lang="en-US"/>
        </a:p>
      </dgm:t>
    </dgm:pt>
    <dgm:pt modelId="{D8BBF80E-A151-4942-9211-54BD80A2A237}" type="pres">
      <dgm:prSet presAssocID="{625B516A-CC05-4F1C-B358-549F9BB44808}" presName="diagram" presStyleCnt="0">
        <dgm:presLayoutVars>
          <dgm:dir/>
          <dgm:resizeHandles val="exact"/>
        </dgm:presLayoutVars>
      </dgm:prSet>
      <dgm:spPr/>
    </dgm:pt>
    <dgm:pt modelId="{67EA7393-C45D-469C-B7E5-1931B96BAA1B}" type="pres">
      <dgm:prSet presAssocID="{B3DE8A33-905A-4B44-9706-76F6D5CECBF1}" presName="node" presStyleLbl="node1" presStyleIdx="0" presStyleCnt="3">
        <dgm:presLayoutVars>
          <dgm:bulletEnabled val="1"/>
        </dgm:presLayoutVars>
      </dgm:prSet>
      <dgm:spPr/>
    </dgm:pt>
    <dgm:pt modelId="{02F0DAE6-6175-4BDA-9018-7CB9B91BCB0B}" type="pres">
      <dgm:prSet presAssocID="{F8AF202F-A049-4E16-8A3F-4EC18B02AA64}" presName="sibTrans" presStyleCnt="0"/>
      <dgm:spPr/>
    </dgm:pt>
    <dgm:pt modelId="{73BA7837-5C4A-4275-A670-BA0B1B04DB13}" type="pres">
      <dgm:prSet presAssocID="{20BBDE80-3655-4D41-B456-B293EEFBBE0C}" presName="node" presStyleLbl="node1" presStyleIdx="1" presStyleCnt="3">
        <dgm:presLayoutVars>
          <dgm:bulletEnabled val="1"/>
        </dgm:presLayoutVars>
      </dgm:prSet>
      <dgm:spPr/>
    </dgm:pt>
    <dgm:pt modelId="{342879C2-698D-422B-8A1E-676B104D3ED7}" type="pres">
      <dgm:prSet presAssocID="{3AD22841-0225-479A-A0CD-38CC3DC68B9A}" presName="sibTrans" presStyleCnt="0"/>
      <dgm:spPr/>
    </dgm:pt>
    <dgm:pt modelId="{CC02E646-3D94-416F-8DC0-A8641A484993}" type="pres">
      <dgm:prSet presAssocID="{4427791E-B619-4721-A7C2-E08A8735E9E6}" presName="node" presStyleLbl="node1" presStyleIdx="2" presStyleCnt="3">
        <dgm:presLayoutVars>
          <dgm:bulletEnabled val="1"/>
        </dgm:presLayoutVars>
      </dgm:prSet>
      <dgm:spPr/>
    </dgm:pt>
  </dgm:ptLst>
  <dgm:cxnLst>
    <dgm:cxn modelId="{99002201-CEF9-4231-9A80-151E88332B7C}" type="presOf" srcId="{625B516A-CC05-4F1C-B358-549F9BB44808}" destId="{D8BBF80E-A151-4942-9211-54BD80A2A237}" srcOrd="0" destOrd="0" presId="urn:microsoft.com/office/officeart/2005/8/layout/default"/>
    <dgm:cxn modelId="{C2D56438-35F4-4B29-B4AA-6099A42A40D0}" srcId="{625B516A-CC05-4F1C-B358-549F9BB44808}" destId="{4427791E-B619-4721-A7C2-E08A8735E9E6}" srcOrd="2" destOrd="0" parTransId="{98AB5CAF-42F9-4A6E-8C3B-903553136C37}" sibTransId="{28CF809D-A9BF-4EB5-B090-E9B717FDE3FC}"/>
    <dgm:cxn modelId="{9790446E-F955-4CFD-976E-A7D297214337}" srcId="{625B516A-CC05-4F1C-B358-549F9BB44808}" destId="{B3DE8A33-905A-4B44-9706-76F6D5CECBF1}" srcOrd="0" destOrd="0" parTransId="{62E72872-6224-405B-9A04-99EDAE432784}" sibTransId="{F8AF202F-A049-4E16-8A3F-4EC18B02AA64}"/>
    <dgm:cxn modelId="{A6233E51-CB28-4FC4-89F6-D354E4AB4742}" type="presOf" srcId="{20BBDE80-3655-4D41-B456-B293EEFBBE0C}" destId="{73BA7837-5C4A-4275-A670-BA0B1B04DB13}" srcOrd="0" destOrd="0" presId="urn:microsoft.com/office/officeart/2005/8/layout/default"/>
    <dgm:cxn modelId="{74F9A19B-910B-40B4-8243-8C0E9A43AC21}" type="presOf" srcId="{4427791E-B619-4721-A7C2-E08A8735E9E6}" destId="{CC02E646-3D94-416F-8DC0-A8641A484993}" srcOrd="0" destOrd="0" presId="urn:microsoft.com/office/officeart/2005/8/layout/default"/>
    <dgm:cxn modelId="{8ED9AAAB-1399-454C-BA1C-8EB2BF69FF4D}" type="presOf" srcId="{B3DE8A33-905A-4B44-9706-76F6D5CECBF1}" destId="{67EA7393-C45D-469C-B7E5-1931B96BAA1B}" srcOrd="0" destOrd="0" presId="urn:microsoft.com/office/officeart/2005/8/layout/default"/>
    <dgm:cxn modelId="{E3B2DCE1-3A95-4594-837A-89E410A9515A}" srcId="{625B516A-CC05-4F1C-B358-549F9BB44808}" destId="{20BBDE80-3655-4D41-B456-B293EEFBBE0C}" srcOrd="1" destOrd="0" parTransId="{E3D12743-DBB9-4C40-892A-4D79CCA8C9A4}" sibTransId="{3AD22841-0225-479A-A0CD-38CC3DC68B9A}"/>
    <dgm:cxn modelId="{B1B69B50-2029-41F4-978B-3028B0DD69C2}" type="presParOf" srcId="{D8BBF80E-A151-4942-9211-54BD80A2A237}" destId="{67EA7393-C45D-469C-B7E5-1931B96BAA1B}" srcOrd="0" destOrd="0" presId="urn:microsoft.com/office/officeart/2005/8/layout/default"/>
    <dgm:cxn modelId="{76FBD6F8-0256-41F5-8B0E-1331898F8E16}" type="presParOf" srcId="{D8BBF80E-A151-4942-9211-54BD80A2A237}" destId="{02F0DAE6-6175-4BDA-9018-7CB9B91BCB0B}" srcOrd="1" destOrd="0" presId="urn:microsoft.com/office/officeart/2005/8/layout/default"/>
    <dgm:cxn modelId="{D0805770-6C79-4B5C-9D87-3FDF8618F327}" type="presParOf" srcId="{D8BBF80E-A151-4942-9211-54BD80A2A237}" destId="{73BA7837-5C4A-4275-A670-BA0B1B04DB13}" srcOrd="2" destOrd="0" presId="urn:microsoft.com/office/officeart/2005/8/layout/default"/>
    <dgm:cxn modelId="{2FCEC554-6E3E-4222-9627-6D8F1B2BF590}" type="presParOf" srcId="{D8BBF80E-A151-4942-9211-54BD80A2A237}" destId="{342879C2-698D-422B-8A1E-676B104D3ED7}" srcOrd="3" destOrd="0" presId="urn:microsoft.com/office/officeart/2005/8/layout/default"/>
    <dgm:cxn modelId="{2DBC521D-963D-4C06-849C-693F07C8BDFB}" type="presParOf" srcId="{D8BBF80E-A151-4942-9211-54BD80A2A237}" destId="{CC02E646-3D94-416F-8DC0-A8641A48499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1E326-E93B-458F-BD2F-8B0C7A4C9C82}">
      <dsp:nvSpPr>
        <dsp:cNvPr id="0" name=""/>
        <dsp:cNvSpPr/>
      </dsp:nvSpPr>
      <dsp:spPr>
        <a:xfrm>
          <a:off x="73143" y="582841"/>
          <a:ext cx="1505594" cy="1505594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2E76C2-F2EF-48CA-AD0E-72977799B9F4}">
      <dsp:nvSpPr>
        <dsp:cNvPr id="0" name=""/>
        <dsp:cNvSpPr/>
      </dsp:nvSpPr>
      <dsp:spPr>
        <a:xfrm>
          <a:off x="389318" y="899016"/>
          <a:ext cx="873244" cy="8732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D20B706-C839-431C-AC61-119217E1BE37}">
      <dsp:nvSpPr>
        <dsp:cNvPr id="0" name=""/>
        <dsp:cNvSpPr/>
      </dsp:nvSpPr>
      <dsp:spPr>
        <a:xfrm>
          <a:off x="1901365" y="582841"/>
          <a:ext cx="3548900" cy="15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accent5"/>
              </a:solidFill>
            </a:rPr>
            <a:t>Avoiding Randomness</a:t>
          </a:r>
        </a:p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Fixing seeds and parameters to guarantee deterministic, reproducible execution.</a:t>
          </a:r>
        </a:p>
      </dsp:txBody>
      <dsp:txXfrm>
        <a:off x="1901365" y="582841"/>
        <a:ext cx="3548900" cy="1505594"/>
      </dsp:txXfrm>
    </dsp:sp>
    <dsp:sp modelId="{5F0389E6-1BA7-43F8-86A8-783B563A93FD}">
      <dsp:nvSpPr>
        <dsp:cNvPr id="0" name=""/>
        <dsp:cNvSpPr/>
      </dsp:nvSpPr>
      <dsp:spPr>
        <a:xfrm>
          <a:off x="6068634" y="582841"/>
          <a:ext cx="1505594" cy="1505594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F80F7A4-0B2D-400E-A432-A85E11C8A703}">
      <dsp:nvSpPr>
        <dsp:cNvPr id="0" name=""/>
        <dsp:cNvSpPr/>
      </dsp:nvSpPr>
      <dsp:spPr>
        <a:xfrm>
          <a:off x="6384809" y="899016"/>
          <a:ext cx="873244" cy="8732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D1F1FDD-5C61-44D8-8B6C-5520F92260AA}">
      <dsp:nvSpPr>
        <dsp:cNvPr id="0" name=""/>
        <dsp:cNvSpPr/>
      </dsp:nvSpPr>
      <dsp:spPr>
        <a:xfrm>
          <a:off x="7896855" y="582841"/>
          <a:ext cx="3548900" cy="1505594"/>
        </a:xfrm>
        <a:prstGeom prst="rect">
          <a:avLst/>
        </a:prstGeom>
        <a:noFill/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accent5"/>
              </a:solidFill>
            </a:rPr>
            <a:t>Extracting</a:t>
          </a:r>
          <a:r>
            <a:rPr lang="en-US" sz="2300" kern="1200" dirty="0">
              <a:solidFill>
                <a:schemeClr val="accent5"/>
              </a:solidFill>
            </a:rPr>
            <a:t> </a:t>
          </a:r>
          <a:r>
            <a:rPr lang="en-US" sz="2300" b="1" kern="1200" dirty="0">
              <a:solidFill>
                <a:schemeClr val="accent5"/>
              </a:solidFill>
            </a:rPr>
            <a:t> Narrative </a:t>
          </a:r>
          <a:r>
            <a:rPr lang="en-US" sz="2300" kern="1200" dirty="0"/>
            <a:t>Breaking down network events into expected logical phases and identifying relevant network entities.</a:t>
          </a:r>
        </a:p>
      </dsp:txBody>
      <dsp:txXfrm>
        <a:off x="7896855" y="582841"/>
        <a:ext cx="3548900" cy="1505594"/>
      </dsp:txXfrm>
    </dsp:sp>
    <dsp:sp modelId="{0E8BE58B-171D-4834-89FE-12B6BAE38801}">
      <dsp:nvSpPr>
        <dsp:cNvPr id="0" name=""/>
        <dsp:cNvSpPr/>
      </dsp:nvSpPr>
      <dsp:spPr>
        <a:xfrm>
          <a:off x="73143" y="2943939"/>
          <a:ext cx="1505594" cy="1505594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094CA78-0DA6-40FC-B613-E5B4E37840CE}">
      <dsp:nvSpPr>
        <dsp:cNvPr id="0" name=""/>
        <dsp:cNvSpPr/>
      </dsp:nvSpPr>
      <dsp:spPr>
        <a:xfrm>
          <a:off x="389318" y="3260114"/>
          <a:ext cx="873244" cy="8732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000" r="-1000"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22E5445-DF8A-4CA2-9D09-417751E7AFD0}">
      <dsp:nvSpPr>
        <dsp:cNvPr id="0" name=""/>
        <dsp:cNvSpPr/>
      </dsp:nvSpPr>
      <dsp:spPr>
        <a:xfrm>
          <a:off x="1901365" y="2943939"/>
          <a:ext cx="3548900" cy="15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accent5"/>
              </a:solidFill>
            </a:rPr>
            <a:t>Creating a syntactically correct D2 diagram</a:t>
          </a:r>
        </a:p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turns simple code into clean diagrams and support images and animations.</a:t>
          </a:r>
        </a:p>
      </dsp:txBody>
      <dsp:txXfrm>
        <a:off x="1901365" y="2943939"/>
        <a:ext cx="3548900" cy="1505594"/>
      </dsp:txXfrm>
    </dsp:sp>
    <dsp:sp modelId="{15737FBC-5615-43F5-8844-F90B57B934F3}">
      <dsp:nvSpPr>
        <dsp:cNvPr id="0" name=""/>
        <dsp:cNvSpPr/>
      </dsp:nvSpPr>
      <dsp:spPr>
        <a:xfrm>
          <a:off x="6068634" y="2943939"/>
          <a:ext cx="1505594" cy="1505594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F7ED3E4-2704-465F-8C6D-D389ECC54AAC}">
      <dsp:nvSpPr>
        <dsp:cNvPr id="0" name=""/>
        <dsp:cNvSpPr/>
      </dsp:nvSpPr>
      <dsp:spPr>
        <a:xfrm>
          <a:off x="6384809" y="3260114"/>
          <a:ext cx="873244" cy="87324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DA59610-229E-4121-B934-0B87E9807A4D}">
      <dsp:nvSpPr>
        <dsp:cNvPr id="0" name=""/>
        <dsp:cNvSpPr/>
      </dsp:nvSpPr>
      <dsp:spPr>
        <a:xfrm>
          <a:off x="7896855" y="2943939"/>
          <a:ext cx="3548900" cy="150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accent5"/>
              </a:solidFill>
            </a:rPr>
            <a:t>Packet-Level Grounding</a:t>
          </a:r>
          <a:r>
            <a:rPr lang="en-US" sz="2400" kern="1200" dirty="0">
              <a:solidFill>
                <a:schemeClr val="accent5"/>
              </a:solidFill>
            </a:rPr>
            <a:t> </a:t>
          </a:r>
          <a:r>
            <a:rPr lang="en-US" sz="2400" kern="1200" dirty="0"/>
            <a:t>Linking logical steps directly to physical packets.</a:t>
          </a:r>
        </a:p>
      </dsp:txBody>
      <dsp:txXfrm>
        <a:off x="7896855" y="2943939"/>
        <a:ext cx="3548900" cy="15055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94611-AFDA-4F5A-8D4A-7BDF55377732}">
      <dsp:nvSpPr>
        <dsp:cNvPr id="0" name=""/>
        <dsp:cNvSpPr/>
      </dsp:nvSpPr>
      <dsp:spPr>
        <a:xfrm>
          <a:off x="729900" y="257338"/>
          <a:ext cx="2196000" cy="2196000"/>
        </a:xfrm>
        <a:prstGeom prst="ellips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761BC-8A66-4B6A-BA61-BE07CEF469FC}">
      <dsp:nvSpPr>
        <dsp:cNvPr id="0" name=""/>
        <dsp:cNvSpPr/>
      </dsp:nvSpPr>
      <dsp:spPr>
        <a:xfrm>
          <a:off x="1053900" y="581338"/>
          <a:ext cx="1548000" cy="15480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1B2A6-766F-4861-B42B-B5C07034909C}">
      <dsp:nvSpPr>
        <dsp:cNvPr id="0" name=""/>
        <dsp:cNvSpPr/>
      </dsp:nvSpPr>
      <dsp:spPr>
        <a:xfrm>
          <a:off x="27900" y="3137338"/>
          <a:ext cx="3600000" cy="239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2000" b="1" kern="1200" dirty="0"/>
            <a:t>D2 Syntax Validation</a:t>
          </a:r>
          <a:endParaRPr lang="he-IL" sz="2000" b="1" kern="1200" dirty="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2000" kern="1200" dirty="0"/>
            <a:t>Algorithmic check to ensure the generated output is syntactically valid and error-free before rendering.</a:t>
          </a:r>
          <a:endParaRPr lang="en-US" sz="2000" b="1" kern="1200" dirty="0"/>
        </a:p>
      </dsp:txBody>
      <dsp:txXfrm>
        <a:off x="27900" y="3137338"/>
        <a:ext cx="3600000" cy="2393437"/>
      </dsp:txXfrm>
    </dsp:sp>
    <dsp:sp modelId="{900C4CE7-E9B1-45BA-B57F-FE2BA3A903F5}">
      <dsp:nvSpPr>
        <dsp:cNvPr id="0" name=""/>
        <dsp:cNvSpPr/>
      </dsp:nvSpPr>
      <dsp:spPr>
        <a:xfrm>
          <a:off x="4959900" y="257338"/>
          <a:ext cx="2196000" cy="2196000"/>
        </a:xfrm>
        <a:prstGeom prst="ellipse">
          <a:avLst/>
        </a:prstGeom>
        <a:solidFill>
          <a:schemeClr val="accent5">
            <a:shade val="80000"/>
            <a:hueOff val="89837"/>
            <a:satOff val="-16143"/>
            <a:lumOff val="16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701B2-2AD0-4C2E-98CC-1FB7F97FC0C2}">
      <dsp:nvSpPr>
        <dsp:cNvPr id="0" name=""/>
        <dsp:cNvSpPr/>
      </dsp:nvSpPr>
      <dsp:spPr>
        <a:xfrm>
          <a:off x="5283900" y="581338"/>
          <a:ext cx="1548000" cy="15480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5">
              <a:shade val="80000"/>
              <a:hueOff val="89837"/>
              <a:satOff val="-16143"/>
              <a:lumOff val="161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2B5D0-F50B-449D-9E3B-90882467BF02}">
      <dsp:nvSpPr>
        <dsp:cNvPr id="0" name=""/>
        <dsp:cNvSpPr/>
      </dsp:nvSpPr>
      <dsp:spPr>
        <a:xfrm>
          <a:off x="4257900" y="3137338"/>
          <a:ext cx="3600000" cy="239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2000" b="1" kern="1200" dirty="0"/>
            <a:t>Using second agent to verify generator AI instructions</a:t>
          </a:r>
          <a:endParaRPr lang="he-IL" sz="2000" b="1" kern="1200" dirty="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2000" kern="1200" dirty="0"/>
            <a:t>Utilizing a second, zero-temperature LLM reviewer to cross-examine the generator instructions</a:t>
          </a:r>
          <a:endParaRPr lang="en-US" sz="2000" b="1" kern="1200" dirty="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en-US" sz="2000" kern="1200" dirty="0"/>
        </a:p>
      </dsp:txBody>
      <dsp:txXfrm>
        <a:off x="4257900" y="3137338"/>
        <a:ext cx="3600000" cy="2393437"/>
      </dsp:txXfrm>
    </dsp:sp>
    <dsp:sp modelId="{71F37C4C-9AF5-4DF3-BD59-D25AC8694E2B}">
      <dsp:nvSpPr>
        <dsp:cNvPr id="0" name=""/>
        <dsp:cNvSpPr/>
      </dsp:nvSpPr>
      <dsp:spPr>
        <a:xfrm>
          <a:off x="9189900" y="257338"/>
          <a:ext cx="2196000" cy="2196000"/>
        </a:xfrm>
        <a:prstGeom prst="ellipse">
          <a:avLst/>
        </a:prstGeom>
        <a:solidFill>
          <a:schemeClr val="accent5">
            <a:shade val="80000"/>
            <a:hueOff val="179674"/>
            <a:satOff val="-32286"/>
            <a:lumOff val="323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60110-029D-4584-8D9C-D10923A309BB}">
      <dsp:nvSpPr>
        <dsp:cNvPr id="0" name=""/>
        <dsp:cNvSpPr/>
      </dsp:nvSpPr>
      <dsp:spPr>
        <a:xfrm>
          <a:off x="9513899" y="581338"/>
          <a:ext cx="1548000" cy="154800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5">
              <a:shade val="80000"/>
              <a:hueOff val="179674"/>
              <a:satOff val="-32286"/>
              <a:lumOff val="323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9D680-72DC-4D55-BE4D-27521E747E9F}">
      <dsp:nvSpPr>
        <dsp:cNvPr id="0" name=""/>
        <dsp:cNvSpPr/>
      </dsp:nvSpPr>
      <dsp:spPr>
        <a:xfrm>
          <a:off x="8487900" y="3137338"/>
          <a:ext cx="3600000" cy="239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2000" b="1" kern="1200" dirty="0"/>
            <a:t>Cross-Matching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2000" kern="1200" dirty="0"/>
            <a:t>Splitting steps into structured sets  (Source, Destination, Protocol) and matching them against packets to flag FPs and FN</a:t>
          </a:r>
        </a:p>
      </dsp:txBody>
      <dsp:txXfrm>
        <a:off x="8487900" y="3137338"/>
        <a:ext cx="3600000" cy="23934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A7393-C45D-469C-B7E5-1931B96BAA1B}">
      <dsp:nvSpPr>
        <dsp:cNvPr id="0" name=""/>
        <dsp:cNvSpPr/>
      </dsp:nvSpPr>
      <dsp:spPr>
        <a:xfrm>
          <a:off x="992" y="194138"/>
          <a:ext cx="3869531" cy="232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76200" cap="flat" cmpd="sng" algn="ctr">
          <a:solidFill>
            <a:srgbClr val="A02B9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rgbClr val="A02B93"/>
              </a:solidFill>
            </a:rPr>
            <a:t>Scenario Compilation</a:t>
          </a:r>
          <a:r>
            <a:rPr lang="he-IL" sz="2500" b="1" kern="1200" dirty="0">
              <a:solidFill>
                <a:srgbClr val="A02B93"/>
              </a:solidFill>
            </a:rPr>
            <a:t>:</a:t>
          </a:r>
          <a:r>
            <a:rPr lang="en-US" sz="2500" kern="1200" dirty="0">
              <a:solidFill>
                <a:srgbClr val="A02B93"/>
              </a:solidFill>
            </a:rPr>
            <a:t> </a:t>
          </a:r>
          <a:r>
            <a:rPr lang="en-US" sz="2500" kern="1200" dirty="0"/>
            <a:t>Collecting 10 diverse attack PCAPs and building expert manual ground-truth reference diagrams.</a:t>
          </a:r>
        </a:p>
      </dsp:txBody>
      <dsp:txXfrm>
        <a:off x="992" y="194138"/>
        <a:ext cx="3869531" cy="2321718"/>
      </dsp:txXfrm>
    </dsp:sp>
    <dsp:sp modelId="{73BA7837-5C4A-4275-A670-BA0B1B04DB13}">
      <dsp:nvSpPr>
        <dsp:cNvPr id="0" name=""/>
        <dsp:cNvSpPr/>
      </dsp:nvSpPr>
      <dsp:spPr>
        <a:xfrm>
          <a:off x="4257476" y="194138"/>
          <a:ext cx="3869531" cy="232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76200" cap="flat" cmpd="sng" algn="ctr">
          <a:solidFill>
            <a:srgbClr val="A02B9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rgbClr val="A02B93"/>
              </a:solidFill>
            </a:rPr>
            <a:t>Paper Replication</a:t>
          </a:r>
          <a:r>
            <a:rPr lang="en-US" sz="2500" kern="1200" dirty="0">
              <a:solidFill>
                <a:srgbClr val="A02B93"/>
              </a:solidFill>
            </a:rPr>
            <a:t>: </a:t>
          </a:r>
          <a:r>
            <a:rPr lang="en-US" sz="2500" kern="1200" dirty="0"/>
            <a:t>Incorporating 2 real-world case studies from published cyber security literature.</a:t>
          </a:r>
        </a:p>
      </dsp:txBody>
      <dsp:txXfrm>
        <a:off x="4257476" y="194138"/>
        <a:ext cx="3869531" cy="2321718"/>
      </dsp:txXfrm>
    </dsp:sp>
    <dsp:sp modelId="{CC02E646-3D94-416F-8DC0-A8641A484993}">
      <dsp:nvSpPr>
        <dsp:cNvPr id="0" name=""/>
        <dsp:cNvSpPr/>
      </dsp:nvSpPr>
      <dsp:spPr>
        <a:xfrm>
          <a:off x="2129234" y="2902810"/>
          <a:ext cx="3869531" cy="232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76200" cap="flat" cmpd="sng" algn="ctr">
          <a:solidFill>
            <a:srgbClr val="A02B9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>
              <a:solidFill>
                <a:srgbClr val="A02B93"/>
              </a:solidFill>
            </a:rPr>
            <a:t>Metric Benchmarking:</a:t>
          </a:r>
          <a:r>
            <a:rPr lang="en-US" sz="2500" kern="1200" dirty="0">
              <a:solidFill>
                <a:srgbClr val="A02B93"/>
              </a:solidFill>
            </a:rPr>
            <a:t> </a:t>
          </a:r>
          <a:r>
            <a:rPr lang="en-US" sz="2500" kern="1200" dirty="0"/>
            <a:t>Mathematically auditing the Validator/Evaluator scores against manual expert verification</a:t>
          </a:r>
        </a:p>
      </dsp:txBody>
      <dsp:txXfrm>
        <a:off x="2129234" y="2902810"/>
        <a:ext cx="3869531" cy="232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IconCircleLabelList">
  <dgm:title val=""/>
  <dgm:desc val=""/>
  <dgm:catLst>
    <dgm:cat type="list" pri="18500"/>
    <dgm:cat type="picture" pri="8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43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node1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solidFgAcc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08601-E061-4AE8-949A-AA35F03A77CB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6FD1B-59C9-4EEA-9735-540FF221A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5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PAndA</a:t>
            </a:r>
            <a:r>
              <a:rPr lang="en-US" dirty="0"/>
              <a:t> is a system that automatically translates PCAPs into deterministic verified sequence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51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969FB-1703-3AD5-D853-E599B006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5C5DD-82E6-3345-747C-B3E25FE3D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06070-A065-47E4-A8D6-A705663C1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/>
              <a:t>Let’s talk about the need for this system</a:t>
            </a:r>
          </a:p>
          <a:p>
            <a:r>
              <a:rPr lang="en-US" sz="1800" dirty="0"/>
              <a:t>Humans are visual creatures. Research shows that adding a visual component to data increases recall</a:t>
            </a:r>
          </a:p>
          <a:p>
            <a:r>
              <a:rPr lang="en-US" sz="1800" dirty="0"/>
              <a:t> from </a:t>
            </a:r>
            <a:r>
              <a:rPr lang="en-US" sz="1800" b="1" dirty="0"/>
              <a:t>10% to 65%</a:t>
            </a:r>
            <a:r>
              <a:rPr lang="en-US" sz="1800" dirty="0"/>
              <a:t>. To truly understand a difficult information, especially complex attack scenarios, a diagram is almost always mandatory.</a:t>
            </a:r>
          </a:p>
          <a:p>
            <a:endParaRPr lang="en-US" sz="1800" dirty="0"/>
          </a:p>
          <a:p>
            <a:r>
              <a:rPr lang="en-US" sz="1800" dirty="0"/>
              <a:t>Another problem that network analysis faces today is Reproducibility </a:t>
            </a:r>
            <a:r>
              <a:rPr lang="en-US" sz="1800" b="1" dirty="0"/>
              <a:t>raw PCAP files are essentially black boxes</a:t>
            </a:r>
            <a:r>
              <a:rPr lang="en-US" sz="1800" dirty="0"/>
              <a:t>. </a:t>
            </a:r>
          </a:p>
          <a:p>
            <a:r>
              <a:rPr lang="en-US" sz="1800" dirty="0"/>
              <a:t>When a security researcher documents a new attack scenario, they hand over a massive files. For another tester or researcher, trying to reverse-engineer and reproduce that exact attack from the crude packets is incredibly difficult. There is a heavy 'documentation tax’- extracting theoretical story of the attack from  </a:t>
            </a:r>
            <a:r>
              <a:rPr lang="en-US" sz="1800" dirty="0" err="1"/>
              <a:t>from</a:t>
            </a:r>
            <a:r>
              <a:rPr lang="en-US" sz="1800" dirty="0"/>
              <a:t> large, noisy </a:t>
            </a:r>
            <a:r>
              <a:rPr lang="en-US" sz="1800" dirty="0" err="1"/>
              <a:t>pcap</a:t>
            </a:r>
            <a:r>
              <a:rPr lang="en-US" sz="1800" dirty="0"/>
              <a:t> files </a:t>
            </a:r>
            <a:r>
              <a:rPr lang="en-US" sz="1800"/>
              <a:t>is complex, </a:t>
            </a:r>
            <a:r>
              <a:rPr lang="en-US" sz="1800" dirty="0"/>
              <a:t>and prone to error</a:t>
            </a:r>
          </a:p>
          <a:p>
            <a:endParaRPr lang="en-US" sz="1800" dirty="0"/>
          </a:p>
          <a:p>
            <a:endParaRPr lang="he-IL" sz="1800" b="1" dirty="0"/>
          </a:p>
          <a:p>
            <a:endParaRPr lang="he-IL" sz="1800" b="1" dirty="0"/>
          </a:p>
          <a:p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3B1D2-870C-E1E9-00E2-479AD9698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86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81DE-A898-EABA-DB3A-56000900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B4FA1-FC29-F69F-5BDD-69EB56BFE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58B6B-7F80-5C2C-EA0E-23DDAAF20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 = attacker states, capabilities, or goals</a:t>
            </a:r>
          </a:p>
          <a:p>
            <a:r>
              <a:rPr lang="en-US" dirty="0"/>
              <a:t>Edges = exploit steps or transitions</a:t>
            </a:r>
          </a:p>
          <a:p>
            <a:endParaRPr lang="he-IL" dirty="0"/>
          </a:p>
          <a:p>
            <a:pPr algn="r" rtl="1"/>
            <a:r>
              <a:rPr lang="he-IL" dirty="0"/>
              <a:t>- יוצר דיאגרמות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 הכלי המוצע מריץ פונקציית מיפוי דטרמיניסטית בשם </a:t>
            </a:r>
            <a:r>
              <a:rPr lang="en-US" b="1" dirty="0"/>
              <a:t>Traceback Function</a:t>
            </a:r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dirty="0"/>
              <a:t>פונקציה זו משייכת לכל שלב לוגי מופשט בנרטיב של חבילות מידע מדויקות מתוך קובץ</a:t>
            </a:r>
          </a:p>
          <a:p>
            <a:pPr algn="r" rtl="1"/>
            <a:r>
              <a:rPr lang="he-IL" dirty="0"/>
              <a:t>מיפוי זה מבטיח כי כל טענה סמנטית בנרטיב ניתנת לאימות מלא (</a:t>
            </a:r>
            <a:r>
              <a:rPr lang="en-US" dirty="0"/>
              <a:t>Fully Verifiable) </a:t>
            </a:r>
            <a:r>
              <a:rPr lang="he-IL" dirty="0"/>
              <a:t>מול הראיות הדיגיטליות הגולמיות."</a:t>
            </a:r>
            <a:endParaRPr lang="he-IL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69757-0DFC-CC4B-4AAB-C60DD837A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96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92B6-37CC-BE52-4367-ADB435B5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3E529-E9A6-EF80-D3DF-A2F4ADE97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57CCE-E7BC-9405-54D8-FEC36C2F9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"That is an excellent point. Visualization and forensic verification </a:t>
            </a:r>
            <a:r>
              <a:rPr lang="en-US" i="1" dirty="0"/>
              <a:t>are</a:t>
            </a:r>
            <a:r>
              <a:rPr lang="en-US" dirty="0"/>
              <a:t> two separate challenges. But in real-world network analysis, </a:t>
            </a:r>
            <a:r>
              <a:rPr lang="en-US" b="1" dirty="0"/>
              <a:t>they suffer from the exact same bottleneck: the gap between the qualitative story and the quantitative data.</a:t>
            </a:r>
            <a:r>
              <a:rPr lang="en-US" dirty="0"/>
              <a:t>"</a:t>
            </a:r>
          </a:p>
          <a:p>
            <a:r>
              <a:rPr lang="en-US" dirty="0"/>
              <a:t>"</a:t>
            </a:r>
            <a:r>
              <a:rPr lang="en-US" dirty="0" err="1"/>
              <a:t>PAndA</a:t>
            </a:r>
            <a:r>
              <a:rPr lang="en-US" dirty="0"/>
              <a:t> doesn’t just build a pretty diagram; it builds a </a:t>
            </a:r>
            <a:r>
              <a:rPr lang="en-US" b="1" dirty="0"/>
              <a:t>deterministic bridge</a:t>
            </a:r>
            <a:r>
              <a:rPr lang="en-US" dirty="0"/>
              <a:t> between these two problems. Here is how they connect:"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2251D-B9CA-1082-9A0D-A8DF5638F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27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FF98-9930-071C-7789-25C6CF545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3BC7C-F7B0-BCF9-C52C-1DED15826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B0F5D-F9AF-AC9D-4856-60D976E44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BE7FD-70FF-7152-D565-82D84C28A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83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ED20-3807-1A2F-64A5-AF890514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B8693-E2DD-3C55-3936-C7931A775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CC6AF-CD1D-C6BE-782B-468593B23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  <a:p>
            <a:endParaRPr lang="en-US" dirty="0"/>
          </a:p>
          <a:p>
            <a:r>
              <a:rPr lang="en-US" dirty="0"/>
              <a:t>FNs</a:t>
            </a:r>
          </a:p>
          <a:p>
            <a:r>
              <a:rPr lang="en-US" b="1" dirty="0"/>
              <a:t>The Risk: </a:t>
            </a:r>
            <a:r>
              <a:rPr lang="en-US" dirty="0"/>
              <a:t>Critical attack events hidden or ignored within the filtered packet stream</a:t>
            </a:r>
          </a:p>
          <a:p>
            <a:endParaRPr lang="en-US" dirty="0"/>
          </a:p>
          <a:p>
            <a:r>
              <a:rPr lang="en-US" dirty="0"/>
              <a:t>FPs</a:t>
            </a:r>
          </a:p>
          <a:p>
            <a:r>
              <a:rPr lang="en-US" b="1" dirty="0"/>
              <a:t>The Risk:</a:t>
            </a:r>
            <a:r>
              <a:rPr lang="en-US" dirty="0"/>
              <a:t> AI generating imaginary sequence steps or tying correct traffic to non-existent malicious 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DFA87-E002-1289-8879-3F41BF4C7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53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97B3-7689-7385-8B47-36320507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A38A6-5F54-9D5E-D6CF-AA77795C5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D2250-C386-ABE0-996B-94B6FDC79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5690F-B971-A685-815A-78381350F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5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Visualize networks, attacks and protocols</a:t>
            </a:r>
            <a:endParaRPr lang="en-US" dirty="0"/>
          </a:p>
          <a:p>
            <a:endParaRPr lang="en-US" dirty="0"/>
          </a:p>
          <a:p>
            <a:r>
              <a:rPr lang="en-US" dirty="0"/>
              <a:t>Nodes = attacker states, capabilities, or goals</a:t>
            </a:r>
          </a:p>
          <a:p>
            <a:r>
              <a:rPr lang="en-US" dirty="0"/>
              <a:t>Edges = exploit steps or transitions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Wireshark Flow Graph</a:t>
            </a:r>
          </a:p>
          <a:p>
            <a:pPr marL="0" indent="0">
              <a:buNone/>
            </a:pPr>
            <a:r>
              <a:rPr lang="en-US" dirty="0"/>
              <a:t>Not diagrams but:</a:t>
            </a:r>
          </a:p>
          <a:p>
            <a:r>
              <a:rPr lang="en-US" dirty="0"/>
              <a:t>Mostly for troubleshooting </a:t>
            </a:r>
          </a:p>
          <a:p>
            <a:r>
              <a:rPr lang="en-US" dirty="0"/>
              <a:t>Shows connections between hosts and packet details</a:t>
            </a:r>
          </a:p>
          <a:p>
            <a:r>
              <a:rPr lang="en-US" dirty="0">
                <a:solidFill>
                  <a:srgbClr val="9900CC"/>
                </a:solidFill>
              </a:rPr>
              <a:t>Filters all connections by different options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45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 article on protocol vulnerabilities </a:t>
            </a:r>
            <a:r>
              <a:rPr lang="en-US" dirty="0" err="1"/>
              <a:t>mayrequire</a:t>
            </a:r>
            <a:r>
              <a:rPr lang="en-US" dirty="0"/>
              <a:t> deep variable inspection, while a paper on </a:t>
            </a:r>
            <a:r>
              <a:rPr lang="en-US" dirty="0" err="1"/>
              <a:t>networktopology</a:t>
            </a:r>
            <a:r>
              <a:rPr lang="en-US" dirty="0"/>
              <a:t> requires high-level traffic summaries.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The noise of one article is important in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73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Preprocessing and parsing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09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40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D2: Declarative Diagramming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modern language that turns text to diagrams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05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F810A-65B1-DC78-5428-EF5DB454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331D0-BDB5-6E27-67A8-7CAD809AE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CF7F1-4799-A026-19F4-11B403E99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  <a:p>
            <a:r>
              <a:rPr lang="he-IL" dirty="0"/>
              <a:t>מודלי שפה גדולים (</a:t>
            </a:r>
            <a:r>
              <a:rPr lang="en-US" dirty="0"/>
              <a:t>LLMs) </a:t>
            </a:r>
            <a:r>
              <a:rPr lang="he-IL" dirty="0"/>
              <a:t>הם אלופים בהבנת טקסט, אבל הם </a:t>
            </a:r>
            <a:r>
              <a:rPr lang="he-IL" b="1" dirty="0"/>
              <a:t>גרועים מאוד בחישובים מדויקים, ספירה, ואימות של נתונים בינאריים רחבים</a:t>
            </a:r>
            <a:r>
              <a:rPr lang="he-IL" dirty="0"/>
              <a:t>.</a:t>
            </a:r>
            <a:endParaRPr lang="en-US" dirty="0"/>
          </a:p>
          <a:p>
            <a:r>
              <a:rPr lang="he-IL" dirty="0"/>
              <a:t>קוד </a:t>
            </a:r>
            <a:r>
              <a:rPr lang="en-US" dirty="0"/>
              <a:t>Python </a:t>
            </a:r>
            <a:r>
              <a:rPr lang="he-IL" dirty="0"/>
              <a:t>דטרמיניסטי (כמו סקריפט שמפנח פקטות) הוא מצוין בלבחון מספרים וביטים, אבל הוא </a:t>
            </a:r>
            <a:r>
              <a:rPr lang="he-IL" b="1" dirty="0"/>
              <a:t>עיוור לחלוטין להקשר סמנטי ומטרות על</a:t>
            </a:r>
            <a:r>
              <a:rPr lang="he-IL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B73E3-9AAA-E140-B0A0-410EB0A2A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57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4C343-23D0-9ED4-AE69-B02EDD35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4DE4F-0653-95B4-4CFF-B40D1259B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41D9C-603C-3927-9504-380D7B8C2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  <a:endParaRPr lang="he-IL" dirty="0"/>
          </a:p>
          <a:p>
            <a:endParaRPr lang="he-IL" dirty="0"/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he-IL" dirty="0"/>
              <a:t>במתקפות </a:t>
            </a:r>
            <a:r>
              <a:rPr lang="en-US" dirty="0"/>
              <a:t>DNS Amplification, </a:t>
            </a:r>
            <a:r>
              <a:rPr lang="he-IL" dirty="0"/>
              <a:t>התוקף כמעט תמיד ישלח בקשה מסוג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en-US" dirty="0"/>
              <a:t> (</a:t>
            </a:r>
            <a:r>
              <a:rPr lang="he-IL" dirty="0"/>
              <a:t>כלומר, "תחזיר לי את כל המידע שיש לך על הדומיין הזה"). זה נעשה כדי שנפח התשובה מהשרת יהיה גדול ככל האפשר. אם יש פקטות עם המחרוזת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en-US" dirty="0"/>
              <a:t> </a:t>
            </a:r>
            <a:r>
              <a:rPr lang="he-IL" dirty="0"/>
              <a:t>בשדה ה-</a:t>
            </a:r>
            <a:r>
              <a:rPr lang="en-US" dirty="0"/>
              <a:t>Query </a:t>
            </a:r>
            <a:r>
              <a:rPr lang="he-IL" dirty="0"/>
              <a:t>שנשארו בחוץ – המערכת תדע שהן קריטיות.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80762-04A4-2E5C-F0BC-07513B87C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1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191E-E10E-9E10-4C04-27DB9E52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CB59F-10F2-0B47-E368-67AD82474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5ED3A-C997-D6B4-4F95-CFE399D65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3F703-56D7-F682-089A-8B324BCD4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968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2323-CF03-F438-5434-D6E1C994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2EFE5-CBBC-7DDB-9E72-1CB71D1B8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3587E-9D8E-527E-C21F-9362FE64D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87C2E-EB6C-10BD-4E0C-837A3056A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7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501B2-0EF9-B807-1B1A-9EE7A9B0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4DDC9-6C2A-BBF0-AF66-C1D097A7E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7FFD3-D512-4C12-C72C-F2702DF0F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dirty="0">
                <a:solidFill>
                  <a:schemeClr val="accent5">
                    <a:lumMod val="75000"/>
                  </a:schemeClr>
                </a:solidFill>
              </a:rPr>
              <a:t>לתת מדדים כלשהם בין דיאגרמות אולי דלתא כלשהי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Our metrics quantify the node and path (multi-hop edges) alignment between generated and ground-truth diagrams using precision, recall, and F1 scores.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6C28B-9A9E-EC06-0BEB-E3E2C6C51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43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DiagramEval: Evaluating LLM-Generated Diagrams via Graphs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b="1" dirty="0"/>
          </a:p>
          <a:p>
            <a:r>
              <a:rPr lang="en-US" b="1" dirty="0"/>
              <a:t>Precision/Recall:</a:t>
            </a:r>
            <a:r>
              <a:rPr lang="en-US" dirty="0"/>
              <a:t> Are all the essential packets from the </a:t>
            </a:r>
            <a:r>
              <a:rPr lang="en-US" dirty="0" err="1"/>
              <a:t>Pcap</a:t>
            </a:r>
            <a:r>
              <a:rPr lang="en-US" dirty="0"/>
              <a:t> represented in the diagram?</a:t>
            </a:r>
          </a:p>
          <a:p>
            <a:r>
              <a:rPr lang="en-US" b="1" dirty="0"/>
              <a:t>F1-Score:</a:t>
            </a:r>
            <a:r>
              <a:rPr lang="en-US" dirty="0"/>
              <a:t> Does the sequence of "who talked to whom" match the actual protocol flow?</a:t>
            </a:r>
          </a:p>
          <a:p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Precision = 8/10</a:t>
            </a:r>
            <a:br>
              <a:rPr lang="en-US" dirty="0"/>
            </a:br>
            <a:r>
              <a:rPr lang="en-US" dirty="0"/>
              <a:t>Of the events the diagram </a:t>
            </a:r>
            <a:r>
              <a:rPr lang="en-US" i="1" dirty="0"/>
              <a:t>shows</a:t>
            </a:r>
            <a:r>
              <a:rPr lang="en-US" dirty="0"/>
              <a:t>, how many are correct?</a:t>
            </a:r>
          </a:p>
          <a:p>
            <a:r>
              <a:rPr lang="en-US" b="1" i="0" dirty="0"/>
              <a:t>Recall = 8/12</a:t>
            </a:r>
            <a:br>
              <a:rPr lang="en-US" i="0" dirty="0"/>
            </a:br>
            <a:r>
              <a:rPr lang="en-US" i="0" dirty="0"/>
              <a:t>Of the events that actually happened, how many did the diagram capture?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95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Validator check of existing or non existing packets can be done algorithmically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97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2DBF-1A15-8BBA-CC5F-BF11816F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E519A-FDE6-3306-5B3D-8F53AD3F0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612B8-3F6E-5AFD-7E72-1F92D79CF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https://secartifacts.github.io/usenixsec2025/badges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F776E-CD12-6D55-D5E7-E6364EF5C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951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AB1A-C603-5F20-EEE9-01DEC9AB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C53D2-CF5C-80A1-6557-99090024C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9B3B2-4BE9-935C-E555-C4FC6D995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Available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To earn this badge, the AEC must judge that the artifacts described in the “Open-Science section” of the paper have been </a:t>
            </a:r>
            <a:r>
              <a:rPr lang="en-US" b="1" dirty="0">
                <a:solidFill>
                  <a:schemeClr val="tx1"/>
                </a:solidFill>
              </a:rPr>
              <a:t>made available for retrieval, permanently and publicly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Functional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 To earn this badge, the AEC must judge that the artifacts </a:t>
            </a:r>
            <a:r>
              <a:rPr lang="en-US" sz="1600" b="1" dirty="0">
                <a:solidFill>
                  <a:schemeClr val="tx1"/>
                </a:solidFill>
              </a:rPr>
              <a:t>conform to the expectations set by the paper in terms of functionality, usability, and relevance</a:t>
            </a:r>
            <a:r>
              <a:rPr lang="en-US" sz="1600" dirty="0">
                <a:solidFill>
                  <a:schemeClr val="tx1"/>
                </a:solidFill>
              </a:rPr>
              <a:t>. </a:t>
            </a:r>
            <a:endParaRPr lang="en-US" sz="2000" b="1" dirty="0">
              <a:solidFill>
                <a:schemeClr val="tx1"/>
              </a:solidFill>
            </a:endParaRP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0113D-0438-9E2C-DCD0-09873D7CE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429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התוכנה שלך מייצרת את ה"מפה" (הדיאגרמה):</a:t>
            </a:r>
            <a:r>
              <a:rPr lang="he-IL" dirty="0"/>
              <a:t> היא מתרגמת את הררי המידע הגולמי לסיפור ברור ואינטואיטיבי בתוך שניות.</a:t>
            </a:r>
          </a:p>
          <a:p>
            <a:r>
              <a:rPr lang="he-IL" b="1" dirty="0"/>
              <a:t>התוכנה שלך מוכיחה שהסיפור אמיתי (</a:t>
            </a:r>
            <a:r>
              <a:rPr lang="en-US" b="1" dirty="0"/>
              <a:t>Grounded):</a:t>
            </a:r>
            <a:r>
              <a:rPr lang="en-US" dirty="0"/>
              <a:t> </a:t>
            </a:r>
            <a:r>
              <a:rPr lang="he-IL" dirty="0"/>
              <a:t>היא נותנת לבודק את שכבת ה-</a:t>
            </a:r>
            <a:r>
              <a:rPr lang="en-US" dirty="0"/>
              <a:t>Traceback </a:t>
            </a:r>
            <a:r>
              <a:rPr lang="he-IL" dirty="0"/>
              <a:t>הלחיצה. הבודק יכול להקליק על השלב של "הזרקת הקוד הזדוני" ולראות מיד בעיניים את הפקטות המדויקות שמוכיחות שזה קרה, בלי לחפש ב-</a:t>
            </a:r>
            <a:r>
              <a:rPr lang="en-US" dirty="0"/>
              <a:t>Wireshark.</a:t>
            </a:r>
          </a:p>
          <a:p>
            <a:r>
              <a:rPr lang="he-IL" b="1" dirty="0"/>
              <a:t>התוכנה שלך נותנת ציון אובייקטיבי (</a:t>
            </a:r>
            <a:r>
              <a:rPr lang="en-US" b="1" dirty="0"/>
              <a:t>Results Reproduced):</a:t>
            </a:r>
            <a:r>
              <a:rPr lang="en-US" dirty="0"/>
              <a:t> </a:t>
            </a:r>
            <a:r>
              <a:rPr lang="he-IL" dirty="0"/>
              <a:t>באמצעות ה-</a:t>
            </a:r>
            <a:r>
              <a:rPr lang="en-US" dirty="0"/>
              <a:t>Score Test </a:t>
            </a:r>
            <a:r>
              <a:rPr lang="he-IL" dirty="0"/>
              <a:t>והמדדים, היא אומרת לבודק בצורה מדעית: </a:t>
            </a:r>
            <a:r>
              <a:rPr lang="he-IL" i="1" dirty="0"/>
              <a:t>"קובץ ה-</a:t>
            </a:r>
            <a:r>
              <a:rPr lang="en-US" i="1" dirty="0"/>
              <a:t>PCAP </a:t>
            </a:r>
            <a:r>
              <a:rPr lang="he-IL" i="1" dirty="0"/>
              <a:t>הזה מכיל בדיוק את הישויות והשלבים שהחוקר טען במאמר, בציון דיוק של 98%"</a:t>
            </a:r>
            <a:r>
              <a:rPr lang="he-IL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6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שתי דוגמאות משני מאמרים</a:t>
            </a:r>
          </a:p>
          <a:p>
            <a:r>
              <a:rPr lang="he-IL" dirty="0"/>
              <a:t>מהפיקאפ הוא מייצר תמונה ותיאור, והיא קרובה למציאות - גם ניקוד של </a:t>
            </a:r>
            <a:r>
              <a:rPr lang="en-US" dirty="0"/>
              <a:t>evaluator </a:t>
            </a:r>
            <a:r>
              <a:rPr lang="he-IL" dirty="0"/>
              <a:t>וגם בעין</a:t>
            </a:r>
          </a:p>
          <a:p>
            <a:r>
              <a:rPr lang="he-IL" dirty="0"/>
              <a:t> אין פולס נגטיב ואין פולס פוזיטיב- דוגמה אחת </a:t>
            </a:r>
          </a:p>
          <a:p>
            <a:r>
              <a:rPr lang="he-IL" dirty="0"/>
              <a:t>בדיקה ידנית ועם אבליואטור – 10 דוגמאות שונות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8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שליטה ברמת ההפשטה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10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FDAD-2A30-A040-7570-7AE3EBC0E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DAF00-F892-F9E1-D010-80AE13230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001FB-7B0D-9E6D-C267-BFA5B6AF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C2D2-CA26-C316-3669-BC695AF2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6FE2-291F-210F-52F9-97D23C9B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9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A1FE-CE01-6DB0-8520-3FACF75D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08B2-08E5-AE15-E7B7-604A6408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FA55A-6826-795F-C58E-C6699879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1DD0-008B-0D10-D29F-9D1922D4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A05D-4F98-D419-7BCE-49E7E9BC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2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5C4C-DAB2-A6DE-9176-93A0202D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0D5D-7D11-9A53-E25E-2F52F1203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DF01-1312-9A51-03E6-13A0EB89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57CBE-33AE-E9C3-F4E5-62B100D8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FAC1-2BE9-BEFF-7405-571A3B94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300B-0317-8899-31E9-901C18BF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A3D0-387C-2797-906E-5606CE0FC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EABF-5B98-84C3-FFEC-0D1F9B8DA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41136-B160-175B-5A0A-A1C2DEEE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E0C07-4EBB-B3A1-EB15-92077D83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2B4ED-B2C9-BB8B-E5B0-5F9F6344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9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FE69-95A9-3465-48C5-E1A47A46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D3174-D968-C148-0C5A-8534AE8AF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22B0A-D1FF-0C1C-D4C5-8E8343B8A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F7D12-E7E4-CB04-C748-7290FD85C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161B2-CE9E-13D9-3635-D4E2D10F6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21956-CA0B-3932-D667-2E0DAF50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2778A-52AC-E9D5-CE32-45B75922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9BD79C-4D5B-85F5-42FA-FFFD7B50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49B2-CB45-167D-18B1-3B4AFD8D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02735-E2A2-79FF-AF5C-EDE56C1F5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90B29-7EF4-B275-55DA-8889E079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06AD4-0FE3-3524-F4C6-AEE3F623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6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69E0B-0CF0-4749-DA06-72858442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8C05F-A07A-5212-F59D-2CBF6302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EE09-7EFB-16CF-6A17-709E77E1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2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BDF-4192-F788-7013-E1DA3DDA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B8C1-530E-F47B-20FC-23A123C3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0B3F7-0EEE-B878-D23A-3CE29FCBB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121EF-BAFC-EF47-0C79-C366D024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8E259-78CA-53C5-C476-B58CAF9B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7F62-197F-7F4C-4109-9844544C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2168-9F33-28A6-A92A-EA1152A2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34587-7E87-5A1D-F752-7B32E824B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861CC-F90F-DA56-1AE5-C6703D1D5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6DB2B-75FC-30ED-2A80-73D7503B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8FFF1-6AEE-BFB1-67E5-A07187F4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A315B-4B64-1160-D75C-E35BAD86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F202-0628-E1C4-4606-D460C354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59AA2-2BF8-6126-8B39-920E7FBF0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2DF16-063F-5CE3-A45A-BE2BD7A57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03BA-8AA7-9D5C-9310-8EBC2A14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B517F-7E9A-BA63-BE32-FB06FFCA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7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38301-3667-45FE-054D-3EA3C40E7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45AD9-F067-AFB6-7121-9D06BB24B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56632-9D74-16DD-338C-2F727C95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08829-F61F-6B05-6273-EFFBEB5F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43D8-CAEE-93F8-D733-6033FBC0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89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108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AAAA72-2AE8-FC4B-734D-EEF28AE0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3FF32-6615-1515-F397-5E2B3889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AB4C0-2D01-A1A1-008B-0F9C45D51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DDE44-2A96-4951-86B4-5BB434E9B9D5}" type="datetimeFigureOut">
              <a:rPr lang="en-US" smtClean="0"/>
              <a:t>06/05/2026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4F95-77B5-3EF5-9452-428E2EB20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E7131-E6FA-01DD-D240-2EE6AAFFC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0.25761v1#:~:text=By%20considering%20both%20research%20paper,generation%20quality%20of%20paper%20diagrams.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366D-7DDB-C44C-693E-2D6C10794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" y="811212"/>
            <a:ext cx="11906250" cy="2387600"/>
          </a:xfrm>
        </p:spPr>
        <p:txBody>
          <a:bodyPr>
            <a:normAutofit/>
          </a:bodyPr>
          <a:lstStyle/>
          <a:p>
            <a:r>
              <a:rPr lang="en-US" sz="8800" b="1" dirty="0" err="1">
                <a:solidFill>
                  <a:srgbClr val="601F77"/>
                </a:solidFill>
              </a:rPr>
              <a:t>PAnDA</a:t>
            </a:r>
            <a:endParaRPr lang="en-US" sz="8800" b="1" dirty="0">
              <a:solidFill>
                <a:srgbClr val="601F77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5D7C37-B2FA-6789-B862-C24E46B756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9CC5"/>
                </a:solidFill>
              </a:rPr>
              <a:t>Packet Analysis Diagram Automator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43F1E-5F51-76F1-FE2A-8B2EF7004F5A}"/>
              </a:ext>
            </a:extLst>
          </p:cNvPr>
          <p:cNvSpPr txBox="1"/>
          <p:nvPr/>
        </p:nvSpPr>
        <p:spPr>
          <a:xfrm>
            <a:off x="2862943" y="34745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1ED86-A41D-A0FB-10C6-AF3866EDB5F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D39E4C-11CC-6166-2BF6-00E4AFC28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274" y="3613666"/>
            <a:ext cx="2969338" cy="445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9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B481-CF82-8074-D3BC-87820EE9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9BDB-2DD3-DF78-8F33-301358A6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3369022" cy="86092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The Necessity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90AAA5-D140-1710-E384-9456D6597526}"/>
              </a:ext>
            </a:extLst>
          </p:cNvPr>
          <p:cNvGrpSpPr/>
          <p:nvPr/>
        </p:nvGrpSpPr>
        <p:grpSpPr>
          <a:xfrm>
            <a:off x="568572" y="2189245"/>
            <a:ext cx="3542038" cy="3684428"/>
            <a:chOff x="385716" y="2169273"/>
            <a:chExt cx="3542038" cy="36844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6033513-9991-732C-D02A-B08E3FF59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84280" y="2169273"/>
              <a:ext cx="1797368" cy="179736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58E90C-92F2-E1A6-FE68-9C64F012A915}"/>
                </a:ext>
              </a:extLst>
            </p:cNvPr>
            <p:cNvSpPr txBox="1"/>
            <p:nvPr/>
          </p:nvSpPr>
          <p:spPr>
            <a:xfrm>
              <a:off x="385716" y="4191708"/>
              <a:ext cx="3542038" cy="16619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5">
                      <a:lumMod val="50000"/>
                    </a:schemeClr>
                  </a:solidFill>
                </a:rPr>
                <a:t>Visualization is Powerful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Visuals increase recall from 10% to 65% (Jasina et al., 2025)</a:t>
              </a:r>
            </a:p>
            <a:p>
              <a:pPr algn="ctr"/>
              <a:endPara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80B3D17-94E0-7153-3E74-0774AD81ACF9}"/>
              </a:ext>
            </a:extLst>
          </p:cNvPr>
          <p:cNvGrpSpPr/>
          <p:nvPr/>
        </p:nvGrpSpPr>
        <p:grpSpPr>
          <a:xfrm>
            <a:off x="8007980" y="1862050"/>
            <a:ext cx="3561719" cy="4011622"/>
            <a:chOff x="8234363" y="1636456"/>
            <a:chExt cx="3561719" cy="401162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65B5A40-58B0-6DA7-93D9-555693EC7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941132" y="1636456"/>
              <a:ext cx="2049557" cy="21694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C37982-A4F9-866D-3400-249A06F89B68}"/>
                </a:ext>
              </a:extLst>
            </p:cNvPr>
            <p:cNvSpPr txBox="1"/>
            <p:nvPr/>
          </p:nvSpPr>
          <p:spPr>
            <a:xfrm>
              <a:off x="8234363" y="4017525"/>
              <a:ext cx="3561719" cy="1630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5">
                      <a:lumMod val="50000"/>
                    </a:schemeClr>
                  </a:solidFill>
                </a:rPr>
                <a:t>Documentation Tax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As data grows in complexity, the ability to match the “story” to the detailed PCAPs becomes exponentially hard</a:t>
              </a:r>
              <a:endPara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14069C-2F24-7C1A-25DF-8ECF28E0C1DA}"/>
              </a:ext>
            </a:extLst>
          </p:cNvPr>
          <p:cNvGrpSpPr/>
          <p:nvPr/>
        </p:nvGrpSpPr>
        <p:grpSpPr>
          <a:xfrm>
            <a:off x="4294282" y="1843944"/>
            <a:ext cx="3346354" cy="4278582"/>
            <a:chOff x="4294282" y="1843944"/>
            <a:chExt cx="3346354" cy="427858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2D5680-C416-8E2E-E216-DFD9EEAE0B93}"/>
                </a:ext>
              </a:extLst>
            </p:cNvPr>
            <p:cNvSpPr txBox="1"/>
            <p:nvPr/>
          </p:nvSpPr>
          <p:spPr>
            <a:xfrm>
              <a:off x="4294282" y="3906535"/>
              <a:ext cx="3346354" cy="22159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2400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sz="2400" b="1" dirty="0">
                  <a:solidFill>
                    <a:schemeClr val="accent5">
                      <a:lumMod val="50000"/>
                    </a:schemeClr>
                  </a:solidFill>
                </a:rPr>
                <a:t>Reproducibility 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Bridging the gap between visual summaries and network evidence, there is a need for a deterministic traceback mechanism.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ECAC417-840D-8312-73B7-B359B1FFF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1488" y="1843944"/>
              <a:ext cx="1931941" cy="1931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049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635F-C002-A809-BB7E-455B7BC3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C289-9478-9B15-4CE2-1369D9B0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6"/>
            <a:ext cx="11913560" cy="105255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The Goals</a:t>
            </a:r>
          </a:p>
        </p:txBody>
      </p:sp>
      <p:pic>
        <p:nvPicPr>
          <p:cNvPr id="1026" name="Picture 2" descr="Reformatting flow diagrams for explaining complex processes">
            <a:extLst>
              <a:ext uri="{FF2B5EF4-FFF2-40B4-BE49-F238E27FC236}">
                <a16:creationId xmlns:a16="http://schemas.microsoft.com/office/drawing/2014/main" id="{DADC407B-0C96-B343-E0B5-97DF59824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160" y="289646"/>
            <a:ext cx="4062694" cy="313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F36C61-8A86-4014-3A41-F6B24A31FFAC}"/>
              </a:ext>
            </a:extLst>
          </p:cNvPr>
          <p:cNvSpPr txBox="1"/>
          <p:nvPr/>
        </p:nvSpPr>
        <p:spPr>
          <a:xfrm>
            <a:off x="415600" y="138329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chemeClr val="accent5">
                    <a:lumMod val="75000"/>
                  </a:schemeClr>
                </a:solidFill>
              </a:rPr>
              <a:t>Visual: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Transform raw data that includes PCAPs/texts into instant, high-fidelity visual narratives using LLMs</a:t>
            </a:r>
            <a:endParaRPr lang="en-U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C02BB-F567-F6AB-1549-974B344D0188}"/>
              </a:ext>
            </a:extLst>
          </p:cNvPr>
          <p:cNvSpPr txBox="1"/>
          <p:nvPr/>
        </p:nvSpPr>
        <p:spPr>
          <a:xfrm>
            <a:off x="4663440" y="4105096"/>
            <a:ext cx="7528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C836B7"/>
                </a:solidFill>
              </a:rPr>
              <a:t>Forensic:</a:t>
            </a:r>
            <a:r>
              <a:rPr lang="en-US" sz="3600" b="1" dirty="0">
                <a:solidFill>
                  <a:srgbClr val="C836B7"/>
                </a:solidFill>
              </a:rPr>
              <a:t> Provide a deterministic tool that allows reviewers to traceback data shown in diagrams to the original PCAPs</a:t>
            </a:r>
          </a:p>
        </p:txBody>
      </p:sp>
    </p:spTree>
    <p:extLst>
      <p:ext uri="{BB962C8B-B14F-4D97-AF65-F5344CB8AC3E}">
        <p14:creationId xmlns:p14="http://schemas.microsoft.com/office/powerpoint/2010/main" val="188122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6D7F-BD62-91CD-33C2-63D7C17F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051D-3E43-EB5D-E46A-7A43A2B5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6"/>
            <a:ext cx="11913560" cy="105255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System 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45E50-7784-9CFA-7A3C-6E6568FDE8E9}"/>
              </a:ext>
            </a:extLst>
          </p:cNvPr>
          <p:cNvSpPr txBox="1"/>
          <p:nvPr/>
        </p:nvSpPr>
        <p:spPr>
          <a:xfrm>
            <a:off x="415600" y="138329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chemeClr val="accent5">
                    <a:lumMod val="75000"/>
                  </a:schemeClr>
                </a:solidFill>
              </a:rPr>
              <a:t>Visual: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Receives PCAP files and/or a textual details of network scenarios and generates LLM sequence diagrams. </a:t>
            </a:r>
          </a:p>
          <a:p>
            <a:endParaRPr lang="en-U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EAB9C-751C-DB4A-87BA-723DCF80E838}"/>
              </a:ext>
            </a:extLst>
          </p:cNvPr>
          <p:cNvSpPr txBox="1"/>
          <p:nvPr/>
        </p:nvSpPr>
        <p:spPr>
          <a:xfrm>
            <a:off x="4914900" y="4083310"/>
            <a:ext cx="7277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C836B7"/>
                </a:solidFill>
              </a:rPr>
              <a:t>Forensic:</a:t>
            </a:r>
            <a:r>
              <a:rPr lang="en-US" sz="3600" b="1" dirty="0">
                <a:solidFill>
                  <a:srgbClr val="C836B7"/>
                </a:solidFill>
              </a:rPr>
              <a:t> The system then validates the accuracy of the narrative against the PCAP using Validation and Evaluation layers.</a:t>
            </a:r>
          </a:p>
        </p:txBody>
      </p:sp>
    </p:spTree>
    <p:extLst>
      <p:ext uri="{BB962C8B-B14F-4D97-AF65-F5344CB8AC3E}">
        <p14:creationId xmlns:p14="http://schemas.microsoft.com/office/powerpoint/2010/main" val="160562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F6C08-D979-3788-7673-6378DF1F2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299B-314F-877A-C825-534D7720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36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Grounding to Evidence</a:t>
            </a:r>
          </a:p>
        </p:txBody>
      </p:sp>
      <p:pic>
        <p:nvPicPr>
          <p:cNvPr id="5" name="Picture 4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B673630E-FE13-9811-8951-3397C47473F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2802854"/>
            <a:ext cx="5084650" cy="97633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2553A1F-FF05-7476-2B50-9EB816D2E410}"/>
              </a:ext>
            </a:extLst>
          </p:cNvPr>
          <p:cNvGrpSpPr/>
          <p:nvPr/>
        </p:nvGrpSpPr>
        <p:grpSpPr>
          <a:xfrm>
            <a:off x="1483535" y="3320458"/>
            <a:ext cx="9224929" cy="3157177"/>
            <a:chOff x="2191310" y="2973707"/>
            <a:chExt cx="9423622" cy="315717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D8126F8-865C-0C08-C09A-21CC228A7A87}"/>
                </a:ext>
              </a:extLst>
            </p:cNvPr>
            <p:cNvCxnSpPr>
              <a:cxnSpLocks/>
            </p:cNvCxnSpPr>
            <p:nvPr/>
          </p:nvCxnSpPr>
          <p:spPr>
            <a:xfrm>
              <a:off x="5873954" y="2973707"/>
              <a:ext cx="2198330" cy="27260"/>
            </a:xfrm>
            <a:prstGeom prst="straightConnector1">
              <a:avLst/>
            </a:prstGeom>
            <a:ln w="762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D87050-8DA5-BAB7-2A34-54621A9DA8C4}"/>
                </a:ext>
              </a:extLst>
            </p:cNvPr>
            <p:cNvSpPr txBox="1"/>
            <p:nvPr/>
          </p:nvSpPr>
          <p:spPr>
            <a:xfrm>
              <a:off x="2191310" y="5299887"/>
              <a:ext cx="94236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5">
                      <a:lumMod val="75000"/>
                    </a:schemeClr>
                  </a:solidFill>
                </a:rPr>
                <a:t>Create a DETERMINISTIC Traceback Function that maps Narrative steps to the corresponding groups of Ground Truth packets  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94D8B2-FF79-2035-B6C5-ED52F67CA792}"/>
              </a:ext>
            </a:extLst>
          </p:cNvPr>
          <p:cNvSpPr/>
          <p:nvPr/>
        </p:nvSpPr>
        <p:spPr>
          <a:xfrm>
            <a:off x="7573228" y="2228851"/>
            <a:ext cx="4365522" cy="18454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 DNS referral response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1532 bytes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packets #417- #421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2.18 - 2.24 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484C6-346F-D0DC-5B34-C8B2B2DCE0F7}"/>
              </a:ext>
            </a:extLst>
          </p:cNvPr>
          <p:cNvSpPr txBox="1"/>
          <p:nvPr/>
        </p:nvSpPr>
        <p:spPr>
          <a:xfrm>
            <a:off x="838200" y="1669615"/>
            <a:ext cx="3601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Textual Narrative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D7FC9-64A4-A30E-3C35-21CE150AA321}"/>
              </a:ext>
            </a:extLst>
          </p:cNvPr>
          <p:cNvSpPr txBox="1"/>
          <p:nvPr/>
        </p:nvSpPr>
        <p:spPr>
          <a:xfrm>
            <a:off x="7485078" y="1675002"/>
            <a:ext cx="462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Ground Truth Artifacts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5DB81-13B4-9DA2-8EEA-B9B4D5DE1415}"/>
              </a:ext>
            </a:extLst>
          </p:cNvPr>
          <p:cNvSpPr txBox="1"/>
          <p:nvPr/>
        </p:nvSpPr>
        <p:spPr>
          <a:xfrm>
            <a:off x="957076" y="3601554"/>
            <a:ext cx="27530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Final series of abstract logical steps describing the scenario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2F859-4B05-3BF2-E3A8-382C3844B0CA}"/>
              </a:ext>
            </a:extLst>
          </p:cNvPr>
          <p:cNvSpPr txBox="1"/>
          <p:nvPr/>
        </p:nvSpPr>
        <p:spPr>
          <a:xfrm>
            <a:off x="8379484" y="4064773"/>
            <a:ext cx="2753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Final series of packets </a:t>
            </a:r>
          </a:p>
        </p:txBody>
      </p:sp>
    </p:spTree>
    <p:extLst>
      <p:ext uri="{BB962C8B-B14F-4D97-AF65-F5344CB8AC3E}">
        <p14:creationId xmlns:p14="http://schemas.microsoft.com/office/powerpoint/2010/main" val="203537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  <p:bldP spid="4" grpId="0"/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1443-56BF-555C-C30D-33176DB6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9B05-EF90-A7A6-8E46-976F7AFF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640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Grounding to Evidence - Determinism from Statistical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423B8-7AA8-DA27-9F10-8B7954C9CD49}"/>
              </a:ext>
            </a:extLst>
          </p:cNvPr>
          <p:cNvSpPr txBox="1"/>
          <p:nvPr/>
        </p:nvSpPr>
        <p:spPr>
          <a:xfrm>
            <a:off x="1483534" y="4668738"/>
            <a:ext cx="9224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Challenge: how can we create a deterministic mapping function using statistical models?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3837E-5FA7-6BA9-106E-6159C2D9F1EA}"/>
              </a:ext>
            </a:extLst>
          </p:cNvPr>
          <p:cNvSpPr txBox="1"/>
          <p:nvPr/>
        </p:nvSpPr>
        <p:spPr>
          <a:xfrm>
            <a:off x="1064220" y="2044005"/>
            <a:ext cx="73160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False Positives (Hallucinations)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- LLM maps logical steps to incorrect packets, entities, or packets with wrong data</a:t>
            </a:r>
            <a:endParaRPr lang="he-IL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ACC15-BA5E-0E6F-4B4F-147AFA22343C}"/>
              </a:ext>
            </a:extLst>
          </p:cNvPr>
          <p:cNvSpPr txBox="1"/>
          <p:nvPr/>
        </p:nvSpPr>
        <p:spPr>
          <a:xfrm>
            <a:off x="1064220" y="3714631"/>
            <a:ext cx="7316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False Negatives (Droppings) 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- LLM omits important packets, entities</a:t>
            </a:r>
          </a:p>
        </p:txBody>
      </p:sp>
    </p:spTree>
    <p:extLst>
      <p:ext uri="{BB962C8B-B14F-4D97-AF65-F5344CB8AC3E}">
        <p14:creationId xmlns:p14="http://schemas.microsoft.com/office/powerpoint/2010/main" val="163540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85CD-9A29-7B4B-3B1C-B9EEB3781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C695-BBEB-BFFA-15F4-C5489649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The Requirements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1E4B86-8CE8-0AD9-C817-D3D80D7311EC}"/>
              </a:ext>
            </a:extLst>
          </p:cNvPr>
          <p:cNvSpPr/>
          <p:nvPr/>
        </p:nvSpPr>
        <p:spPr>
          <a:xfrm>
            <a:off x="1006475" y="1646555"/>
            <a:ext cx="2643505" cy="4846320"/>
          </a:xfrm>
          <a:prstGeom prst="roundRect">
            <a:avLst/>
          </a:prstGeom>
          <a:solidFill>
            <a:schemeClr val="bg1"/>
          </a:solidFill>
          <a:ln w="76200">
            <a:gradFill flip="none" rotWithShape="1">
              <a:gsLst>
                <a:gs pos="90000">
                  <a:schemeClr val="accent5">
                    <a:lumMod val="40000"/>
                    <a:lumOff val="60000"/>
                  </a:schemeClr>
                </a:gs>
                <a:gs pos="13000">
                  <a:schemeClr val="accent5">
                    <a:lumMod val="40000"/>
                    <a:lumOff val="60000"/>
                  </a:schemeClr>
                </a:gs>
                <a:gs pos="50000">
                  <a:schemeClr val="accent4">
                    <a:lumMod val="5000"/>
                    <a:lumOff val="95000"/>
                  </a:schemeClr>
                </a:gs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Integrity&amp; Uniformity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syntactically correct diagrams, with 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consistent visual language across multiple figures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1DA66E-36F7-D575-FFF4-D69969FF61B5}"/>
              </a:ext>
            </a:extLst>
          </p:cNvPr>
          <p:cNvSpPr/>
          <p:nvPr/>
        </p:nvSpPr>
        <p:spPr>
          <a:xfrm>
            <a:off x="4684077" y="1646555"/>
            <a:ext cx="2643505" cy="4846320"/>
          </a:xfrm>
          <a:prstGeom prst="roundRect">
            <a:avLst/>
          </a:prstGeom>
          <a:solidFill>
            <a:schemeClr val="bg1"/>
          </a:solidFill>
          <a:ln w="76200">
            <a:gradFill flip="none" rotWithShape="1">
              <a:gsLst>
                <a:gs pos="90000">
                  <a:schemeClr val="accent5">
                    <a:lumMod val="40000"/>
                    <a:lumOff val="60000"/>
                  </a:schemeClr>
                </a:gs>
                <a:gs pos="13000">
                  <a:schemeClr val="accent5">
                    <a:lumMod val="40000"/>
                    <a:lumOff val="60000"/>
                  </a:schemeClr>
                </a:gs>
                <a:gs pos="50000">
                  <a:schemeClr val="accent4">
                    <a:lumMod val="5000"/>
                    <a:lumOff val="95000"/>
                  </a:schemeClr>
                </a:gs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Evidence Grounding: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Pointing every diagram message to a specific PCAP metadata 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he-IL" sz="24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83DACE-2F15-4639-B019-313C76B8F827}"/>
              </a:ext>
            </a:extLst>
          </p:cNvPr>
          <p:cNvSpPr/>
          <p:nvPr/>
        </p:nvSpPr>
        <p:spPr>
          <a:xfrm>
            <a:off x="8361679" y="1646555"/>
            <a:ext cx="2643505" cy="4846320"/>
          </a:xfrm>
          <a:prstGeom prst="roundRect">
            <a:avLst/>
          </a:prstGeom>
          <a:solidFill>
            <a:schemeClr val="bg1"/>
          </a:solidFill>
          <a:ln w="76200">
            <a:gradFill flip="none" rotWithShape="1">
              <a:gsLst>
                <a:gs pos="90000">
                  <a:schemeClr val="accent5">
                    <a:lumMod val="40000"/>
                    <a:lumOff val="60000"/>
                  </a:schemeClr>
                </a:gs>
                <a:gs pos="13000">
                  <a:schemeClr val="accent5">
                    <a:lumMod val="40000"/>
                    <a:lumOff val="60000"/>
                  </a:schemeClr>
                </a:gs>
                <a:gs pos="50000">
                  <a:schemeClr val="accent4">
                    <a:lumMod val="5000"/>
                    <a:lumOff val="95000"/>
                  </a:schemeClr>
                </a:gs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Semantic Precision: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All terms and variables need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to be defined within the diagram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0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373F-1BF2-6A0A-1308-E143B9FC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6"/>
            <a:ext cx="11669720" cy="12856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Existing Methods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3C704A-6A15-76C8-B75E-DD707D0C261E}"/>
              </a:ext>
            </a:extLst>
          </p:cNvPr>
          <p:cNvGrpSpPr/>
          <p:nvPr/>
        </p:nvGrpSpPr>
        <p:grpSpPr>
          <a:xfrm>
            <a:off x="4417448" y="2424105"/>
            <a:ext cx="3542038" cy="2928107"/>
            <a:chOff x="415600" y="2624137"/>
            <a:chExt cx="3542038" cy="2928107"/>
          </a:xfrm>
        </p:grpSpPr>
        <p:pic>
          <p:nvPicPr>
            <p:cNvPr id="5" name="Picture 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3FEC169-4A40-0848-51A6-8B2A5068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19261" y="2624137"/>
              <a:ext cx="1534716" cy="153471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D886D3-CB83-CDA3-372B-92B1088C91FC}"/>
                </a:ext>
              </a:extLst>
            </p:cNvPr>
            <p:cNvSpPr txBox="1"/>
            <p:nvPr/>
          </p:nvSpPr>
          <p:spPr>
            <a:xfrm>
              <a:off x="415600" y="4628914"/>
              <a:ext cx="354203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Attack Trees and Attack Graphs</a:t>
              </a:r>
            </a:p>
            <a:p>
              <a:endParaRPr lang="en-US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b="1" dirty="0" err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MulVal</a:t>
              </a:r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, Mul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4FA2AE-FD09-EF8D-358A-D46BBA6E7FB2}"/>
              </a:ext>
            </a:extLst>
          </p:cNvPr>
          <p:cNvGrpSpPr/>
          <p:nvPr/>
        </p:nvGrpSpPr>
        <p:grpSpPr>
          <a:xfrm>
            <a:off x="290935" y="2349095"/>
            <a:ext cx="3542038" cy="3003117"/>
            <a:chOff x="4633317" y="2549127"/>
            <a:chExt cx="3542038" cy="300311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AA4AD4-3ED2-033D-FA27-0C1407F88703}"/>
                </a:ext>
              </a:extLst>
            </p:cNvPr>
            <p:cNvSpPr txBox="1"/>
            <p:nvPr/>
          </p:nvSpPr>
          <p:spPr>
            <a:xfrm>
              <a:off x="4633317" y="4628914"/>
              <a:ext cx="354203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Visualization of Network Traffic</a:t>
              </a:r>
            </a:p>
            <a:p>
              <a:endParaRPr lang="en-US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Wireshark flow diagram</a:t>
              </a:r>
            </a:p>
          </p:txBody>
        </p:sp>
        <p:pic>
          <p:nvPicPr>
            <p:cNvPr id="17" name="Picture 1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B0BBC2D-8259-DD62-6253-9739BB950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99473" y="2549127"/>
              <a:ext cx="1609726" cy="1609726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3EE874-E24D-62DA-CA4A-60C902640557}"/>
              </a:ext>
            </a:extLst>
          </p:cNvPr>
          <p:cNvGrpSpPr/>
          <p:nvPr/>
        </p:nvGrpSpPr>
        <p:grpSpPr>
          <a:xfrm>
            <a:off x="8543961" y="2366524"/>
            <a:ext cx="3226665" cy="3539686"/>
            <a:chOff x="8851035" y="2566556"/>
            <a:chExt cx="3226665" cy="353968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6BF649-5421-13B5-D265-92E375B6EB17}"/>
                </a:ext>
              </a:extLst>
            </p:cNvPr>
            <p:cNvSpPr txBox="1"/>
            <p:nvPr/>
          </p:nvSpPr>
          <p:spPr>
            <a:xfrm>
              <a:off x="8851035" y="4628914"/>
              <a:ext cx="3226665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LLM + Diagram Generation</a:t>
              </a:r>
            </a:p>
            <a:p>
              <a:endParaRPr lang="en-US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Eraser.com,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Selector.ai</a:t>
              </a:r>
              <a:endParaRPr lang="en-US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  <a:p>
              <a:pPr algn="ctr"/>
              <a:r>
                <a:rPr lang="en-US" b="1" dirty="0" err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Github</a:t>
              </a:r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 CoPilot </a:t>
              </a:r>
            </a:p>
          </p:txBody>
        </p:sp>
        <p:pic>
          <p:nvPicPr>
            <p:cNvPr id="21" name="Picture 2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9B1B271-AFAB-6890-4439-E02100A0D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10117" y="2566556"/>
              <a:ext cx="1649878" cy="164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107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C85C4A-22B9-9E31-0B2D-2FE818C5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73F8-2350-31C0-048B-D39B65C0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Generalization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640D5-24B6-F605-35FC-1DDA02B5F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Contextual Granularity: </a:t>
            </a:r>
            <a:r>
              <a:rPr lang="en-US" dirty="0"/>
              <a:t>Different research articles require different “lenses.” 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Structural Uniformity: </a:t>
            </a:r>
            <a:r>
              <a:rPr lang="en-US" dirty="0"/>
              <a:t>Maintaining a consistent style while adapting to the unique conventions of varying protocols</a:t>
            </a:r>
          </a:p>
        </p:txBody>
      </p:sp>
    </p:spTree>
    <p:extLst>
      <p:ext uri="{BB962C8B-B14F-4D97-AF65-F5344CB8AC3E}">
        <p14:creationId xmlns:p14="http://schemas.microsoft.com/office/powerpoint/2010/main" val="102158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DE5F-62C5-9FEB-568E-A7623887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F45B-A116-BF0B-426F-4F09058D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184" y="9890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3DE63-2346-2927-03CE-B66ECDA4F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19104"/>
            <a:ext cx="10409991" cy="393349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7323C6C-FCE2-F04B-AF51-DAEA3CEEB6E4}"/>
              </a:ext>
            </a:extLst>
          </p:cNvPr>
          <p:cNvGrpSpPr/>
          <p:nvPr/>
        </p:nvGrpSpPr>
        <p:grpSpPr>
          <a:xfrm>
            <a:off x="2019472" y="1798243"/>
            <a:ext cx="9667581" cy="3542545"/>
            <a:chOff x="2051534" y="1654626"/>
            <a:chExt cx="10961236" cy="424423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DC0F91F-85BE-230C-E7B1-9D8989B6C0F4}"/>
                </a:ext>
              </a:extLst>
            </p:cNvPr>
            <p:cNvSpPr/>
            <p:nvPr/>
          </p:nvSpPr>
          <p:spPr>
            <a:xfrm>
              <a:off x="2051534" y="1675630"/>
              <a:ext cx="2696086" cy="149454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Preprocessing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1AA87AF-CFE4-B8C5-1BBC-0D7A8A90AD75}"/>
                </a:ext>
              </a:extLst>
            </p:cNvPr>
            <p:cNvSpPr/>
            <p:nvPr/>
          </p:nvSpPr>
          <p:spPr>
            <a:xfrm>
              <a:off x="5363261" y="1672087"/>
              <a:ext cx="2696085" cy="149454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Generator</a:t>
              </a:r>
            </a:p>
            <a:p>
              <a:pPr algn="ctr"/>
              <a:r>
                <a:rPr lang="en-US" sz="2400" dirty="0"/>
                <a:t>Analysis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18417E3-53F4-9686-0378-A201FB31E3B7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 flipV="1">
              <a:off x="4747619" y="2419359"/>
              <a:ext cx="615642" cy="3543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1278547-8196-8A1A-41F6-30E8434A0660}"/>
                </a:ext>
              </a:extLst>
            </p:cNvPr>
            <p:cNvSpPr/>
            <p:nvPr/>
          </p:nvSpPr>
          <p:spPr>
            <a:xfrm>
              <a:off x="6910758" y="4361653"/>
              <a:ext cx="2696086" cy="1494542"/>
            </a:xfrm>
            <a:prstGeom prst="roundRect">
              <a:avLst/>
            </a:prstGeom>
            <a:solidFill>
              <a:srgbClr val="B698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Rendering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7F5A4A0-842A-3B39-02F3-93742A9D5820}"/>
                </a:ext>
              </a:extLst>
            </p:cNvPr>
            <p:cNvSpPr/>
            <p:nvPr/>
          </p:nvSpPr>
          <p:spPr>
            <a:xfrm>
              <a:off x="8657714" y="1654626"/>
              <a:ext cx="2696086" cy="149454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Validator</a:t>
              </a:r>
            </a:p>
            <a:p>
              <a:pPr algn="ctr"/>
              <a:r>
                <a:rPr lang="en-US" sz="2400" dirty="0"/>
                <a:t>Analysis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D6C357A-D0B5-FAC1-5491-EEC167EE49E3}"/>
                </a:ext>
              </a:extLst>
            </p:cNvPr>
            <p:cNvSpPr/>
            <p:nvPr/>
          </p:nvSpPr>
          <p:spPr>
            <a:xfrm>
              <a:off x="10316683" y="4404319"/>
              <a:ext cx="2696087" cy="149454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Evaluator</a:t>
              </a:r>
              <a:endParaRPr lang="en-US" sz="2800" dirty="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F926D26-8017-5066-F853-D25880A08F64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 flipV="1">
              <a:off x="8059346" y="2401898"/>
              <a:ext cx="598368" cy="17461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8A90C67-88F0-CD8C-B408-BA89F6CDE242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 rot="5400000">
            <a:off x="7758529" y="2781320"/>
            <a:ext cx="1012027" cy="1540779"/>
          </a:xfrm>
          <a:prstGeom prst="bentConnector3">
            <a:avLst>
              <a:gd name="adj1" fmla="val 33686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99E3AFF-01B8-22FF-4648-CD21277E7A6D}"/>
              </a:ext>
            </a:extLst>
          </p:cNvPr>
          <p:cNvCxnSpPr>
            <a:cxnSpLocks/>
            <a:stCxn id="7" idx="0"/>
            <a:endCxn id="5" idx="0"/>
          </p:cNvCxnSpPr>
          <p:nvPr/>
        </p:nvCxnSpPr>
        <p:spPr>
          <a:xfrm rot="16200000" flipH="1" flipV="1">
            <a:off x="7574825" y="352710"/>
            <a:ext cx="14574" cy="2905639"/>
          </a:xfrm>
          <a:prstGeom prst="bentConnector3">
            <a:avLst>
              <a:gd name="adj1" fmla="val -4967078"/>
            </a:avLst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191D552-C45F-5737-03F0-DCEFE688E0E6}"/>
              </a:ext>
            </a:extLst>
          </p:cNvPr>
          <p:cNvSpPr/>
          <p:nvPr/>
        </p:nvSpPr>
        <p:spPr>
          <a:xfrm>
            <a:off x="114300" y="1790166"/>
            <a:ext cx="1252392" cy="65787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Narrative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BDB6851-7228-FB1B-5816-78E7D140F4B5}"/>
              </a:ext>
            </a:extLst>
          </p:cNvPr>
          <p:cNvSpPr/>
          <p:nvPr/>
        </p:nvSpPr>
        <p:spPr>
          <a:xfrm>
            <a:off x="113612" y="2537721"/>
            <a:ext cx="1252392" cy="65787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PCAP</a:t>
            </a:r>
            <a:endParaRPr lang="en-US" sz="16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E48050A-0B9B-CED5-A241-EB199595A884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1366004" y="2866659"/>
            <a:ext cx="65346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F725897-0FF6-CA21-EFCA-DC7BEC561F1B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366692" y="2119104"/>
            <a:ext cx="6527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C5446E0-C3D5-A0A4-0569-30A4897B4339}"/>
              </a:ext>
            </a:extLst>
          </p:cNvPr>
          <p:cNvSpPr/>
          <p:nvPr/>
        </p:nvSpPr>
        <p:spPr>
          <a:xfrm>
            <a:off x="10612039" y="2928715"/>
            <a:ext cx="1426846" cy="65787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Ground-Truth Diagram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C5A13A3-2354-8FD6-9C6F-D6EA1E009EC2}"/>
              </a:ext>
            </a:extLst>
          </p:cNvPr>
          <p:cNvCxnSpPr>
            <a:cxnSpLocks/>
          </p:cNvCxnSpPr>
          <p:nvPr/>
        </p:nvCxnSpPr>
        <p:spPr>
          <a:xfrm>
            <a:off x="11225087" y="3586591"/>
            <a:ext cx="0" cy="54162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CA8A59A9-37C8-5101-7D09-C4C484EF80FA}"/>
              </a:ext>
            </a:extLst>
          </p:cNvPr>
          <p:cNvCxnSpPr>
            <a:cxnSpLocks/>
            <a:stCxn id="7" idx="3"/>
            <a:endCxn id="13" idx="0"/>
          </p:cNvCxnSpPr>
          <p:nvPr/>
        </p:nvCxnSpPr>
        <p:spPr>
          <a:xfrm>
            <a:off x="10223876" y="2421970"/>
            <a:ext cx="274231" cy="1671365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5AD9FCF7-4817-9EDB-09E0-A9BCBD9A57BB}"/>
              </a:ext>
            </a:extLst>
          </p:cNvPr>
          <p:cNvSpPr/>
          <p:nvPr/>
        </p:nvSpPr>
        <p:spPr>
          <a:xfrm>
            <a:off x="6931071" y="5692183"/>
            <a:ext cx="1126159" cy="657876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Output Diagram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F40F8D2-9A0D-338D-428C-1FB8DDEB724A}"/>
              </a:ext>
            </a:extLst>
          </p:cNvPr>
          <p:cNvSpPr/>
          <p:nvPr/>
        </p:nvSpPr>
        <p:spPr>
          <a:xfrm>
            <a:off x="9833572" y="5692183"/>
            <a:ext cx="1329070" cy="657876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Evaluation Score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4312877-B403-926F-E22F-96B019974AB4}"/>
              </a:ext>
            </a:extLst>
          </p:cNvPr>
          <p:cNvCxnSpPr>
            <a:cxnSpLocks/>
            <a:stCxn id="13" idx="2"/>
            <a:endCxn id="101" idx="0"/>
          </p:cNvCxnSpPr>
          <p:nvPr/>
        </p:nvCxnSpPr>
        <p:spPr>
          <a:xfrm>
            <a:off x="10498107" y="5340788"/>
            <a:ext cx="0" cy="3513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56AFE7D-4080-4586-5037-3FF2BBF99052}"/>
              </a:ext>
            </a:extLst>
          </p:cNvPr>
          <p:cNvCxnSpPr>
            <a:cxnSpLocks/>
            <a:stCxn id="25" idx="2"/>
            <a:endCxn id="100" idx="0"/>
          </p:cNvCxnSpPr>
          <p:nvPr/>
        </p:nvCxnSpPr>
        <p:spPr>
          <a:xfrm flipH="1">
            <a:off x="7494151" y="5305176"/>
            <a:ext cx="1" cy="38700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688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3481-F387-58E1-CC0A-1EEB4A08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B659-7FC1-7EDA-EBE9-23549C75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Preprocessing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94A30-5F23-654A-C8CD-0F7D6701F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02B93"/>
                </a:solidFill>
              </a:rPr>
              <a:t>Window Constraints: </a:t>
            </a:r>
            <a:r>
              <a:rPr lang="en-US" dirty="0"/>
              <a:t>LLM have memory limits, and PCAP Files can contain tens of thousands of packets!</a:t>
            </a:r>
          </a:p>
          <a:p>
            <a:pPr marL="0" indent="0">
              <a:buNone/>
            </a:pPr>
            <a:r>
              <a:rPr lang="en-US" b="1" dirty="0">
                <a:solidFill>
                  <a:srgbClr val="A02B93"/>
                </a:solidFill>
              </a:rPr>
              <a:t>Fighting against noise:</a:t>
            </a:r>
            <a:r>
              <a:rPr lang="en-US" dirty="0"/>
              <a:t> Many packets are repeating, not meaningful for the scenario description and load the system for no reason.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1D7D4-FDF9-865B-439A-5F8FC5F306F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34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7962-95B7-587A-1B1E-02D3B7F9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59F6-28AE-AE11-647B-92B50010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Preprocessing – Algorithmic Filtering 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EACB-2A6F-2577-010F-BAD247DBD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Noise Removal:</a:t>
            </a:r>
          </a:p>
          <a:p>
            <a:r>
              <a:rPr lang="en-US" dirty="0"/>
              <a:t>Remove Packets that have no IP layer (2</a:t>
            </a:r>
            <a:r>
              <a:rPr lang="en-US" baseline="30000" dirty="0"/>
              <a:t>nd</a:t>
            </a:r>
            <a:r>
              <a:rPr lang="en-US" dirty="0"/>
              <a:t> layer, ARP)</a:t>
            </a:r>
          </a:p>
          <a:p>
            <a:r>
              <a:rPr lang="en-US" dirty="0"/>
              <a:t>Remove ICMP layers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Fingerprint: </a:t>
            </a:r>
          </a:p>
          <a:p>
            <a:r>
              <a:rPr lang="en-US" dirty="0"/>
              <a:t>TCP: Flags + </a:t>
            </a:r>
            <a:r>
              <a:rPr lang="en-US" dirty="0" err="1"/>
              <a:t>Dport</a:t>
            </a:r>
            <a:r>
              <a:rPr lang="en-US" dirty="0"/>
              <a:t> </a:t>
            </a:r>
          </a:p>
          <a:p>
            <a:r>
              <a:rPr lang="en-US" dirty="0"/>
              <a:t>UDP: </a:t>
            </a:r>
            <a:r>
              <a:rPr lang="en-US" dirty="0" err="1"/>
              <a:t>Dport</a:t>
            </a:r>
            <a:r>
              <a:rPr lang="en-US" dirty="0"/>
              <a:t> </a:t>
            </a:r>
          </a:p>
          <a:p>
            <a:r>
              <a:rPr lang="en-US" dirty="0"/>
              <a:t>DNS: Domain name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9900CC"/>
                </a:solidFill>
              </a:rPr>
              <a:t>Pattern Finding:</a:t>
            </a:r>
          </a:p>
          <a:p>
            <a:r>
              <a:rPr lang="en-US" dirty="0"/>
              <a:t>Pick at most </a:t>
            </a:r>
            <a:r>
              <a:rPr lang="en-US" dirty="0" err="1">
                <a:solidFill>
                  <a:srgbClr val="C836B7"/>
                </a:solidFill>
              </a:rPr>
              <a:t>sampling_limit</a:t>
            </a:r>
            <a:r>
              <a:rPr lang="en-US" dirty="0"/>
              <a:t>  packets with the same fingerprint</a:t>
            </a:r>
          </a:p>
          <a:p>
            <a:pPr marL="0"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</a:rPr>
              <a:t>Output a filtered packet dictionary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31349-E153-B9EA-312C-C188037CC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859" y="1891334"/>
            <a:ext cx="3554470" cy="210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8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3596-ADB8-4721-4353-72638E2F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9614-0A63-F335-7666-5BE326FB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Generator LLM Analysis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54F352F-C1A0-B62B-CF79-3D1F85131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285745"/>
              </p:ext>
            </p:extLst>
          </p:nvPr>
        </p:nvGraphicFramePr>
        <p:xfrm>
          <a:off x="336550" y="1460500"/>
          <a:ext cx="11518900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545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165A-9342-510D-E373-EDD8D8B9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2A62-BF1F-80E8-78B6-A4F2C500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Validator 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DFA96C6-DE49-A9BA-646E-8B9C2534A7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5316862"/>
              </p:ext>
            </p:extLst>
          </p:nvPr>
        </p:nvGraphicFramePr>
        <p:xfrm>
          <a:off x="76200" y="916461"/>
          <a:ext cx="12115800" cy="5788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5899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49EAE-5522-90A3-E759-352B1B49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E1554D-6401-9326-DF61-DC443091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Validator – Handling FPs and FNs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608B2E-3C24-EFD5-5061-82DD8B2D78CF}"/>
              </a:ext>
            </a:extLst>
          </p:cNvPr>
          <p:cNvGrpSpPr/>
          <p:nvPr/>
        </p:nvGrpSpPr>
        <p:grpSpPr>
          <a:xfrm>
            <a:off x="101600" y="874659"/>
            <a:ext cx="6096000" cy="5816242"/>
            <a:chOff x="0" y="811159"/>
            <a:chExt cx="6096000" cy="581624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9E9E51-1F80-5AAA-C81A-D81D0858B72C}"/>
                </a:ext>
              </a:extLst>
            </p:cNvPr>
            <p:cNvSpPr txBox="1"/>
            <p:nvPr/>
          </p:nvSpPr>
          <p:spPr>
            <a:xfrm>
              <a:off x="0" y="1957547"/>
              <a:ext cx="609600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C836B7"/>
                  </a:solidFill>
                </a:rPr>
                <a:t>Scan the filtered packets and</a:t>
              </a:r>
            </a:p>
            <a:p>
              <a:pPr algn="ctr"/>
              <a:r>
                <a:rPr lang="en-US" sz="2400" dirty="0">
                  <a:solidFill>
                    <a:srgbClr val="C836B7"/>
                  </a:solidFill>
                </a:rPr>
                <a:t> checking for ignored packets</a:t>
              </a:r>
            </a:p>
            <a:p>
              <a:pPr algn="ctr"/>
              <a:r>
                <a:rPr lang="en-US" sz="2400" dirty="0">
                  <a:solidFill>
                    <a:srgbClr val="C836B7"/>
                  </a:solidFill>
                </a:rPr>
                <a:t> with critical keywords</a:t>
              </a:r>
              <a:endParaRPr lang="he-IL" sz="2400" dirty="0">
                <a:solidFill>
                  <a:srgbClr val="C836B7"/>
                </a:solidFill>
              </a:endParaRPr>
            </a:p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(Protocol-Based Filter) 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28CEA563-5517-317A-B5CC-F71852C6F5D9}"/>
                </a:ext>
              </a:extLst>
            </p:cNvPr>
            <p:cNvSpPr txBox="1">
              <a:spLocks/>
            </p:cNvSpPr>
            <p:nvPr/>
          </p:nvSpPr>
          <p:spPr>
            <a:xfrm>
              <a:off x="449943" y="811159"/>
              <a:ext cx="4820557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rgbClr val="C836B7"/>
                  </a:solidFill>
                </a:rPr>
                <a:t>     Droppings (FNs)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82289AF-5A40-1418-F54C-51E98AEA2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202872" y="5220360"/>
              <a:ext cx="1407041" cy="1407041"/>
            </a:xfrm>
            <a:prstGeom prst="rect">
              <a:avLst/>
            </a:prstGeom>
          </p:spPr>
        </p:pic>
        <p:sp>
          <p:nvSpPr>
            <p:cNvPr id="19" name="Speech Bubble: Rectangle with Corners Rounded 18">
              <a:extLst>
                <a:ext uri="{FF2B5EF4-FFF2-40B4-BE49-F238E27FC236}">
                  <a16:creationId xmlns:a16="http://schemas.microsoft.com/office/drawing/2014/main" id="{35966D5E-323D-A372-2C44-7A22F7B20E0B}"/>
                </a:ext>
              </a:extLst>
            </p:cNvPr>
            <p:cNvSpPr/>
            <p:nvPr/>
          </p:nvSpPr>
          <p:spPr>
            <a:xfrm>
              <a:off x="2837153" y="4159191"/>
              <a:ext cx="2966747" cy="1327534"/>
            </a:xfrm>
            <a:prstGeom prst="wedgeRoundRectCallout">
              <a:avLst>
                <a:gd name="adj1" fmla="val -62658"/>
                <a:gd name="adj2" fmla="val 39919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DNS Amplification Attack, packet #3 includes the word ANY but the generator skipped it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6419829-4001-CD68-5297-6DE192C46793}"/>
              </a:ext>
            </a:extLst>
          </p:cNvPr>
          <p:cNvGrpSpPr/>
          <p:nvPr/>
        </p:nvGrpSpPr>
        <p:grpSpPr>
          <a:xfrm>
            <a:off x="6311347" y="1152719"/>
            <a:ext cx="5447863" cy="5538182"/>
            <a:chOff x="6700546" y="938272"/>
            <a:chExt cx="5447863" cy="553818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DB6B77-BE21-53BB-D5D1-517D765FA7A5}"/>
                </a:ext>
              </a:extLst>
            </p:cNvPr>
            <p:cNvSpPr txBox="1"/>
            <p:nvPr/>
          </p:nvSpPr>
          <p:spPr>
            <a:xfrm>
              <a:off x="6700546" y="938272"/>
              <a:ext cx="530860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rgbClr val="A02B93"/>
                  </a:solidFill>
                </a:rPr>
                <a:t>Hallucinations (FPs)</a:t>
              </a:r>
              <a:endParaRPr lang="en-US" sz="4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F0E347-0074-BDE7-E6B6-C0EC3C7ECFD5}"/>
                </a:ext>
              </a:extLst>
            </p:cNvPr>
            <p:cNvSpPr txBox="1"/>
            <p:nvPr/>
          </p:nvSpPr>
          <p:spPr>
            <a:xfrm>
              <a:off x="7684796" y="1869470"/>
              <a:ext cx="3340101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A02B93"/>
                  </a:solidFill>
                </a:rPr>
                <a:t>For each logical step, go through the list of packets matched by the AI and check for the correction of entities and attached packets</a:t>
              </a:r>
              <a:endParaRPr lang="en-US" sz="2400" dirty="0">
                <a:solidFill>
                  <a:srgbClr val="C836B7"/>
                </a:solidFill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A304CB4-C6BE-4F2D-7F9F-E4CD6599E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947806" y="5069413"/>
              <a:ext cx="1407041" cy="1407041"/>
            </a:xfrm>
            <a:prstGeom prst="rect">
              <a:avLst/>
            </a:prstGeom>
          </p:spPr>
        </p:pic>
        <p:sp>
          <p:nvSpPr>
            <p:cNvPr id="23" name="Speech Bubble: Rectangle with Corners Rounded 22">
              <a:extLst>
                <a:ext uri="{FF2B5EF4-FFF2-40B4-BE49-F238E27FC236}">
                  <a16:creationId xmlns:a16="http://schemas.microsoft.com/office/drawing/2014/main" id="{8FFDD219-FD82-FB9C-7A35-EA809B47D9D9}"/>
                </a:ext>
              </a:extLst>
            </p:cNvPr>
            <p:cNvSpPr/>
            <p:nvPr/>
          </p:nvSpPr>
          <p:spPr>
            <a:xfrm>
              <a:off x="9547905" y="4307005"/>
              <a:ext cx="2600504" cy="1028773"/>
            </a:xfrm>
            <a:prstGeom prst="wedgeRoundRectCallout">
              <a:avLst>
                <a:gd name="adj1" fmla="val -63701"/>
                <a:gd name="adj2" fmla="val 34104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Packet #594 doesn’t exist, #345 doesn’t match step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549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BA219-B2DD-D5AA-853B-9534E039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3E82-CAE1-C305-B12C-43D93EC9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Rendering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3D83E-722D-E493-7303-A673FEF57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0320"/>
            <a:ext cx="6369794" cy="3623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E89C98-24C0-E686-83B8-7A42FAA19E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3"/>
          <a:stretch>
            <a:fillRect/>
          </a:stretch>
        </p:blipFill>
        <p:spPr>
          <a:xfrm>
            <a:off x="6730718" y="1775987"/>
            <a:ext cx="5461281" cy="33406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A06F97-A60C-F3FF-2FE8-4294EBC288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229" y="2002307"/>
            <a:ext cx="3010055" cy="43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7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2CAB-65DC-A0E7-22F7-6BE0A534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3A3C-179C-4835-9741-A87ED407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Rendering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7CE695-7D55-9332-3E0C-8CA3EB0A0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94" y="2162061"/>
            <a:ext cx="5454930" cy="37276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504522-EDFA-A793-AC0B-C6D4303E2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01899"/>
            <a:ext cx="4528029" cy="3063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7D3F0B-9A8C-9F5A-CA30-7458AA9C47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351" y="1823320"/>
            <a:ext cx="5467631" cy="39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6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DA09E-A6C7-AC6A-D85C-0AE8E38A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0A9E-3C74-0138-6054-60E5BD72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43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Evaluator: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6EDAC-1024-948D-6DF5-7E414A00E8BE}"/>
              </a:ext>
            </a:extLst>
          </p:cNvPr>
          <p:cNvSpPr txBox="1"/>
          <p:nvPr/>
        </p:nvSpPr>
        <p:spPr>
          <a:xfrm>
            <a:off x="1567178" y="662781"/>
            <a:ext cx="90576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</a:rPr>
              <a:t>DiagramEval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(Liang &amp; You, 2025)  Score:</a:t>
            </a:r>
          </a:p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Compare AI output diagram to manual ground-truth diagram</a:t>
            </a:r>
          </a:p>
          <a:p>
            <a:pPr algn="ctr"/>
            <a:endParaRPr lang="he-IL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he-IL" sz="18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8A4307-6061-24DB-BC5A-913B5210D30A}"/>
              </a:ext>
            </a:extLst>
          </p:cNvPr>
          <p:cNvSpPr/>
          <p:nvPr/>
        </p:nvSpPr>
        <p:spPr>
          <a:xfrm>
            <a:off x="6546294" y="1949038"/>
            <a:ext cx="5011415" cy="4453791"/>
          </a:xfrm>
          <a:prstGeom prst="roundRect">
            <a:avLst/>
          </a:prstGeom>
          <a:solidFill>
            <a:schemeClr val="bg1"/>
          </a:solidFill>
          <a:ln w="76200">
            <a:gradFill flip="none" rotWithShape="1">
              <a:gsLst>
                <a:gs pos="90000">
                  <a:schemeClr val="accent5">
                    <a:lumMod val="40000"/>
                    <a:lumOff val="60000"/>
                  </a:schemeClr>
                </a:gs>
                <a:gs pos="13000">
                  <a:schemeClr val="accent5">
                    <a:lumMod val="40000"/>
                    <a:lumOff val="60000"/>
                  </a:schemeClr>
                </a:gs>
                <a:gs pos="50000">
                  <a:schemeClr val="accent4">
                    <a:lumMod val="5000"/>
                    <a:lumOff val="95000"/>
                  </a:schemeClr>
                </a:gs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he-IL" sz="28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en-US" sz="28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Path Alignment </a:t>
            </a:r>
            <a:endParaRPr lang="he-IL" sz="2800" u="sng" dirty="0">
              <a:solidFill>
                <a:schemeClr val="tx1"/>
              </a:solidFill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Path Precision: </a:t>
            </a:r>
            <a:r>
              <a:rPr lang="en-US" sz="2800" dirty="0">
                <a:solidFill>
                  <a:schemeClr val="tx1"/>
                </a:solidFill>
              </a:rPr>
              <a:t>are there made up arrows? Are all arrows going to the correct directions?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Recall: </a:t>
            </a:r>
            <a:r>
              <a:rPr lang="en-US" sz="2800" dirty="0">
                <a:solidFill>
                  <a:schemeClr val="tx1"/>
                </a:solidFill>
              </a:rPr>
              <a:t>Did you skip critical steps in the attack?</a:t>
            </a:r>
            <a:r>
              <a:rPr lang="he-IL" sz="28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 F1 Score combines the two</a:t>
            </a:r>
            <a:endParaRPr lang="en-US" sz="28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739DB5-D231-9A8B-F74D-250D265CD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671" y="0"/>
            <a:ext cx="4507108" cy="11176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DC852C-7DC2-77BA-0D69-2A3E2E2F987C}"/>
              </a:ext>
            </a:extLst>
          </p:cNvPr>
          <p:cNvSpPr/>
          <p:nvPr/>
        </p:nvSpPr>
        <p:spPr>
          <a:xfrm>
            <a:off x="634291" y="1949039"/>
            <a:ext cx="5011415" cy="4453791"/>
          </a:xfrm>
          <a:prstGeom prst="roundRect">
            <a:avLst/>
          </a:prstGeom>
          <a:solidFill>
            <a:schemeClr val="bg1"/>
          </a:solidFill>
          <a:ln w="76200">
            <a:gradFill flip="none" rotWithShape="1">
              <a:gsLst>
                <a:gs pos="90000">
                  <a:schemeClr val="accent5">
                    <a:lumMod val="40000"/>
                    <a:lumOff val="60000"/>
                  </a:schemeClr>
                </a:gs>
                <a:gs pos="13000">
                  <a:schemeClr val="accent5">
                    <a:lumMod val="40000"/>
                    <a:lumOff val="60000"/>
                  </a:schemeClr>
                </a:gs>
                <a:gs pos="50000">
                  <a:schemeClr val="accent4">
                    <a:lumMod val="5000"/>
                    <a:lumOff val="95000"/>
                  </a:schemeClr>
                </a:gs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e-IL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endParaRPr lang="he-IL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Node Alignment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Node Precision: </a:t>
            </a:r>
            <a:r>
              <a:rPr lang="en-US" sz="2800" dirty="0">
                <a:solidFill>
                  <a:schemeClr val="tx1"/>
                </a:solidFill>
              </a:rPr>
              <a:t>Don’t make up actors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Recall: </a:t>
            </a:r>
            <a:r>
              <a:rPr lang="en-US" sz="2800" dirty="0">
                <a:solidFill>
                  <a:schemeClr val="tx1"/>
                </a:solidFill>
              </a:rPr>
              <a:t>Don’t forget about actors</a:t>
            </a:r>
          </a:p>
          <a:p>
            <a:pPr algn="ctr"/>
            <a:endParaRPr lang="he-IL" sz="2800" dirty="0">
              <a:solidFill>
                <a:schemeClr val="tx1"/>
              </a:solidFill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 F1 Score combines the two</a:t>
            </a:r>
            <a:endParaRPr lang="en-US" sz="28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F1AE-E4A2-532F-0B43-93A765D1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Evaluator: Future Extension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ACFE-CD7E-C8C1-254F-69FE1A21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04" y="1931739"/>
            <a:ext cx="3503859" cy="201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Quantitative Evaluation</a:t>
            </a:r>
            <a:r>
              <a:rPr lang="en-US" sz="1600" dirty="0"/>
              <a:t> </a:t>
            </a:r>
            <a:r>
              <a:rPr lang="en-US" sz="1600" dirty="0" err="1">
                <a:hlinkClick r:id="rId3"/>
              </a:rPr>
              <a:t>DiagramEval</a:t>
            </a:r>
            <a:r>
              <a:rPr lang="en-US" sz="1600" dirty="0"/>
              <a:t> score</a:t>
            </a:r>
          </a:p>
          <a:p>
            <a:pPr marL="0" indent="0" algn="ctr">
              <a:buNone/>
            </a:pPr>
            <a:r>
              <a:rPr lang="en-US" sz="1600" dirty="0"/>
              <a:t>Precision, Recall, F1-score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26A984-62BD-6A81-DDD3-B13A75A68D71}"/>
              </a:ext>
            </a:extLst>
          </p:cNvPr>
          <p:cNvSpPr txBox="1">
            <a:spLocks/>
          </p:cNvSpPr>
          <p:nvPr/>
        </p:nvSpPr>
        <p:spPr>
          <a:xfrm>
            <a:off x="8416413" y="1904112"/>
            <a:ext cx="2937387" cy="1717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Qualitative</a:t>
            </a:r>
            <a:r>
              <a:rPr lang="en-US" sz="1800" b="1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Satisfying Density Ratio (Packets/Node)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Clarity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22DCC-C5FA-710E-C0E4-0CD52352E89C}"/>
              </a:ext>
            </a:extLst>
          </p:cNvPr>
          <p:cNvSpPr txBox="1">
            <a:spLocks/>
          </p:cNvSpPr>
          <p:nvPr/>
        </p:nvSpPr>
        <p:spPr>
          <a:xfrm>
            <a:off x="4627306" y="1927865"/>
            <a:ext cx="2937387" cy="240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Researcher Review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Creating manual metrics and a poll for researchers to rank diagrams quality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Verifiability of diagrams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4296D2-5677-0824-5683-076DCA4DDC76}"/>
              </a:ext>
            </a:extLst>
          </p:cNvPr>
          <p:cNvGrpSpPr/>
          <p:nvPr/>
        </p:nvGrpSpPr>
        <p:grpSpPr>
          <a:xfrm>
            <a:off x="3046810" y="3784773"/>
            <a:ext cx="6322647" cy="2175933"/>
            <a:chOff x="3046810" y="3784773"/>
            <a:chExt cx="6322647" cy="2175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A46B66-DAB0-C3FB-355E-E7558F4E4E2B}"/>
                </a:ext>
              </a:extLst>
            </p:cNvPr>
            <p:cNvSpPr txBox="1"/>
            <p:nvPr/>
          </p:nvSpPr>
          <p:spPr>
            <a:xfrm>
              <a:off x="3046810" y="4293395"/>
              <a:ext cx="1853550" cy="1021556"/>
            </a:xfrm>
            <a:prstGeom prst="roundRect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Ground Truth</a:t>
              </a:r>
            </a:p>
            <a:p>
              <a:pPr algn="ctr"/>
              <a:r>
                <a:rPr lang="en-US" dirty="0"/>
                <a:t>12 protocol events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EB1AFB2-35C2-DE54-8B7E-833F9EF27920}"/>
                </a:ext>
              </a:extLst>
            </p:cNvPr>
            <p:cNvCxnSpPr/>
            <p:nvPr/>
          </p:nvCxnSpPr>
          <p:spPr>
            <a:xfrm>
              <a:off x="5158538" y="4879421"/>
              <a:ext cx="21876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D755EC-1389-F508-C667-B7935F6C9C21}"/>
                </a:ext>
              </a:extLst>
            </p:cNvPr>
            <p:cNvSpPr txBox="1"/>
            <p:nvPr/>
          </p:nvSpPr>
          <p:spPr>
            <a:xfrm>
              <a:off x="5148736" y="4311525"/>
              <a:ext cx="2187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Diagram shows 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1104C2-8E95-9D40-1A2F-AE01B78BE641}"/>
                </a:ext>
              </a:extLst>
            </p:cNvPr>
            <p:cNvSpPr txBox="1"/>
            <p:nvPr/>
          </p:nvSpPr>
          <p:spPr>
            <a:xfrm>
              <a:off x="5399038" y="4966522"/>
              <a:ext cx="1687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8 are correct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/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Recall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B58790-073C-7001-87A2-FC5C6BD0EFE3}"/>
                </a:ext>
              </a:extLst>
            </p:cNvPr>
            <p:cNvSpPr txBox="1"/>
            <p:nvPr/>
          </p:nvSpPr>
          <p:spPr>
            <a:xfrm>
              <a:off x="7746435" y="5552083"/>
              <a:ext cx="1623022" cy="4086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02B9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F1 ≈ 0.73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/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Precision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575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munication skills ">
            <a:extLst>
              <a:ext uri="{FF2B5EF4-FFF2-40B4-BE49-F238E27FC236}">
                <a16:creationId xmlns:a16="http://schemas.microsoft.com/office/drawing/2014/main" id="{64432D20-81B8-8B6E-95D3-1C8C9BFA9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2" y="3421638"/>
            <a:ext cx="1511300" cy="1511300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7E5E2-842A-612D-A5E8-0F567C65150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37596" y="3442545"/>
            <a:ext cx="1407041" cy="1407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0C2B33-783D-2081-0A74-B047D1344A39}"/>
              </a:ext>
            </a:extLst>
          </p:cNvPr>
          <p:cNvSpPr txBox="1"/>
          <p:nvPr/>
        </p:nvSpPr>
        <p:spPr>
          <a:xfrm>
            <a:off x="538337" y="4926046"/>
            <a:ext cx="138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Generator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3C669E-F70A-7535-4527-51FB88508E5D}"/>
              </a:ext>
            </a:extLst>
          </p:cNvPr>
          <p:cNvSpPr txBox="1"/>
          <p:nvPr/>
        </p:nvSpPr>
        <p:spPr>
          <a:xfrm>
            <a:off x="4727573" y="4874136"/>
            <a:ext cx="138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Validator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005D709D-1279-3928-A23F-6652D623FF69}"/>
                  </a:ext>
                </a:extLst>
              </p:cNvPr>
              <p:cNvSpPr/>
              <p:nvPr/>
            </p:nvSpPr>
            <p:spPr>
              <a:xfrm>
                <a:off x="239887" y="813121"/>
                <a:ext cx="3365501" cy="1325563"/>
              </a:xfrm>
              <a:prstGeom prst="wedgeRoundRectCallout">
                <a:avLst>
                  <a:gd name="adj1" fmla="val -25472"/>
                  <a:gd name="adj2" fmla="val 119072"/>
                  <a:gd name="adj3" fmla="val 16667"/>
                </a:avLst>
              </a:prstGeom>
              <a:noFill/>
              <a:ln w="38100">
                <a:solidFill>
                  <a:srgbClr val="A02B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Hypothesis: “</a:t>
                </a:r>
                <a:r>
                  <a:rPr lang="en-US" b="1" dirty="0">
                    <a:solidFill>
                      <a:schemeClr val="tx1"/>
                    </a:solidFill>
                  </a:rPr>
                  <a:t>Step 3: </a:t>
                </a:r>
                <a:r>
                  <a:rPr lang="en-US" dirty="0">
                    <a:solidFill>
                      <a:schemeClr val="tx1"/>
                    </a:solidFill>
                  </a:rPr>
                  <a:t>Attacker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Victim (Protocol: DNS)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based on packets [#41, #45]”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005D709D-1279-3928-A23F-6652D623F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7" y="813121"/>
                <a:ext cx="3365501" cy="1325563"/>
              </a:xfrm>
              <a:prstGeom prst="wedgeRoundRectCallout">
                <a:avLst>
                  <a:gd name="adj1" fmla="val -25472"/>
                  <a:gd name="adj2" fmla="val 119072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A02B9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2D310AB4-2333-569B-9795-C1371318E47E}"/>
              </a:ext>
            </a:extLst>
          </p:cNvPr>
          <p:cNvSpPr/>
          <p:nvPr/>
        </p:nvSpPr>
        <p:spPr>
          <a:xfrm>
            <a:off x="5064871" y="890341"/>
            <a:ext cx="2989254" cy="1325563"/>
          </a:xfrm>
          <a:prstGeom prst="wedgeRoundRectCallout">
            <a:avLst>
              <a:gd name="adj1" fmla="val -33774"/>
              <a:gd name="adj2" fmla="val 108533"/>
              <a:gd name="adj3" fmla="val 16667"/>
            </a:avLst>
          </a:prstGeom>
          <a:noFill/>
          <a:ln w="38100"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Do these packets exist?</a:t>
            </a:r>
          </a:p>
          <a:p>
            <a:r>
              <a:rPr lang="en-US" dirty="0">
                <a:solidFill>
                  <a:schemeClr val="tx1"/>
                </a:solidFill>
              </a:rPr>
              <a:t>Is the metadata correct? (DNS? Attacker to victim?)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A5061F-9C05-C3CA-2C9C-37E7B040B5C8}"/>
              </a:ext>
            </a:extLst>
          </p:cNvPr>
          <p:cNvCxnSpPr/>
          <p:nvPr/>
        </p:nvCxnSpPr>
        <p:spPr>
          <a:xfrm>
            <a:off x="2495494" y="4239649"/>
            <a:ext cx="1987551" cy="0"/>
          </a:xfrm>
          <a:prstGeom prst="straightConnector1">
            <a:avLst/>
          </a:prstGeom>
          <a:ln w="76200">
            <a:solidFill>
              <a:srgbClr val="A02B9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28B910C-BA67-D4E2-1D76-672D8F1698CF}"/>
              </a:ext>
            </a:extLst>
          </p:cNvPr>
          <p:cNvSpPr txBox="1"/>
          <p:nvPr/>
        </p:nvSpPr>
        <p:spPr>
          <a:xfrm>
            <a:off x="2654708" y="2902442"/>
            <a:ext cx="207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Hallucination (FP)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C1B79DB-9E7C-277C-C79D-ECBFCF25A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906" y="3460260"/>
            <a:ext cx="1407041" cy="1407041"/>
          </a:xfrm>
          <a:prstGeom prst="rect">
            <a:avLst/>
          </a:prstGeom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A397888-5036-5773-735C-65EF58C942D0}"/>
              </a:ext>
            </a:extLst>
          </p:cNvPr>
          <p:cNvSpPr txBox="1"/>
          <p:nvPr/>
        </p:nvSpPr>
        <p:spPr>
          <a:xfrm>
            <a:off x="9283699" y="4881616"/>
            <a:ext cx="138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Evaluator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2C6D0E-CE91-34AF-8AF9-3C55552F89FC}"/>
              </a:ext>
            </a:extLst>
          </p:cNvPr>
          <p:cNvCxnSpPr>
            <a:cxnSpLocks/>
          </p:cNvCxnSpPr>
          <p:nvPr/>
        </p:nvCxnSpPr>
        <p:spPr>
          <a:xfrm>
            <a:off x="6111874" y="4126857"/>
            <a:ext cx="2562226" cy="0"/>
          </a:xfrm>
          <a:prstGeom prst="straightConnector1">
            <a:avLst/>
          </a:prstGeom>
          <a:ln w="76200">
            <a:solidFill>
              <a:srgbClr val="A02B93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Arrow: Circular 33">
            <a:extLst>
              <a:ext uri="{FF2B5EF4-FFF2-40B4-BE49-F238E27FC236}">
                <a16:creationId xmlns:a16="http://schemas.microsoft.com/office/drawing/2014/main" id="{37090BB3-C232-10C9-026C-FD83623CE6A7}"/>
              </a:ext>
            </a:extLst>
          </p:cNvPr>
          <p:cNvSpPr/>
          <p:nvPr/>
        </p:nvSpPr>
        <p:spPr>
          <a:xfrm flipH="1">
            <a:off x="1922638" y="2361439"/>
            <a:ext cx="3437445" cy="2162213"/>
          </a:xfrm>
          <a:prstGeom prst="circularArrow">
            <a:avLst>
              <a:gd name="adj1" fmla="val 1974"/>
              <a:gd name="adj2" fmla="val 323686"/>
              <a:gd name="adj3" fmla="val 21173875"/>
              <a:gd name="adj4" fmla="val 10926923"/>
              <a:gd name="adj5" fmla="val 6142"/>
            </a:avLst>
          </a:prstGeom>
          <a:solidFill>
            <a:srgbClr val="A02B93"/>
          </a:solidFill>
          <a:ln>
            <a:solidFill>
              <a:srgbClr val="A02B9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Arrow: Circular 34">
            <a:extLst>
              <a:ext uri="{FF2B5EF4-FFF2-40B4-BE49-F238E27FC236}">
                <a16:creationId xmlns:a16="http://schemas.microsoft.com/office/drawing/2014/main" id="{B719606E-CA79-CD61-0AAD-EE3A870228AB}"/>
              </a:ext>
            </a:extLst>
          </p:cNvPr>
          <p:cNvSpPr/>
          <p:nvPr/>
        </p:nvSpPr>
        <p:spPr>
          <a:xfrm flipH="1" flipV="1">
            <a:off x="1922638" y="4132513"/>
            <a:ext cx="3437445" cy="2162214"/>
          </a:xfrm>
          <a:prstGeom prst="circularArrow">
            <a:avLst>
              <a:gd name="adj1" fmla="val 1974"/>
              <a:gd name="adj2" fmla="val 323686"/>
              <a:gd name="adj3" fmla="val 21173875"/>
              <a:gd name="adj4" fmla="val 10926923"/>
              <a:gd name="adj5" fmla="val 6142"/>
            </a:avLst>
          </a:prstGeom>
          <a:solidFill>
            <a:srgbClr val="A02B93"/>
          </a:solidFill>
          <a:ln>
            <a:solidFill>
              <a:srgbClr val="A02B9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8DE6A862-2CAD-C372-FE67-1455CA134475}"/>
              </a:ext>
            </a:extLst>
          </p:cNvPr>
          <p:cNvSpPr/>
          <p:nvPr/>
        </p:nvSpPr>
        <p:spPr>
          <a:xfrm>
            <a:off x="8999320" y="960715"/>
            <a:ext cx="2989254" cy="1325563"/>
          </a:xfrm>
          <a:prstGeom prst="wedgeRoundRectCallout">
            <a:avLst>
              <a:gd name="adj1" fmla="val -33774"/>
              <a:gd name="adj2" fmla="val 108533"/>
              <a:gd name="adj3" fmla="val 16667"/>
            </a:avLst>
          </a:prstGeom>
          <a:noFill/>
          <a:ln w="38100"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Evaluating Diagram precision and alignment + manual score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CEB633-4822-17CA-C425-66AAB88E07F9}"/>
              </a:ext>
            </a:extLst>
          </p:cNvPr>
          <p:cNvSpPr txBox="1"/>
          <p:nvPr/>
        </p:nvSpPr>
        <p:spPr>
          <a:xfrm>
            <a:off x="2845153" y="5585011"/>
            <a:ext cx="207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Dropping (FN)</a:t>
            </a:r>
          </a:p>
        </p:txBody>
      </p:sp>
    </p:spTree>
    <p:extLst>
      <p:ext uri="{BB962C8B-B14F-4D97-AF65-F5344CB8AC3E}">
        <p14:creationId xmlns:p14="http://schemas.microsoft.com/office/powerpoint/2010/main" val="163325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3122B-71B4-E5BE-E5E6-4D4A2790B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8153-F3D6-1170-C43D-1A6B2E99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152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Grounding to Evidence –</a:t>
            </a:r>
            <a:br>
              <a:rPr lang="he-IL" b="1" dirty="0">
                <a:solidFill>
                  <a:srgbClr val="A02B93"/>
                </a:solidFill>
              </a:rPr>
            </a:br>
            <a:r>
              <a:rPr lang="en-US" b="1" dirty="0">
                <a:solidFill>
                  <a:srgbClr val="A02B93"/>
                </a:solidFill>
              </a:rPr>
              <a:t>The Path to Reproducibility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E20213-FD34-2FB2-12EC-4FE6DBD22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" t="2078" r="1985" b="1876"/>
          <a:stretch>
            <a:fillRect/>
          </a:stretch>
        </p:blipFill>
        <p:spPr>
          <a:xfrm>
            <a:off x="1632541" y="2889247"/>
            <a:ext cx="2421453" cy="24193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BC6AB9-A3A5-6BBC-3191-D98F87660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8" t="5483" r="3029" b="3553"/>
          <a:stretch>
            <a:fillRect/>
          </a:stretch>
        </p:blipFill>
        <p:spPr>
          <a:xfrm>
            <a:off x="4860445" y="2889249"/>
            <a:ext cx="2471110" cy="24666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0720DAE-6FD5-6D44-5794-408FDBE292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4" t="3967" b="1842"/>
          <a:stretch>
            <a:fillRect/>
          </a:stretch>
        </p:blipFill>
        <p:spPr>
          <a:xfrm>
            <a:off x="8138008" y="2936522"/>
            <a:ext cx="2471110" cy="241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06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7D3F-501D-1E12-4B71-8E7B7E3A2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D63C-9A5D-2DD3-D946-BFD3E6D0A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The Path to Reproducibility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E8E710-FA01-F94A-AC51-DCF4CFB6721B}"/>
              </a:ext>
            </a:extLst>
          </p:cNvPr>
          <p:cNvSpPr/>
          <p:nvPr/>
        </p:nvSpPr>
        <p:spPr>
          <a:xfrm>
            <a:off x="6096000" y="1577338"/>
            <a:ext cx="5359400" cy="5013962"/>
          </a:xfrm>
          <a:prstGeom prst="roundRect">
            <a:avLst/>
          </a:prstGeom>
          <a:solidFill>
            <a:schemeClr val="bg1"/>
          </a:solidFill>
          <a:ln w="76200">
            <a:gradFill flip="none" rotWithShape="1">
              <a:gsLst>
                <a:gs pos="90000">
                  <a:schemeClr val="accent5">
                    <a:lumMod val="40000"/>
                    <a:lumOff val="60000"/>
                  </a:schemeClr>
                </a:gs>
                <a:gs pos="13000">
                  <a:schemeClr val="accent5">
                    <a:lumMod val="40000"/>
                    <a:lumOff val="60000"/>
                  </a:schemeClr>
                </a:gs>
                <a:gs pos="50000">
                  <a:schemeClr val="accent4">
                    <a:lumMod val="5000"/>
                    <a:lumOff val="95000"/>
                  </a:schemeClr>
                </a:gs>
                <a:gs pos="0">
                  <a:schemeClr val="accent5">
                    <a:lumMod val="75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</a:rPr>
              <a:t>REPRODUCED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 ”To earn this badge, the AEC must judge that they </a:t>
            </a:r>
            <a:r>
              <a:rPr lang="en-US" sz="3200" b="1" dirty="0">
                <a:solidFill>
                  <a:schemeClr val="tx1"/>
                </a:solidFill>
              </a:rPr>
              <a:t>can use the submitted artifacts to obtain the main results presented in the paper</a:t>
            </a:r>
            <a:r>
              <a:rPr lang="en-US" sz="3200" dirty="0">
                <a:solidFill>
                  <a:schemeClr val="tx1"/>
                </a:solidFill>
              </a:rPr>
              <a:t>.”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F79BD-A529-428B-EEA6-925218A6C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4" t="3967" b="1842"/>
          <a:stretch>
            <a:fillRect/>
          </a:stretch>
        </p:blipFill>
        <p:spPr>
          <a:xfrm>
            <a:off x="1584807" y="2219324"/>
            <a:ext cx="3674235" cy="359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4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66A2-6E78-DF24-4C3A-9F5C4A632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Why is </a:t>
            </a:r>
            <a:r>
              <a:rPr lang="en-US" b="1" dirty="0" err="1">
                <a:solidFill>
                  <a:srgbClr val="A02B93"/>
                </a:solidFill>
              </a:rPr>
              <a:t>PAnDA</a:t>
            </a:r>
            <a:r>
              <a:rPr lang="en-US" b="1" dirty="0">
                <a:solidFill>
                  <a:srgbClr val="A02B93"/>
                </a:solidFill>
              </a:rPr>
              <a:t> meaningful?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74576-CF50-52B6-F4B4-63FE92EF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Visual Mapping:</a:t>
            </a:r>
            <a:r>
              <a:rPr lang="en-US" dirty="0">
                <a:solidFill>
                  <a:srgbClr val="A02B93"/>
                </a:solidFill>
              </a:rPr>
              <a:t> </a:t>
            </a:r>
            <a:r>
              <a:rPr lang="en-US" dirty="0"/>
              <a:t>Automates the creation of clear, intuitive sequence diagrams.</a:t>
            </a:r>
          </a:p>
          <a:p>
            <a:r>
              <a:rPr lang="en-US" b="1" dirty="0">
                <a:solidFill>
                  <a:srgbClr val="A02B93"/>
                </a:solidFill>
              </a:rPr>
              <a:t>Ground Truth Verification: </a:t>
            </a:r>
            <a:r>
              <a:rPr lang="en-US" dirty="0"/>
              <a:t>Proves the narrative's correctness against actual network data.</a:t>
            </a:r>
          </a:p>
          <a:p>
            <a:r>
              <a:rPr lang="en-US" b="1" dirty="0">
                <a:solidFill>
                  <a:srgbClr val="A02B93"/>
                </a:solidFill>
              </a:rPr>
              <a:t>Objective Benchmarking:</a:t>
            </a:r>
            <a:r>
              <a:rPr lang="en-US" dirty="0">
                <a:solidFill>
                  <a:srgbClr val="A02B93"/>
                </a:solidFill>
              </a:rPr>
              <a:t> </a:t>
            </a:r>
            <a:r>
              <a:rPr lang="en-US" dirty="0"/>
              <a:t>Provides a reproducible score to evaluate discrepancies between the narrative and crude data.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76069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FF23-8D50-0A26-86C0-D58A0630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Proof of Concept - 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56D50-52E8-66A8-3AD0-85C704519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e-IL" dirty="0"/>
          </a:p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A9FE548-D620-4172-F45D-384E2E80AF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846428"/>
              </p:ext>
            </p:extLst>
          </p:nvPr>
        </p:nvGraphicFramePr>
        <p:xfrm>
          <a:off x="2032000" y="12919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5332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5FB8-45FB-722C-8B3E-8D301CAA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A02B93"/>
                </a:solidFill>
              </a:rPr>
              <a:t>Future Suggestions</a:t>
            </a:r>
            <a:endParaRPr lang="en-US" b="1" dirty="0">
              <a:solidFill>
                <a:srgbClr val="A02B9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AA68-E69D-CD5E-5396-4EF6966F8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Improve Filtering algorithm to include various end cases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Improve Validator algorithm to include various end cases</a:t>
            </a:r>
            <a:endParaRPr lang="he-IL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Improving Correction feedback loop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Include manual evaluation criteria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Improving rendering and animation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1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CE17-4BD2-A226-A926-31FE5D4A6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737" y="3003946"/>
            <a:ext cx="4962525" cy="85010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02B93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7145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E56BB6-AD05-464C-A805-6584E28B2FB1}">
  <we:reference id="wa200001409" version="2.0.0.0" store="en-US" storeType="OMEX"/>
  <we:alternateReferences>
    <we:reference id="WA200001409" version="2.0.0.0" store="WA2000014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76248</TotalTime>
  <Words>2082</Words>
  <Application>Microsoft Office PowerPoint</Application>
  <PresentationFormat>Widescreen</PresentationFormat>
  <Paragraphs>297</Paragraphs>
  <Slides>26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PAnDA</vt:lpstr>
      <vt:lpstr>The Necessity</vt:lpstr>
      <vt:lpstr>The Goals</vt:lpstr>
      <vt:lpstr>System Abstract</vt:lpstr>
      <vt:lpstr>Grounding to Evidence</vt:lpstr>
      <vt:lpstr>Grounding to Evidence - Determinism from Statistical Models</vt:lpstr>
      <vt:lpstr>The Requirements</vt:lpstr>
      <vt:lpstr>Existing Methods</vt:lpstr>
      <vt:lpstr>Generalization Constraints</vt:lpstr>
      <vt:lpstr>Pipeline Architecture</vt:lpstr>
      <vt:lpstr>Preprocessing</vt:lpstr>
      <vt:lpstr>Preprocessing – Algorithmic Filtering </vt:lpstr>
      <vt:lpstr>Generator LLM Analysis</vt:lpstr>
      <vt:lpstr>Validator </vt:lpstr>
      <vt:lpstr>Validator – Handling FPs and FNs </vt:lpstr>
      <vt:lpstr>Rendering</vt:lpstr>
      <vt:lpstr>Rendering</vt:lpstr>
      <vt:lpstr>Evaluator:  </vt:lpstr>
      <vt:lpstr>Evaluator: Future Extension </vt:lpstr>
      <vt:lpstr>PowerPoint Presentation</vt:lpstr>
      <vt:lpstr>Grounding to Evidence – The Path to Reproducibility </vt:lpstr>
      <vt:lpstr>The Path to Reproducibility </vt:lpstr>
      <vt:lpstr>Why is PAnDA meaningful?</vt:lpstr>
      <vt:lpstr>Proof of Concept - Implementation Plan</vt:lpstr>
      <vt:lpstr>Future Suggestions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gabbay</dc:creator>
  <cp:lastModifiedBy>Shachar Gabbay</cp:lastModifiedBy>
  <cp:revision>55</cp:revision>
  <dcterms:created xsi:type="dcterms:W3CDTF">2025-12-23T14:25:11Z</dcterms:created>
  <dcterms:modified xsi:type="dcterms:W3CDTF">2026-06-07T10:45:04Z</dcterms:modified>
</cp:coreProperties>
</file>