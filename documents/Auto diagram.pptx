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hen Da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20T14:54:12.240">
    <p:pos x="196" y="280"/>
    <p:text>@ahmadkh2312@gmail.com add here
_Assigned to ahmadkh2312@gmail.com_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0b71bcc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0b71bcc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0b71bccd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0b71bccd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0b71bccd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0b71bccd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160481c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160481c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162c4894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162c4894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162c4894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162c4894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62c4894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62c4894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f5a1c07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f5a1c07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5a1c07a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f5a1c07a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f5a1c07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f5a1c07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0b71bccd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0b71bccd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0b71bccd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0b71bccd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0b71bccd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0b71bccd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0b71bccd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0b71bccd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0b71bccd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0b71bccd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0b71bcc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0b71bcc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0b71bccd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0b71bccd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0b71bccd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0b71bccd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0b71bccd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0b71bccd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0b71bccd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0b71bccd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0b71bccd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0b71bccd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darc1/auto-diagra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usenix.org/conference/usenixsecurity23/presentation/afek" TargetMode="External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.xml"/><Relationship Id="rId4" Type="http://schemas.openxmlformats.org/officeDocument/2006/relationships/hyperlink" Target="https://www.usenix.org/conference/usenixsecurity24/presentation/afek" TargetMode="External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Diagram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Chen Dar, Karin Yechilzuke, and Ahmad Khalila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931600" y="3792775"/>
            <a:ext cx="328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https://github.com/darc1/auto-diagram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examples of our tool were prompted as follows 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295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Text + Pcap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Text +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Text + Paper + pcap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Compare with original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Auto-diagram - </a:t>
            </a:r>
            <a:r>
              <a:rPr lang="en"/>
              <a:t>Input &amp; Analysis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19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Support multiple file types</a:t>
            </a:r>
            <a:r>
              <a:rPr lang="en"/>
              <a:t>:</a:t>
            </a:r>
            <a:r>
              <a:rPr lang="en"/>
              <a:t>.pcap, text, md and images.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Multiple pcap analysis options </a:t>
            </a:r>
            <a:r>
              <a:rPr lang="en"/>
              <a:t>- for reduced costs.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Core engine creates a context for mermaid diagram generation.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8900" y="1017725"/>
            <a:ext cx="5530102" cy="349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Auto-diagram - Diagram Generation &amp; Presentation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327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Interactive storyboard</a:t>
            </a:r>
            <a:r>
              <a:rPr lang="en"/>
              <a:t>, allowing quick edits, re-runs, and export.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Feedback loop:</a:t>
            </a:r>
            <a:r>
              <a:rPr lang="en"/>
              <a:t> user adjusts parameters, reruns analyze → render cycle to refine narratives for slides or reports.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100" y="1105318"/>
            <a:ext cx="5208049" cy="3463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</a:t>
            </a:r>
            <a:r>
              <a:rPr lang="en" u="sng">
                <a:solidFill>
                  <a:schemeClr val="hlink"/>
                </a:solidFill>
                <a:hlinkClick r:id="rId3"/>
              </a:rPr>
              <a:t>NRDelegation Attack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simulated the attack presented in Figure 1, and captured a pcap for our 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9750" y="1629175"/>
            <a:ext cx="5044500" cy="33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Example 1: Prompt + Pcap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150" y="1017725"/>
            <a:ext cx="5070223" cy="398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</a:t>
            </a:r>
            <a:r>
              <a:rPr lang="en"/>
              <a:t>Prompt</a:t>
            </a:r>
            <a:r>
              <a:rPr lang="en"/>
              <a:t> + Paper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576" y="1017725"/>
            <a:ext cx="5526851" cy="419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</a:t>
            </a:r>
            <a:r>
              <a:rPr lang="en"/>
              <a:t>Prompt</a:t>
            </a:r>
            <a:r>
              <a:rPr lang="en"/>
              <a:t> + Paper + Pcap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613" y="1053500"/>
            <a:ext cx="5534776" cy="395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Example 1 Updated*: Prompt + Pcap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188" y="1017725"/>
            <a:ext cx="324961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 Updated*: Prompt + Paper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425" y="1050675"/>
            <a:ext cx="4091143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</a:t>
            </a:r>
            <a:r>
              <a:rPr lang="en"/>
              <a:t>Updated*</a:t>
            </a:r>
            <a:r>
              <a:rPr lang="en"/>
              <a:t>: Prompt + Paper</a:t>
            </a:r>
            <a:r>
              <a:rPr lang="en"/>
              <a:t> + Pcap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125" y="1017725"/>
            <a:ext cx="7539740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Example 2a: </a:t>
            </a:r>
            <a:r>
              <a:rPr lang="en" u="sng">
                <a:solidFill>
                  <a:schemeClr val="hlink"/>
                </a:solidFill>
                <a:hlinkClick r:id="rId4"/>
              </a:rPr>
              <a:t>A Flushing Attack on the DNS Cache</a:t>
            </a:r>
            <a:r>
              <a:rPr lang="en"/>
              <a:t> - Fig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375" y="1178075"/>
            <a:ext cx="716925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2a: Prompt + Pcap</a:t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354" y="1105750"/>
            <a:ext cx="685127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Example 2a: Prompt + Paper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063" y="1127200"/>
            <a:ext cx="670187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Example 2a: Prompt + Pcap + Paper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9550" y="1115675"/>
            <a:ext cx="6564900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2b: A Flushing Attack on the DNS Cache - Fig 2</a:t>
            </a:r>
            <a:endParaRPr/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75" y="1191575"/>
            <a:ext cx="8091602" cy="35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Example 2b: Prompt + Pcap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775" y="1086750"/>
            <a:ext cx="7340452" cy="36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2b: Prompt + Paper</a:t>
            </a:r>
            <a:endParaRPr/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700" y="1186925"/>
            <a:ext cx="7950602" cy="336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2b: Prompt + Pcap + Paper</a:t>
            </a:r>
            <a:endParaRPr/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6250" y="1124050"/>
            <a:ext cx="549147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vs. Generated Diagrams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Original Figure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A teaching schematic — explains the </a:t>
            </a:r>
            <a:r>
              <a:rPr i="1" lang="en" sz="1100">
                <a:solidFill>
                  <a:schemeClr val="dk1"/>
                </a:solidFill>
              </a:rPr>
              <a:t>logic</a:t>
            </a:r>
            <a:r>
              <a:rPr lang="en" sz="1100">
                <a:solidFill>
                  <a:schemeClr val="dk1"/>
                </a:solidFill>
              </a:rPr>
              <a:t> of the attack and resolver behavior.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Style</a:t>
            </a:r>
            <a:r>
              <a:rPr lang="en" sz="1100">
                <a:solidFill>
                  <a:schemeClr val="dk1"/>
                </a:solidFill>
              </a:rPr>
              <a:t>: Step numbers, conceptual names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e1…e17</a:t>
            </a:r>
            <a:r>
              <a:rPr lang="en" sz="1100">
                <a:solidFill>
                  <a:schemeClr val="dk1"/>
                </a:solidFill>
              </a:rPr>
              <a:t>), explicit “Store CNAME” annotations.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Scope</a:t>
            </a:r>
            <a:r>
              <a:rPr lang="en" sz="1100">
                <a:solidFill>
                  <a:schemeClr val="dk1"/>
                </a:solidFill>
              </a:rPr>
              <a:t>: Emphasizes cache insertion, abstract chain length, </a:t>
            </a:r>
            <a:r>
              <a:rPr i="1" lang="en" sz="1100">
                <a:solidFill>
                  <a:schemeClr val="dk1"/>
                </a:solidFill>
              </a:rPr>
              <a:t>not</a:t>
            </a:r>
            <a:r>
              <a:rPr lang="en" sz="1100">
                <a:solidFill>
                  <a:schemeClr val="dk1"/>
                </a:solidFill>
              </a:rPr>
              <a:t> actual packets.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Differences in Generated Diagrams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pcap-only</a:t>
            </a:r>
            <a:r>
              <a:rPr lang="en" sz="1100">
                <a:solidFill>
                  <a:schemeClr val="dk1"/>
                </a:solidFill>
              </a:rPr>
              <a:t>: Concrete DNS packets, sequential query/answer pairs, final A record with IP, less abstraction.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paper-only</a:t>
            </a:r>
            <a:r>
              <a:rPr lang="en" sz="1100">
                <a:solidFill>
                  <a:schemeClr val="dk1"/>
                </a:solidFill>
              </a:rPr>
              <a:t>: Captures conceptual flow (e.g., store actions, cache effects), but lacks the packet trace detail — close to the original in purpose, but auto-generated and more machine-like.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pcap+paper</a:t>
            </a:r>
            <a:r>
              <a:rPr lang="en" sz="1100">
                <a:solidFill>
                  <a:schemeClr val="dk1"/>
                </a:solidFill>
              </a:rPr>
              <a:t>: Hybrid view — combines abstraction (cache actions, conceptual labels) with concreteness (queries, CNAME answers, final IP). Sometimes adds alternate branches (failure handling) not in the original figure.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Generated Diagrams Compared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pcap-only vs. paper-only</a:t>
            </a:r>
            <a:endParaRPr b="1"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1100">
                <a:solidFill>
                  <a:schemeClr val="dk1"/>
                </a:solidFill>
              </a:rPr>
              <a:t>pcap-only</a:t>
            </a:r>
            <a:r>
              <a:rPr lang="en" sz="1100">
                <a:solidFill>
                  <a:schemeClr val="dk1"/>
                </a:solidFill>
              </a:rPr>
              <a:t>: Packet-level fidelity; good for evidence/debugging.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1100">
                <a:solidFill>
                  <a:schemeClr val="dk1"/>
                </a:solidFill>
              </a:rPr>
              <a:t>paper-only</a:t>
            </a:r>
            <a:r>
              <a:rPr lang="en" sz="1100">
                <a:solidFill>
                  <a:schemeClr val="dk1"/>
                </a:solidFill>
              </a:rPr>
              <a:t>: Abstract reasoning; good for teaching/explaining attack mechanics.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Key difference: </a:t>
            </a:r>
            <a:r>
              <a:rPr i="1" lang="en" sz="1100">
                <a:solidFill>
                  <a:schemeClr val="dk1"/>
                </a:solidFill>
              </a:rPr>
              <a:t>depth of detail vs clarity of intent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pcap-only vs. pcap+paper</a:t>
            </a:r>
            <a:endParaRPr b="1"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1100">
                <a:solidFill>
                  <a:schemeClr val="dk1"/>
                </a:solidFill>
              </a:rPr>
              <a:t>pcap-only</a:t>
            </a:r>
            <a:r>
              <a:rPr lang="en" sz="1100">
                <a:solidFill>
                  <a:schemeClr val="dk1"/>
                </a:solidFill>
              </a:rPr>
              <a:t>: Shows what happened.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1100">
                <a:solidFill>
                  <a:schemeClr val="dk1"/>
                </a:solidFill>
              </a:rPr>
              <a:t>pcap+paper</a:t>
            </a:r>
            <a:r>
              <a:rPr lang="en" sz="1100">
                <a:solidFill>
                  <a:schemeClr val="dk1"/>
                </a:solidFill>
              </a:rPr>
              <a:t>: Shows what happened </a:t>
            </a:r>
            <a:r>
              <a:rPr b="1" lang="en" sz="1100">
                <a:solidFill>
                  <a:schemeClr val="dk1"/>
                </a:solidFill>
              </a:rPr>
              <a:t>and why</a:t>
            </a:r>
            <a:r>
              <a:rPr lang="en" sz="1100">
                <a:solidFill>
                  <a:schemeClr val="dk1"/>
                </a:solidFill>
              </a:rPr>
              <a:t> (annotates cache actions, alternative paths).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Key difference: </a:t>
            </a:r>
            <a:r>
              <a:rPr i="1" lang="en" sz="1100">
                <a:solidFill>
                  <a:schemeClr val="dk1"/>
                </a:solidFill>
              </a:rPr>
              <a:t>evidence vs explanation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paper-only vs. pcap+paper</a:t>
            </a:r>
            <a:endParaRPr b="1"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1100">
                <a:solidFill>
                  <a:schemeClr val="dk1"/>
                </a:solidFill>
              </a:rPr>
              <a:t>paper-only</a:t>
            </a:r>
            <a:r>
              <a:rPr lang="en" sz="1100">
                <a:solidFill>
                  <a:schemeClr val="dk1"/>
                </a:solidFill>
              </a:rPr>
              <a:t>: Clean conceptual story, but misses concreteness.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1100">
                <a:solidFill>
                  <a:schemeClr val="dk1"/>
                </a:solidFill>
              </a:rPr>
              <a:t>pcap+paper</a:t>
            </a:r>
            <a:r>
              <a:rPr lang="en" sz="1100">
                <a:solidFill>
                  <a:schemeClr val="dk1"/>
                </a:solidFill>
              </a:rPr>
              <a:t>: Rich, but can feel verbose or overloaded.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Key difference: </a:t>
            </a:r>
            <a:r>
              <a:rPr i="1" lang="en" sz="1100">
                <a:solidFill>
                  <a:schemeClr val="dk1"/>
                </a:solidFill>
              </a:rPr>
              <a:t>simplicity vs completeness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Helpful</a:t>
            </a:r>
            <a:r>
              <a:rPr lang="en">
                <a:solidFill>
                  <a:schemeClr val="dk1"/>
                </a:solidFill>
              </a:rPr>
              <a:t> – auto-generates draft diagrams for new papers and slides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Strengths</a:t>
            </a:r>
            <a:r>
              <a:rPr lang="en">
                <a:solidFill>
                  <a:schemeClr val="dk1"/>
                </a:solidFill>
              </a:rPr>
              <a:t> – combines packet evidence + protocol logic, saves authoring time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Refinement</a:t>
            </a:r>
            <a:r>
              <a:rPr lang="en">
                <a:solidFill>
                  <a:schemeClr val="dk1"/>
                </a:solidFill>
              </a:rPr>
              <a:t> – export + chat interface enables manual polishing and iteration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Lacks</a:t>
            </a:r>
            <a:r>
              <a:rPr lang="en">
                <a:solidFill>
                  <a:schemeClr val="dk1"/>
                </a:solidFill>
              </a:rPr>
              <a:t> – raw outputs less polished, sometimes visually dense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Overall</a:t>
            </a:r>
            <a:r>
              <a:rPr lang="en">
                <a:solidFill>
                  <a:schemeClr val="dk1"/>
                </a:solidFill>
              </a:rPr>
              <a:t> – accelerates figure creation: quick drafts + easy refinement for academic use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